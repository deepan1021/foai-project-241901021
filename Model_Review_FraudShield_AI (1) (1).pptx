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71" r:id="rId6"/>
    <p:sldId id="274" r:id="rId7"/>
    <p:sldId id="272" r:id="rId8"/>
    <p:sldId id="273" r:id="rId9"/>
    <p:sldId id="260" r:id="rId10"/>
    <p:sldId id="276" r:id="rId11"/>
    <p:sldId id="268" r:id="rId12"/>
    <p:sldId id="275" r:id="rId13"/>
    <p:sldId id="261" r:id="rId14"/>
    <p:sldId id="262" r:id="rId15"/>
    <p:sldId id="269" r:id="rId16"/>
    <p:sldId id="279" r:id="rId17"/>
    <p:sldId id="278" r:id="rId18"/>
    <p:sldId id="277" r:id="rId19"/>
    <p:sldId id="263" r:id="rId20"/>
    <p:sldId id="280" r:id="rId21"/>
    <p:sldId id="270" r:id="rId22"/>
    <p:sldId id="281" r:id="rId23"/>
    <p:sldId id="282" r:id="rId24"/>
    <p:sldId id="284" r:id="rId25"/>
    <p:sldId id="283" r:id="rId26"/>
    <p:sldId id="264" r:id="rId27"/>
    <p:sldId id="265" r:id="rId28"/>
    <p:sldId id="266" r:id="rId29"/>
    <p:sldId id="267" r:id="rId30"/>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700"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r>
              <a:rPr sz="1200" b="1"/>
              <a:t>Evaluations by risk tier (76 total)</a:t>
            </a:r>
          </a:p>
        </c:rich>
      </c:tx>
      <c:overlay val="0"/>
    </c:title>
    <c:autoTitleDeleted val="0"/>
    <c:plotArea>
      <c:layout/>
      <c:barChart>
        <c:barDir val="col"/>
        <c:grouping val="clustered"/>
        <c:varyColors val="1"/>
        <c:ser>
          <c:idx val="0"/>
          <c:order val="0"/>
          <c:tx>
            <c:strRef>
              <c:f>Sheet1!$B$1</c:f>
              <c:strCache>
                <c:ptCount val="1"/>
                <c:pt idx="0">
                  <c:v>Evaluations</c:v>
                </c:pt>
              </c:strCache>
            </c:strRef>
          </c:tx>
          <c:invertIfNegative val="1"/>
          <c:dPt>
            <c:idx val="0"/>
            <c:invertIfNegative val="1"/>
            <c:bubble3D val="0"/>
            <c:spPr>
              <a:solidFill>
                <a:srgbClr val="2E9E5B"/>
              </a:solidFill>
            </c:spPr>
          </c:dPt>
          <c:dPt>
            <c:idx val="1"/>
            <c:invertIfNegative val="1"/>
            <c:bubble3D val="0"/>
            <c:spPr>
              <a:solidFill>
                <a:srgbClr val="E5A81C"/>
              </a:solidFill>
            </c:spPr>
          </c:dPt>
          <c:dPt>
            <c:idx val="2"/>
            <c:invertIfNegative val="1"/>
            <c:bubble3D val="0"/>
            <c:spPr>
              <a:solidFill>
                <a:srgbClr val="E8742A"/>
              </a:solidFill>
            </c:spPr>
          </c:dPt>
          <c:dPt>
            <c:idx val="3"/>
            <c:invertIfNegative val="1"/>
            <c:bubble3D val="0"/>
            <c:spPr>
              <a:solidFill>
                <a:srgbClr val="C0392B"/>
              </a:solidFill>
            </c:spPr>
          </c:dPt>
          <c:dLbls>
            <c:spPr>
              <a:noFill/>
              <a:ln>
                <a:noFill/>
              </a:ln>
              <a:effectLst/>
            </c:spPr>
            <c:txPr>
              <a:bodyPr/>
              <a:lstStyle/>
              <a:p>
                <a:pPr>
                  <a:defRPr sz="12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LOW</c:v>
                </c:pt>
                <c:pt idx="1">
                  <c:v>MEDIUM</c:v>
                </c:pt>
                <c:pt idx="2">
                  <c:v>HIGH</c:v>
                </c:pt>
                <c:pt idx="3">
                  <c:v>CRITICAL</c:v>
                </c:pt>
              </c:strCache>
            </c:strRef>
          </c:cat>
          <c:val>
            <c:numRef>
              <c:f>Sheet1!$B$2:$B$5</c:f>
              <c:numCache>
                <c:formatCode>General</c:formatCode>
                <c:ptCount val="4"/>
                <c:pt idx="0">
                  <c:v>40</c:v>
                </c:pt>
                <c:pt idx="1">
                  <c:v>16</c:v>
                </c:pt>
                <c:pt idx="2">
                  <c:v>11</c:v>
                </c:pt>
                <c:pt idx="3">
                  <c:v>9</c:v>
                </c:pt>
              </c:numCache>
            </c:numRef>
          </c:val>
        </c:ser>
        <c:dLbls>
          <c:dLblPos val="outEnd"/>
          <c:showLegendKey val="0"/>
          <c:showVal val="1"/>
          <c:showCatName val="0"/>
          <c:showSerName val="0"/>
          <c:showPercent val="0"/>
          <c:showBubbleSize val="0"/>
        </c:dLbls>
        <c:gapWidth val="60"/>
        <c:axId val="308759104"/>
        <c:axId val="308763808"/>
      </c:barChart>
      <c:catAx>
        <c:axId val="308759104"/>
        <c:scaling>
          <c:orientation val="minMax"/>
        </c:scaling>
        <c:delete val="0"/>
        <c:axPos val="b"/>
        <c:numFmt formatCode="General" sourceLinked="0"/>
        <c:majorTickMark val="out"/>
        <c:minorTickMark val="none"/>
        <c:tickLblPos val="nextTo"/>
        <c:crossAx val="308763808"/>
        <c:crosses val="autoZero"/>
        <c:auto val="1"/>
        <c:lblAlgn val="ctr"/>
        <c:lblOffset val="100"/>
        <c:noMultiLvlLbl val="0"/>
      </c:catAx>
      <c:valAx>
        <c:axId val="308763808"/>
        <c:scaling>
          <c:orientation val="minMax"/>
          <c:max val="48"/>
        </c:scaling>
        <c:delete val="1"/>
        <c:axPos val="l"/>
        <c:numFmt formatCode="General" sourceLinked="1"/>
        <c:majorTickMark val="out"/>
        <c:minorTickMark val="none"/>
        <c:tickLblPos val="nextTo"/>
        <c:crossAx val="308759104"/>
        <c:crosses val="autoZero"/>
        <c:crossBetween val="between"/>
      </c:valAx>
    </c:plotArea>
    <c:plotVisOnly val="1"/>
    <c:dispBlanksAs val="gap"/>
    <c:showDLblsOverMax val="1"/>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xmlns=""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xmlns=""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a:t>Second Review</a:t>
            </a:r>
          </a:p>
        </p:txBody>
      </p:sp>
      <p:sp>
        <p:nvSpPr>
          <p:cNvPr id="4" name="Footer Placeholder 3">
            <a:extLst>
              <a:ext uri="{FF2B5EF4-FFF2-40B4-BE49-F238E27FC236}">
                <a16:creationId xmlns:a16="http://schemas.microsoft.com/office/drawing/2014/main" xmlns=""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xmlns=""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xmlns="" id="{4A88B164-965D-9E09-9E7D-16374A9EADDD}"/>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xmlns=""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xmlns=""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xmlns="" id="{9E3D50AC-D896-487B-A964-4F2362A2FCEC}"/>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xmlns=""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xmlns=""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xmlns="" id="{1CC1F139-34C5-A295-F629-88EF76019A55}"/>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xmlns=""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xmlns=""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xmlns="" id="{3B4E764D-F83F-9CC9-8E38-FEA9647AB755}"/>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8" name="Rectangle 7">
            <a:extLst>
              <a:ext uri="{FF2B5EF4-FFF2-40B4-BE49-F238E27FC236}">
                <a16:creationId xmlns:a16="http://schemas.microsoft.com/office/drawing/2014/main" xmlns=""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xmlns=""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xmlns="" id="{B80D49F1-7BF0-A0A8-0C0A-9B4F1788B3B4}"/>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4" name="Rectangle 7">
            <a:extLst>
              <a:ext uri="{FF2B5EF4-FFF2-40B4-BE49-F238E27FC236}">
                <a16:creationId xmlns:a16="http://schemas.microsoft.com/office/drawing/2014/main" xmlns=""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xmlns=""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xmlns="" id="{90400DB2-066A-4CAE-071C-1EAF9DDB7276}"/>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3" name="Rectangle 7">
            <a:extLst>
              <a:ext uri="{FF2B5EF4-FFF2-40B4-BE49-F238E27FC236}">
                <a16:creationId xmlns:a16="http://schemas.microsoft.com/office/drawing/2014/main" xmlns=""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xmlns=""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xmlns="" id="{70B1A011-C2F2-C9FC-9DD8-A4E6A00AA40D}"/>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xmlns=""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xmlns=""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xmlns="" id="{C531D201-6E7B-DD71-C865-2CC768252091}"/>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xmlns=""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xmlns=""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xmlns="" id="{DE0854C1-7207-EF75-A61A-B4AF54A5D723}"/>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xmlns=""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xmlns=""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xmlns="" id="{E1D0F6A3-93FF-6A17-402C-31256BC45713}"/>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xmlns=""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xmlns=""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xmlns=""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xmlns=""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xmlns=""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xmlns=""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a:t>Second Review</a:t>
            </a:r>
          </a:p>
        </p:txBody>
      </p:sp>
      <p:sp>
        <p:nvSpPr>
          <p:cNvPr id="4103" name="Rectangle 7">
            <a:extLst>
              <a:ext uri="{FF2B5EF4-FFF2-40B4-BE49-F238E27FC236}">
                <a16:creationId xmlns:a16="http://schemas.microsoft.com/office/drawing/2014/main" xmlns=""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xmlns=""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xmlns="" id="{D41A2FBB-F55B-9BAA-4EBD-7D6AD7B1D9C0}"/>
              </a:ext>
            </a:extLst>
          </p:cNvPr>
          <p:cNvSpPr txBox="1">
            <a:spLocks/>
          </p:cNvSpPr>
          <p:nvPr/>
        </p:nvSpPr>
        <p:spPr>
          <a:xfrm>
            <a:off x="789712" y="2606040"/>
            <a:ext cx="10515600" cy="16002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b="1" dirty="0">
                <a:solidFill>
                  <a:srgbClr val="7030A0"/>
                </a:solidFill>
                <a:latin typeface="Verdana" panose="020B0604030504040204" pitchFamily="34" charset="0"/>
                <a:ea typeface="+mn-ea"/>
                <a:cs typeface="+mn-cs"/>
              </a:rPr>
              <a:t>FraudShield AI — Intelligent Digital Payment Risk Assessment System</a:t>
            </a:r>
          </a:p>
        </p:txBody>
      </p:sp>
      <p:sp>
        <p:nvSpPr>
          <p:cNvPr id="10" name="TextBox 1">
            <a:extLst>
              <a:ext uri="{FF2B5EF4-FFF2-40B4-BE49-F238E27FC236}">
                <a16:creationId xmlns:a16="http://schemas.microsoft.com/office/drawing/2014/main" xmlns="" id="{2D19DAE3-8F95-230C-D485-225341D07DA1}"/>
              </a:ext>
            </a:extLst>
          </p:cNvPr>
          <p:cNvSpPr txBox="1">
            <a:spLocks noChangeArrowheads="1"/>
          </p:cNvSpPr>
          <p:nvPr/>
        </p:nvSpPr>
        <p:spPr bwMode="auto">
          <a:xfrm>
            <a:off x="914400" y="4526280"/>
            <a:ext cx="4572000" cy="128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lgn="l">
              <a:spcBef>
                <a:spcPct val="0"/>
              </a:spcBef>
              <a:buClrTx/>
              <a:buFontTx/>
              <a:buNone/>
            </a:pPr>
            <a:r>
              <a:rPr lang="en-IN" altLang="en-US" sz="1800" b="1" dirty="0">
                <a:solidFill>
                  <a:srgbClr val="FF0000"/>
                </a:solidFill>
              </a:rPr>
              <a:t>Supervisor</a:t>
            </a:r>
          </a:p>
          <a:p>
            <a:pPr algn="l">
              <a:spcBef>
                <a:spcPct val="0"/>
              </a:spcBef>
              <a:buClrTx/>
              <a:buFontTx/>
              <a:buNone/>
            </a:pPr>
            <a:r>
              <a:rPr lang="en-IN" altLang="en-US" sz="2000" b="1" dirty="0">
                <a:solidFill>
                  <a:srgbClr val="193054"/>
                </a:solidFill>
              </a:rPr>
              <a:t>Dr. S. Bhuvana</a:t>
            </a:r>
          </a:p>
          <a:p>
            <a:pPr algn="l">
              <a:spcBef>
                <a:spcPct val="0"/>
              </a:spcBef>
              <a:buClrTx/>
              <a:buFontTx/>
              <a:buNone/>
            </a:pPr>
            <a:r>
              <a:rPr lang="en-IN" altLang="en-US" sz="1600" b="0" dirty="0">
                <a:solidFill>
                  <a:srgbClr val="193054"/>
                </a:solidFill>
              </a:rPr>
              <a:t>Assistant Professor (SG)</a:t>
            </a:r>
          </a:p>
        </p:txBody>
      </p:sp>
      <p:sp>
        <p:nvSpPr>
          <p:cNvPr id="11" name="TextBox 1">
            <a:extLst>
              <a:ext uri="{FF2B5EF4-FFF2-40B4-BE49-F238E27FC236}">
                <a16:creationId xmlns:a16="http://schemas.microsoft.com/office/drawing/2014/main" xmlns="" id="{19A39F01-D00C-AF01-020F-6FE15F5B4206}"/>
              </a:ext>
            </a:extLst>
          </p:cNvPr>
          <p:cNvSpPr txBox="1">
            <a:spLocks noChangeArrowheads="1"/>
          </p:cNvSpPr>
          <p:nvPr/>
        </p:nvSpPr>
        <p:spPr bwMode="auto">
          <a:xfrm>
            <a:off x="6446520" y="4526280"/>
            <a:ext cx="512064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lgn="l">
              <a:spcBef>
                <a:spcPct val="0"/>
              </a:spcBef>
              <a:buClrTx/>
              <a:buFontTx/>
              <a:buNone/>
            </a:pPr>
            <a:r>
              <a:rPr lang="en-IN" altLang="en-US" sz="1800" b="1" dirty="0">
                <a:solidFill>
                  <a:srgbClr val="FF0000"/>
                </a:solidFill>
              </a:rPr>
              <a:t>Team Members</a:t>
            </a:r>
          </a:p>
          <a:p>
            <a:pPr algn="l">
              <a:spcBef>
                <a:spcPct val="0"/>
              </a:spcBef>
              <a:buClrTx/>
              <a:buFontTx/>
              <a:buNone/>
            </a:pPr>
            <a:r>
              <a:rPr lang="en-IN" altLang="en-US" sz="1700" b="1" dirty="0">
                <a:solidFill>
                  <a:srgbClr val="193054"/>
                </a:solidFill>
              </a:rPr>
              <a:t>Deepan S A (241901021)</a:t>
            </a:r>
          </a:p>
          <a:p>
            <a:pPr algn="l">
              <a:spcBef>
                <a:spcPct val="0"/>
              </a:spcBef>
              <a:buClrTx/>
              <a:buFontTx/>
              <a:buNone/>
            </a:pPr>
            <a:r>
              <a:rPr lang="en-IN" altLang="en-US" sz="1700" b="1" dirty="0">
                <a:solidFill>
                  <a:srgbClr val="193054"/>
                </a:solidFill>
              </a:rPr>
              <a:t>Barathraj M (</a:t>
            </a:r>
            <a:r>
              <a:rPr lang="en-IN" altLang="en-US" sz="1700" b="1" dirty="0" smtClean="0">
                <a:solidFill>
                  <a:srgbClr val="193054"/>
                </a:solidFill>
              </a:rPr>
              <a:t>241901015)</a:t>
            </a:r>
            <a:endParaRPr lang="en-IN" altLang="en-US" sz="1700" b="1" dirty="0">
              <a:solidFill>
                <a:srgbClr val="193054"/>
              </a:solidFill>
            </a:endParaRPr>
          </a:p>
        </p:txBody>
      </p:sp>
      <p:sp>
        <p:nvSpPr>
          <p:cNvPr id="15" name="Title 1">
            <a:extLst>
              <a:ext uri="{FF2B5EF4-FFF2-40B4-BE49-F238E27FC236}">
                <a16:creationId xmlns:a16="http://schemas.microsoft.com/office/drawing/2014/main" xmlns="" id="{321851EC-AC90-1CBE-0738-0329685AB2AB}"/>
              </a:ext>
            </a:extLst>
          </p:cNvPr>
          <p:cNvSpPr txBox="1">
            <a:spLocks/>
          </p:cNvSpPr>
          <p:nvPr/>
        </p:nvSpPr>
        <p:spPr>
          <a:xfrm>
            <a:off x="754333" y="932688"/>
            <a:ext cx="10515600" cy="722457"/>
          </a:xfrm>
          <a:prstGeom prst="rect">
            <a:avLst/>
          </a:prstGeom>
        </p:spPr>
        <p:txBody>
          <a:bodyPr vert="horz" lIns="91440" tIns="45720" rIns="91440" bIns="45720" rtlCol="0" anchor="ctr">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solidFill>
                  <a:srgbClr val="002060"/>
                </a:solidFill>
                <a:latin typeface="Verdana" panose="020B0604030504040204" pitchFamily="34" charset="0"/>
                <a:ea typeface="+mn-ea"/>
                <a:cs typeface="+mn-cs"/>
              </a:rPr>
              <a:t>Department of Computer Science and Engineering</a:t>
            </a:r>
          </a:p>
          <a:p>
            <a:r>
              <a:rPr lang="en-IN" sz="2400" b="1" dirty="0">
                <a:solidFill>
                  <a:srgbClr val="002060"/>
                </a:solidFill>
                <a:latin typeface="Verdana" panose="020B0604030504040204" pitchFamily="34" charset="0"/>
                <a:ea typeface="+mn-ea"/>
                <a:cs typeface="+mn-cs"/>
              </a:rPr>
              <a:t>(Cyber Security)</a:t>
            </a:r>
          </a:p>
          <a:p>
            <a:endParaRPr lang="en-IN" sz="2800" b="1" dirty="0">
              <a:solidFill>
                <a:srgbClr val="002060"/>
              </a:solidFill>
              <a:latin typeface="Verdana" panose="020B0604030504040204" pitchFamily="34" charset="0"/>
              <a:ea typeface="+mn-ea"/>
              <a:cs typeface="+mn-cs"/>
            </a:endParaRPr>
          </a:p>
        </p:txBody>
      </p:sp>
      <p:pic>
        <p:nvPicPr>
          <p:cNvPr id="12" name="Picture 11" descr="C:\Users\REC\Downloads\REC_Logo_Color_PNG_RGB.png"/>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33065" cy="980728"/>
          </a:xfrm>
          <a:prstGeom prst="rect">
            <a:avLst/>
          </a:prstGeom>
          <a:noFill/>
          <a:ln>
            <a:noFill/>
          </a:ln>
        </p:spPr>
      </p:pic>
      <p:sp>
        <p:nvSpPr>
          <p:cNvPr id="2" name="Rectangle 1"/>
          <p:cNvSpPr/>
          <p:nvPr/>
        </p:nvSpPr>
        <p:spPr>
          <a:xfrm>
            <a:off x="1631504" y="1673352"/>
            <a:ext cx="10112218" cy="461665"/>
          </a:xfrm>
          <a:prstGeom prst="rect">
            <a:avLst/>
          </a:prstGeom>
        </p:spPr>
        <p:txBody>
          <a:bodyPr wrap="square">
            <a:spAutoFit/>
          </a:bodyPr>
          <a:lstStyle/>
          <a:p>
            <a:r>
              <a:rPr lang="en-IN" sz="2400" b="1" dirty="0">
                <a:solidFill>
                  <a:srgbClr val="C00000"/>
                </a:solidFill>
                <a:latin typeface="Verdana" panose="020B0604030504040204" pitchFamily="34" charset="0"/>
              </a:rPr>
              <a:t>CS23533– Foundations of Artificial Intelligence</a:t>
            </a:r>
          </a:p>
        </p:txBody>
      </p:sp>
      <p:sp>
        <p:nvSpPr>
          <p:cNvPr id="3" name="Rectangle 2"/>
          <p:cNvSpPr/>
          <p:nvPr/>
        </p:nvSpPr>
        <p:spPr>
          <a:xfrm>
            <a:off x="4873101" y="2075688"/>
            <a:ext cx="1603324" cy="369332"/>
          </a:xfrm>
          <a:prstGeom prst="rect">
            <a:avLst/>
          </a:prstGeom>
        </p:spPr>
        <p:txBody>
          <a:bodyPr wrap="none">
            <a:spAutoFit/>
          </a:bodyPr>
          <a:lstStyle/>
          <a:p>
            <a:r>
              <a:rPr lang="en-IN" b="1" dirty="0">
                <a:solidFill>
                  <a:srgbClr val="002060"/>
                </a:solidFill>
                <a:latin typeface="Verdana" panose="020B0604030504040204" pitchFamily="34" charset="0"/>
              </a:rPr>
              <a:t>2026-2027</a:t>
            </a:r>
            <a:endParaRPr lang="en-IN" dirty="0"/>
          </a:p>
        </p:txBody>
      </p:sp>
    </p:spTree>
    <p:extLst>
      <p:ext uri="{BB962C8B-B14F-4D97-AF65-F5344CB8AC3E}">
        <p14:creationId xmlns:p14="http://schemas.microsoft.com/office/powerpoint/2010/main" val="42331392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IN" altLang="en-US" sz="3200" b="1" dirty="0">
                <a:solidFill>
                  <a:srgbClr val="FF0000"/>
                </a:solidFill>
              </a:rPr>
              <a:t>Problem Statement and Motivation</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noAutofit/>
          </a:bodyPr>
          <a:lstStyle/>
          <a:p>
            <a:pPr marL="469900" marR="0" lvl="0" indent="-469900" algn="l" defTabSz="914400" rtl="0" eaLnBrk="0" fontAlgn="base" latinLnBrk="0" hangingPunct="0">
              <a:spcBef>
                <a:spcPts val="1600"/>
              </a:spcBef>
              <a:spcAft>
                <a:spcPct val="0"/>
              </a:spcAft>
              <a:buClr>
                <a:srgbClr val="CC0000"/>
              </a:buClr>
              <a:buSzTx/>
              <a:buFont typeface="Wingdings" panose="05000000000000000000" pitchFamily="2" charset="2"/>
              <a:buChar char="o"/>
            </a:pPr>
            <a:r>
              <a:rPr lang="en-IN" sz="2400" b="1" dirty="0">
                <a:solidFill>
                  <a:srgbClr val="1F2933"/>
                </a:solidFill>
              </a:rPr>
              <a:t>Problem: </a:t>
            </a:r>
            <a:r>
              <a:rPr lang="en-IN" sz="2400" b="0" dirty="0">
                <a:solidFill>
                  <a:srgbClr val="1F2933"/>
                </a:solidFill>
              </a:rPr>
              <a:t>decide quickly whether a digital payment is risky, and tell the reviewer exactly why.</a:t>
            </a:r>
          </a:p>
          <a:p>
            <a:pPr marL="469900" marR="0" lvl="0" indent="-469900" algn="l" defTabSz="914400" rtl="0" eaLnBrk="0" fontAlgn="base" latinLnBrk="0" hangingPunct="0">
              <a:spcBef>
                <a:spcPts val="1600"/>
              </a:spcBef>
              <a:spcAft>
                <a:spcPct val="0"/>
              </a:spcAft>
              <a:buClr>
                <a:srgbClr val="CC0000"/>
              </a:buClr>
              <a:buSzTx/>
              <a:buFont typeface="Wingdings" panose="05000000000000000000" pitchFamily="2" charset="2"/>
              <a:buChar char="o"/>
            </a:pPr>
            <a:r>
              <a:rPr lang="en-IN" sz="2400" b="1" dirty="0">
                <a:solidFill>
                  <a:srgbClr val="1F2933"/>
                </a:solidFill>
              </a:rPr>
              <a:t>Why it is hard: </a:t>
            </a:r>
            <a:r>
              <a:rPr lang="en-IN" sz="2400" b="0" dirty="0">
                <a:solidFill>
                  <a:srgbClr val="1F2933"/>
                </a:solidFill>
              </a:rPr>
              <a:t>fraud signals are spread over many inputs; a single threshold misses combinations, and black-box scores cannot be justified to customers or auditors.</a:t>
            </a:r>
          </a:p>
          <a:p>
            <a:pPr marL="469900" marR="0" lvl="0" indent="-469900" algn="l" defTabSz="914400" rtl="0" eaLnBrk="0" fontAlgn="base" latinLnBrk="0" hangingPunct="0">
              <a:spcBef>
                <a:spcPts val="1600"/>
              </a:spcBef>
              <a:spcAft>
                <a:spcPct val="0"/>
              </a:spcAft>
              <a:buClr>
                <a:srgbClr val="CC0000"/>
              </a:buClr>
              <a:buSzTx/>
              <a:buFont typeface="Wingdings" panose="05000000000000000000" pitchFamily="2" charset="2"/>
              <a:buChar char="o"/>
            </a:pPr>
            <a:r>
              <a:rPr lang="en-IN" sz="2400" b="1" dirty="0">
                <a:solidFill>
                  <a:srgbClr val="1F2933"/>
                </a:solidFill>
              </a:rPr>
              <a:t>Who is affected: </a:t>
            </a:r>
            <a:r>
              <a:rPr lang="en-IN" sz="2400" b="0" dirty="0">
                <a:solidFill>
                  <a:srgbClr val="1F2933"/>
                </a:solidFill>
              </a:rPr>
              <a:t>customers and banks exposed to payment fraud, and fraud analysts who must justify blocking or allowing a transaction.</a:t>
            </a:r>
          </a:p>
          <a:p>
            <a:pPr marL="469900" marR="0" lvl="0" indent="-469900" algn="l" defTabSz="914400" rtl="0" eaLnBrk="0" fontAlgn="base" latinLnBrk="0" hangingPunct="0">
              <a:spcBef>
                <a:spcPts val="1600"/>
              </a:spcBef>
              <a:spcAft>
                <a:spcPct val="0"/>
              </a:spcAft>
              <a:buClr>
                <a:srgbClr val="CC0000"/>
              </a:buClr>
              <a:buSzTx/>
              <a:buFont typeface="Wingdings" panose="05000000000000000000" pitchFamily="2" charset="2"/>
              <a:buChar char="o"/>
            </a:pPr>
            <a:r>
              <a:rPr lang="en-IN" sz="2400" b="1" dirty="0">
                <a:solidFill>
                  <a:srgbClr val="1F2933"/>
                </a:solidFill>
              </a:rPr>
              <a:t>Motivation: </a:t>
            </a:r>
            <a:r>
              <a:rPr lang="en-IN" sz="2400" b="0" dirty="0">
                <a:solidFill>
                  <a:srgbClr val="1F2933"/>
                </a:solidFill>
              </a:rPr>
              <a:t>build a transparent, rule-based expert system that needs no training data and explains every decision.</a:t>
            </a: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2</a:t>
            </a:fld>
            <a:endParaRPr lang="en-IN"/>
          </a:p>
        </p:txBody>
      </p:sp>
    </p:spTree>
    <p:extLst>
      <p:ext uri="{BB962C8B-B14F-4D97-AF65-F5344CB8AC3E}">
        <p14:creationId xmlns:p14="http://schemas.microsoft.com/office/powerpoint/2010/main" val="165838699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IN" altLang="en-US" sz="3200" b="1" dirty="0">
                <a:solidFill>
                  <a:srgbClr val="FF0000"/>
                </a:solidFill>
              </a:rPr>
              <a:t>Objectives</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noAutofit/>
          </a:bodyPr>
          <a:lstStyle/>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900" b="0" dirty="0">
                <a:solidFill>
                  <a:srgbClr val="1F2933"/>
                </a:solidFill>
              </a:rPr>
              <a:t>To model a digital payment as facts built from seven core inputs: amount, time, device trust, location, login behaviour, frequency and account activity.</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900" b="0" dirty="0">
                <a:solidFill>
                  <a:srgbClr val="1F2933"/>
                </a:solidFill>
              </a:rPr>
              <a:t>To capture fraud knowledge as predicate-logic IF–THEN rules in a readable knowledge base.</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900" b="0" dirty="0">
                <a:solidFill>
                  <a:srgbClr val="1F2933"/>
                </a:solidFill>
              </a:rPr>
              <a:t>To implement forward chaining that derives risk conclusions from the facts, with no training data.</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900" b="0" dirty="0">
                <a:solidFill>
                  <a:srgbClr val="1F2933"/>
                </a:solidFill>
              </a:rPr>
              <a:t>To apply conflict resolution when several rules fire and assign one of four tiers: LOW, MEDIUM, HIGH or CRITICAL.</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900" b="0" dirty="0">
                <a:solidFill>
                  <a:srgbClr val="1F2933"/>
                </a:solidFill>
              </a:rPr>
              <a:t>To make every decision explainable (XAI) by showing the rules that fired and why.</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900" b="0" dirty="0">
                <a:solidFill>
                  <a:srgbClr val="1F2933"/>
                </a:solidFill>
              </a:rPr>
              <a:t>To deliver a FastAPI + React web application with sample transactions TXN001 and TXN002, started on Windows 10/11 with run.bat.</a:t>
            </a: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3</a:t>
            </a:fld>
            <a:endParaRPr lang="en-IN"/>
          </a:p>
        </p:txBody>
      </p:sp>
    </p:spTree>
    <p:extLst>
      <p:ext uri="{BB962C8B-B14F-4D97-AF65-F5344CB8AC3E}">
        <p14:creationId xmlns:p14="http://schemas.microsoft.com/office/powerpoint/2010/main" val="3339313605"/>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IN" altLang="en-US" sz="3200" b="1" dirty="0">
                <a:solidFill>
                  <a:srgbClr val="FF0000"/>
                </a:solidFill>
              </a:rPr>
              <a:t>Abstract</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a:xfrm>
            <a:off x="758952" y="1783080"/>
            <a:ext cx="10744200" cy="4297680"/>
          </a:xfrm>
        </p:spPr>
        <p:txBody>
          <a:bodyPr>
            <a:noAutofit/>
          </a:bodyPr>
          <a:lstStyle/>
          <a:p>
            <a:pPr marL="0" marR="0" lvl="0" indent="0" algn="l" defTabSz="914400" rtl="0" eaLnBrk="0" fontAlgn="base" latinLnBrk="0" hangingPunct="0">
              <a:lnSpc>
                <a:spcPct val="112000"/>
              </a:lnSpc>
              <a:spcBef>
                <a:spcPts val="800"/>
              </a:spcBef>
              <a:spcAft>
                <a:spcPct val="0"/>
              </a:spcAft>
              <a:buNone/>
            </a:pPr>
            <a:r>
              <a:rPr lang="en-IN" sz="1900" b="0" dirty="0">
                <a:solidFill>
                  <a:srgbClr val="1F2933"/>
                </a:solidFill>
              </a:rPr>
              <a:t>Digital payment fraud is hard to catch with a single threshold, and machine-learning scores are hard to justify. FraudShield AI is a symbolic, rule-based expert system that assesses a payment from seven core inputs: amount, time, device trust, location, login behaviour, frequency and account activity. The inputs become facts and predicates; a forward-chaining engine fires IF–THEN rules to derive risk conclusions; conflict resolution picks the governing rule; and the transaction is placed in one of four tiers: LOW, MEDIUM, HIGH or CRITICAL. Every decision carries the rules and reasons behind it (explainable AI), and no training data is needed. The backend uses FastAPI, Pydantic, SQLAlchemy and SQLite; the frontend uses React, TypeScript, Vite and Tailwind. A versioned base of 32 rules over 31 predicates is demonstrated on 76 evaluations (74 synthetic demonstration records, including TXN001 critical and TXN002 normal) with an average evaluation time of 1.83 ms.</a:t>
            </a:r>
          </a:p>
          <a:p>
            <a:pPr marL="0" marR="0" lvl="0" indent="0" algn="l" defTabSz="914400" rtl="0" eaLnBrk="0" fontAlgn="base" latinLnBrk="0" hangingPunct="0">
              <a:spcBef>
                <a:spcPts val="1800"/>
              </a:spcBef>
              <a:spcAft>
                <a:spcPct val="0"/>
              </a:spcAft>
              <a:buNone/>
            </a:pPr>
            <a:r>
              <a:rPr lang="en-IN" sz="1500" b="1" dirty="0">
                <a:solidFill>
                  <a:srgbClr val="CC0000"/>
                </a:solidFill>
              </a:rPr>
              <a:t>Keywords: </a:t>
            </a:r>
            <a:r>
              <a:rPr lang="en-IN" sz="1500" b="0" i="1" dirty="0">
                <a:solidFill>
                  <a:srgbClr val="1F2933"/>
                </a:solidFill>
              </a:rPr>
              <a:t>expert system, predicate logic, forward chaining, conflict resolution, explainable AI, fraud detection</a:t>
            </a: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4</a:t>
            </a:fld>
            <a:endParaRPr lang="en-IN"/>
          </a:p>
        </p:txBody>
      </p:sp>
    </p:spTree>
    <p:extLst>
      <p:ext uri="{BB962C8B-B14F-4D97-AF65-F5344CB8AC3E}">
        <p14:creationId xmlns:p14="http://schemas.microsoft.com/office/powerpoint/2010/main" val="3534483171"/>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a:xfrm>
            <a:off x="766233" y="301752"/>
            <a:ext cx="10668000" cy="1216152"/>
          </a:xfrm>
        </p:spPr>
        <p:txBody>
          <a:bodyPr/>
          <a:lstStyle/>
          <a:p>
            <a:pPr algn="ctr"/>
            <a:r>
              <a:rPr lang="en-US" sz="3200" b="1" dirty="0">
                <a:solidFill>
                  <a:srgbClr val="FF0000"/>
                </a:solidFill>
              </a:rPr>
              <a:t>Literature Survey</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5</a:t>
            </a:fld>
            <a:endParaRPr lang="en-IN"/>
          </a:p>
        </p:txBody>
      </p:sp>
      <p:graphicFrame>
        <p:nvGraphicFramePr>
          <p:cNvPr id="5" name="Table 4">
            <a:extLst>
              <a:ext uri="{FF2B5EF4-FFF2-40B4-BE49-F238E27FC236}">
                <a16:creationId xmlns:a16="http://schemas.microsoft.com/office/drawing/2014/main" xmlns="" id="{AD7E4B40-F95E-47F4-B92E-06AFA2A015FC}"/>
              </a:ext>
            </a:extLst>
          </p:cNvPr>
          <p:cNvGraphicFramePr>
            <a:graphicFrameLocks noGrp="1"/>
          </p:cNvGraphicFramePr>
          <p:nvPr>
            <p:extLst>
              <p:ext uri="{D42A27DB-BD31-4B8C-83A1-F6EECF244321}">
                <p14:modId xmlns:p14="http://schemas.microsoft.com/office/powerpoint/2010/main" val="3336529797"/>
              </p:ext>
            </p:extLst>
          </p:nvPr>
        </p:nvGraphicFramePr>
        <p:xfrm>
          <a:off x="548640" y="1783080"/>
          <a:ext cx="10972800" cy="3849624"/>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xmlns="" val="20000"/>
                    </a:ext>
                  </a:extLst>
                </a:gridCol>
                <a:gridCol w="2011680">
                  <a:extLst>
                    <a:ext uri="{9D8B030D-6E8A-4147-A177-3AD203B41FA5}">
                      <a16:colId xmlns:a16="http://schemas.microsoft.com/office/drawing/2014/main" xmlns="" val="20001"/>
                    </a:ext>
                  </a:extLst>
                </a:gridCol>
                <a:gridCol w="2697480">
                  <a:extLst>
                    <a:ext uri="{9D8B030D-6E8A-4147-A177-3AD203B41FA5}">
                      <a16:colId xmlns:a16="http://schemas.microsoft.com/office/drawing/2014/main" xmlns="" val="20002"/>
                    </a:ext>
                  </a:extLst>
                </a:gridCol>
                <a:gridCol w="2743200">
                  <a:extLst>
                    <a:ext uri="{9D8B030D-6E8A-4147-A177-3AD203B41FA5}">
                      <a16:colId xmlns:a16="http://schemas.microsoft.com/office/drawing/2014/main" xmlns="" val="20003"/>
                    </a:ext>
                  </a:extLst>
                </a:gridCol>
                <a:gridCol w="2834640">
                  <a:extLst>
                    <a:ext uri="{9D8B030D-6E8A-4147-A177-3AD203B41FA5}">
                      <a16:colId xmlns:a16="http://schemas.microsoft.com/office/drawing/2014/main" xmlns="" val="20004"/>
                    </a:ext>
                  </a:extLst>
                </a:gridCol>
              </a:tblGrid>
              <a:tr h="548640">
                <a:tc>
                  <a:txBody>
                    <a:bodyPr/>
                    <a:lstStyle/>
                    <a:p>
                      <a:pPr algn="ctr">
                        <a:defRPr sz="1200" b="1">
                          <a:solidFill>
                            <a:srgbClr val="FFFFFF"/>
                          </a:solidFill>
                          <a:latin typeface="Aptos"/>
                        </a:defRPr>
                      </a:pPr>
                      <a:r>
                        <a:rPr sz="1500"/>
                        <a:t>S. No.</a:t>
                      </a:r>
                    </a:p>
                  </a:txBody>
                  <a:tcPr marR="73152" marT="54864" anchor="ctr">
                    <a:solidFill>
                      <a:srgbClr val="2A67B0"/>
                    </a:solidFill>
                  </a:tcPr>
                </a:tc>
                <a:tc>
                  <a:txBody>
                    <a:bodyPr/>
                    <a:lstStyle/>
                    <a:p>
                      <a:pPr algn="ctr">
                        <a:defRPr sz="1200" b="1">
                          <a:solidFill>
                            <a:srgbClr val="FFFFFF"/>
                          </a:solidFill>
                          <a:latin typeface="Aptos"/>
                        </a:defRPr>
                      </a:pPr>
                      <a:r>
                        <a:rPr sz="1500"/>
                        <a:t>Author(s) &amp; Year</a:t>
                      </a:r>
                    </a:p>
                  </a:txBody>
                  <a:tcPr marR="73152" marT="54864" anchor="ctr">
                    <a:solidFill>
                      <a:srgbClr val="2A67B0"/>
                    </a:solidFill>
                  </a:tcPr>
                </a:tc>
                <a:tc>
                  <a:txBody>
                    <a:bodyPr/>
                    <a:lstStyle/>
                    <a:p>
                      <a:pPr algn="ctr">
                        <a:defRPr sz="1200" b="1">
                          <a:solidFill>
                            <a:srgbClr val="FFFFFF"/>
                          </a:solidFill>
                          <a:latin typeface="Aptos"/>
                        </a:defRPr>
                      </a:pPr>
                      <a:r>
                        <a:rPr sz="1500"/>
                        <a:t>Paper Title</a:t>
                      </a:r>
                    </a:p>
                  </a:txBody>
                  <a:tcPr marR="73152" marT="54864" anchor="ctr">
                    <a:solidFill>
                      <a:srgbClr val="2A67B0"/>
                    </a:solidFill>
                  </a:tcPr>
                </a:tc>
                <a:tc>
                  <a:txBody>
                    <a:bodyPr/>
                    <a:lstStyle/>
                    <a:p>
                      <a:pPr algn="ctr">
                        <a:defRPr sz="1200" b="1">
                          <a:solidFill>
                            <a:srgbClr val="FFFFFF"/>
                          </a:solidFill>
                          <a:latin typeface="Aptos"/>
                        </a:defRPr>
                      </a:pPr>
                      <a:r>
                        <a:rPr sz="1500"/>
                        <a:t>Methodology / Algorithm</a:t>
                      </a:r>
                    </a:p>
                  </a:txBody>
                  <a:tcPr marR="73152" marT="54864" anchor="ctr">
                    <a:solidFill>
                      <a:srgbClr val="2A67B0"/>
                    </a:solidFill>
                  </a:tcPr>
                </a:tc>
                <a:tc>
                  <a:txBody>
                    <a:bodyPr/>
                    <a:lstStyle/>
                    <a:p>
                      <a:pPr algn="ctr">
                        <a:defRPr sz="1200" b="1">
                          <a:solidFill>
                            <a:srgbClr val="FFFFFF"/>
                          </a:solidFill>
                          <a:latin typeface="Aptos"/>
                        </a:defRPr>
                      </a:pPr>
                      <a:r>
                        <a:rPr sz="1500"/>
                        <a:t>Limitations</a:t>
                      </a:r>
                    </a:p>
                  </a:txBody>
                  <a:tcPr marR="73152" marT="54864" anchor="ctr">
                    <a:solidFill>
                      <a:srgbClr val="2A67B0"/>
                    </a:solidFill>
                  </a:tcPr>
                </a:tc>
                <a:extLst>
                  <a:ext uri="{0D108BD9-81ED-4DB2-BD59-A6C34878D82A}">
                    <a16:rowId xmlns:a16="http://schemas.microsoft.com/office/drawing/2014/main" xmlns="" val="10000"/>
                  </a:ext>
                </a:extLst>
              </a:tr>
              <a:tr h="1097280">
                <a:tc>
                  <a:txBody>
                    <a:bodyPr/>
                    <a:lstStyle/>
                    <a:p>
                      <a:pPr algn="ctr">
                        <a:defRPr sz="1100" b="0">
                          <a:solidFill>
                            <a:srgbClr val="2D343E"/>
                          </a:solidFill>
                          <a:latin typeface="Aptos"/>
                        </a:defRPr>
                      </a:pPr>
                      <a:r>
                        <a:rPr sz="1300"/>
                        <a:t>1</a:t>
                      </a:r>
                    </a:p>
                  </a:txBody>
                  <a:tcPr marR="73152" marT="54864" anchor="ctr">
                    <a:solidFill>
                      <a:srgbClr val="FFFFFF"/>
                    </a:solidFill>
                  </a:tcPr>
                </a:tc>
                <a:tc>
                  <a:txBody>
                    <a:bodyPr/>
                    <a:lstStyle/>
                    <a:p>
                      <a:pPr algn="l">
                        <a:defRPr sz="1100" b="0">
                          <a:solidFill>
                            <a:srgbClr val="2D343E"/>
                          </a:solidFill>
                          <a:latin typeface="Aptos"/>
                        </a:defRPr>
                      </a:pPr>
                      <a:r>
                        <a:rPr sz="1300" dirty="0"/>
                        <a:t>C. L. Forgy (1982)</a:t>
                      </a:r>
                    </a:p>
                  </a:txBody>
                  <a:tcPr marR="73152" marT="54864">
                    <a:solidFill>
                      <a:srgbClr val="FFFFFF"/>
                    </a:solidFill>
                  </a:tcPr>
                </a:tc>
                <a:tc>
                  <a:txBody>
                    <a:bodyPr/>
                    <a:lstStyle/>
                    <a:p>
                      <a:pPr algn="l">
                        <a:defRPr sz="1100" b="0">
                          <a:solidFill>
                            <a:srgbClr val="2D343E"/>
                          </a:solidFill>
                          <a:latin typeface="Aptos"/>
                        </a:defRPr>
                      </a:pPr>
                      <a:r>
                        <a:rPr sz="1300" dirty="0"/>
                        <a:t>Rete: A Fast Algorithm for the Many Pattern/Many Object Pattern Match Problem</a:t>
                      </a:r>
                    </a:p>
                  </a:txBody>
                  <a:tcPr marR="73152" marT="54864">
                    <a:solidFill>
                      <a:srgbClr val="FFFFFF"/>
                    </a:solidFill>
                  </a:tcPr>
                </a:tc>
                <a:tc>
                  <a:txBody>
                    <a:bodyPr/>
                    <a:lstStyle/>
                    <a:p>
                      <a:pPr algn="l">
                        <a:defRPr sz="1100" b="0">
                          <a:solidFill>
                            <a:srgbClr val="2D343E"/>
                          </a:solidFill>
                          <a:latin typeface="Aptos"/>
                        </a:defRPr>
                      </a:pPr>
                      <a:r>
                        <a:rPr sz="1300"/>
                        <a:t>Network that shares condition tests between rules, so forward chaining re-matches only changed facts</a:t>
                      </a:r>
                    </a:p>
                  </a:txBody>
                  <a:tcPr marR="73152" marT="54864">
                    <a:solidFill>
                      <a:srgbClr val="FFFFFF"/>
                    </a:solidFill>
                  </a:tcPr>
                </a:tc>
                <a:tc>
                  <a:txBody>
                    <a:bodyPr/>
                    <a:lstStyle/>
                    <a:p>
                      <a:pPr algn="l">
                        <a:defRPr sz="1100" b="0">
                          <a:solidFill>
                            <a:srgbClr val="2D343E"/>
                          </a:solidFill>
                          <a:latin typeface="Aptos"/>
                        </a:defRPr>
                      </a:pPr>
                      <a:r>
                        <a:rPr sz="1300" dirty="0"/>
                        <a:t>Speeds up matching only; memory-hungry; supplies no domain rules and no explanation</a:t>
                      </a:r>
                    </a:p>
                  </a:txBody>
                  <a:tcPr marR="73152" marT="54864">
                    <a:solidFill>
                      <a:srgbClr val="FFFFFF"/>
                    </a:solidFill>
                  </a:tcPr>
                </a:tc>
                <a:extLst>
                  <a:ext uri="{0D108BD9-81ED-4DB2-BD59-A6C34878D82A}">
                    <a16:rowId xmlns:a16="http://schemas.microsoft.com/office/drawing/2014/main" xmlns="" val="10001"/>
                  </a:ext>
                </a:extLst>
              </a:tr>
              <a:tr h="1097280">
                <a:tc>
                  <a:txBody>
                    <a:bodyPr/>
                    <a:lstStyle/>
                    <a:p>
                      <a:pPr algn="ctr">
                        <a:defRPr sz="1100" b="0">
                          <a:solidFill>
                            <a:srgbClr val="2D343E"/>
                          </a:solidFill>
                          <a:latin typeface="Aptos"/>
                        </a:defRPr>
                      </a:pPr>
                      <a:r>
                        <a:rPr sz="1300"/>
                        <a:t>2</a:t>
                      </a:r>
                    </a:p>
                  </a:txBody>
                  <a:tcPr marR="73152" marT="54864" anchor="ctr">
                    <a:solidFill>
                      <a:srgbClr val="EBF2FA"/>
                    </a:solidFill>
                  </a:tcPr>
                </a:tc>
                <a:tc>
                  <a:txBody>
                    <a:bodyPr/>
                    <a:lstStyle/>
                    <a:p>
                      <a:pPr algn="l">
                        <a:defRPr sz="1100" b="0">
                          <a:solidFill>
                            <a:srgbClr val="2D343E"/>
                          </a:solidFill>
                          <a:latin typeface="Aptos"/>
                        </a:defRPr>
                      </a:pPr>
                      <a:r>
                        <a:rPr sz="1300"/>
                        <a:t>B. G. Buchanan, E. H. Shortliffe (1984)</a:t>
                      </a:r>
                    </a:p>
                  </a:txBody>
                  <a:tcPr marR="73152" marT="54864">
                    <a:solidFill>
                      <a:srgbClr val="EBF2FA"/>
                    </a:solidFill>
                  </a:tcPr>
                </a:tc>
                <a:tc>
                  <a:txBody>
                    <a:bodyPr/>
                    <a:lstStyle/>
                    <a:p>
                      <a:pPr algn="l">
                        <a:defRPr sz="1100" b="0">
                          <a:solidFill>
                            <a:srgbClr val="2D343E"/>
                          </a:solidFill>
                          <a:latin typeface="Aptos"/>
                        </a:defRPr>
                      </a:pPr>
                      <a:r>
                        <a:rPr sz="1300" dirty="0"/>
                        <a:t>Rule-Based Expert Systems: The MYCIN Experiments of the Stanford Heuristic Programming Project</a:t>
                      </a:r>
                    </a:p>
                  </a:txBody>
                  <a:tcPr marR="73152" marT="54864">
                    <a:solidFill>
                      <a:srgbClr val="EBF2FA"/>
                    </a:solidFill>
                  </a:tcPr>
                </a:tc>
                <a:tc>
                  <a:txBody>
                    <a:bodyPr/>
                    <a:lstStyle/>
                    <a:p>
                      <a:pPr algn="l">
                        <a:defRPr sz="1100" b="0">
                          <a:solidFill>
                            <a:srgbClr val="2D343E"/>
                          </a:solidFill>
                          <a:latin typeface="Aptos"/>
                        </a:defRPr>
                      </a:pPr>
                      <a:r>
                        <a:rPr sz="1300"/>
                        <a:t>IF–THEN rules with certainty factors; advice is explained by showing the rules used</a:t>
                      </a:r>
                    </a:p>
                  </a:txBody>
                  <a:tcPr marR="73152" marT="54864">
                    <a:solidFill>
                      <a:srgbClr val="EBF2FA"/>
                    </a:solidFill>
                  </a:tcPr>
                </a:tc>
                <a:tc>
                  <a:txBody>
                    <a:bodyPr/>
                    <a:lstStyle/>
                    <a:p>
                      <a:pPr algn="l">
                        <a:defRPr sz="1100" b="0">
                          <a:solidFill>
                            <a:srgbClr val="2D343E"/>
                          </a:solidFill>
                          <a:latin typeface="Aptos"/>
                        </a:defRPr>
                      </a:pPr>
                      <a:r>
                        <a:rPr sz="1300"/>
                        <a:t>Rules written by hand; certainty factors are ad hoc; slow knowledge acquisition</a:t>
                      </a:r>
                    </a:p>
                  </a:txBody>
                  <a:tcPr marR="73152" marT="54864">
                    <a:solidFill>
                      <a:srgbClr val="EBF2FA"/>
                    </a:solidFill>
                  </a:tcPr>
                </a:tc>
                <a:extLst>
                  <a:ext uri="{0D108BD9-81ED-4DB2-BD59-A6C34878D82A}">
                    <a16:rowId xmlns:a16="http://schemas.microsoft.com/office/drawing/2014/main" xmlns="" val="10002"/>
                  </a:ext>
                </a:extLst>
              </a:tr>
              <a:tr h="1097280">
                <a:tc>
                  <a:txBody>
                    <a:bodyPr/>
                    <a:lstStyle/>
                    <a:p>
                      <a:pPr algn="ctr">
                        <a:defRPr sz="1100" b="0">
                          <a:solidFill>
                            <a:srgbClr val="2D343E"/>
                          </a:solidFill>
                          <a:latin typeface="Aptos"/>
                        </a:defRPr>
                      </a:pPr>
                      <a:r>
                        <a:rPr sz="1300"/>
                        <a:t>3</a:t>
                      </a:r>
                    </a:p>
                  </a:txBody>
                  <a:tcPr marR="73152" marT="54864" anchor="ctr">
                    <a:solidFill>
                      <a:srgbClr val="FFFFFF"/>
                    </a:solidFill>
                  </a:tcPr>
                </a:tc>
                <a:tc>
                  <a:txBody>
                    <a:bodyPr/>
                    <a:lstStyle/>
                    <a:p>
                      <a:pPr algn="l">
                        <a:defRPr sz="1100" b="0">
                          <a:solidFill>
                            <a:srgbClr val="2D343E"/>
                          </a:solidFill>
                          <a:latin typeface="Aptos"/>
                        </a:defRPr>
                      </a:pPr>
                      <a:r>
                        <a:rPr sz="1300" dirty="0"/>
                        <a:t>R. J. Bolton, D. J. Hand (2002)</a:t>
                      </a:r>
                    </a:p>
                  </a:txBody>
                  <a:tcPr marR="73152" marT="54864">
                    <a:solidFill>
                      <a:srgbClr val="FFFFFF"/>
                    </a:solidFill>
                  </a:tcPr>
                </a:tc>
                <a:tc>
                  <a:txBody>
                    <a:bodyPr/>
                    <a:lstStyle/>
                    <a:p>
                      <a:pPr algn="l">
                        <a:defRPr sz="1100" b="0">
                          <a:solidFill>
                            <a:srgbClr val="2D343E"/>
                          </a:solidFill>
                          <a:latin typeface="Aptos"/>
                        </a:defRPr>
                      </a:pPr>
                      <a:r>
                        <a:rPr sz="1300" dirty="0"/>
                        <a:t>Statistical Fraud Detection: A Review</a:t>
                      </a:r>
                    </a:p>
                  </a:txBody>
                  <a:tcPr marR="73152" marT="54864">
                    <a:solidFill>
                      <a:srgbClr val="FFFFFF"/>
                    </a:solidFill>
                  </a:tcPr>
                </a:tc>
                <a:tc>
                  <a:txBody>
                    <a:bodyPr/>
                    <a:lstStyle/>
                    <a:p>
                      <a:pPr algn="l">
                        <a:defRPr sz="1100" b="0">
                          <a:solidFill>
                            <a:srgbClr val="2D343E"/>
                          </a:solidFill>
                          <a:latin typeface="Aptos"/>
                        </a:defRPr>
                      </a:pPr>
                      <a:r>
                        <a:rPr sz="1300"/>
                        <a:t>Surveys statistical, supervised and unsupervised methods for finding fraud</a:t>
                      </a:r>
                    </a:p>
                  </a:txBody>
                  <a:tcPr marR="73152" marT="54864">
                    <a:solidFill>
                      <a:srgbClr val="FFFFFF"/>
                    </a:solidFill>
                  </a:tcPr>
                </a:tc>
                <a:tc>
                  <a:txBody>
                    <a:bodyPr/>
                    <a:lstStyle/>
                    <a:p>
                      <a:pPr algn="l">
                        <a:defRPr sz="1100" b="0">
                          <a:solidFill>
                            <a:srgbClr val="2D343E"/>
                          </a:solidFill>
                          <a:latin typeface="Aptos"/>
                        </a:defRPr>
                      </a:pPr>
                      <a:r>
                        <a:rPr sz="1300" dirty="0"/>
                        <a:t>Needs data and fraud labels; scores rarely say why a case was flagged</a:t>
                      </a:r>
                    </a:p>
                  </a:txBody>
                  <a:tcPr marR="73152" marT="54864">
                    <a:solidFill>
                      <a:srgbClr val="FFFFFF"/>
                    </a:solidFill>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440445193"/>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a:xfrm>
            <a:off x="766233" y="301752"/>
            <a:ext cx="10668000" cy="1216152"/>
          </a:xfrm>
        </p:spPr>
        <p:txBody>
          <a:bodyPr/>
          <a:lstStyle/>
          <a:p>
            <a:pPr algn="ctr"/>
            <a:r>
              <a:rPr lang="en-US" sz="3200" b="1" dirty="0">
                <a:solidFill>
                  <a:srgbClr val="FF0000"/>
                </a:solidFill>
              </a:rPr>
              <a:t>Literature Survey</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6</a:t>
            </a:fld>
            <a:endParaRPr lang="en-IN"/>
          </a:p>
        </p:txBody>
      </p:sp>
      <p:graphicFrame>
        <p:nvGraphicFramePr>
          <p:cNvPr id="5" name="Table 4">
            <a:extLst>
              <a:ext uri="{FF2B5EF4-FFF2-40B4-BE49-F238E27FC236}">
                <a16:creationId xmlns:a16="http://schemas.microsoft.com/office/drawing/2014/main" xmlns="" id="{AD7E4B40-F95E-47F4-B92E-06AFA2A015FC}"/>
              </a:ext>
            </a:extLst>
          </p:cNvPr>
          <p:cNvGraphicFramePr>
            <a:graphicFrameLocks noGrp="1"/>
          </p:cNvGraphicFramePr>
          <p:nvPr>
            <p:extLst>
              <p:ext uri="{D42A27DB-BD31-4B8C-83A1-F6EECF244321}">
                <p14:modId xmlns:p14="http://schemas.microsoft.com/office/powerpoint/2010/main" val="4090234421"/>
              </p:ext>
            </p:extLst>
          </p:nvPr>
        </p:nvGraphicFramePr>
        <p:xfrm>
          <a:off x="548640" y="1783080"/>
          <a:ext cx="10972800" cy="274320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xmlns="" val="20000"/>
                    </a:ext>
                  </a:extLst>
                </a:gridCol>
                <a:gridCol w="2011680">
                  <a:extLst>
                    <a:ext uri="{9D8B030D-6E8A-4147-A177-3AD203B41FA5}">
                      <a16:colId xmlns:a16="http://schemas.microsoft.com/office/drawing/2014/main" xmlns="" val="20001"/>
                    </a:ext>
                  </a:extLst>
                </a:gridCol>
                <a:gridCol w="2697480">
                  <a:extLst>
                    <a:ext uri="{9D8B030D-6E8A-4147-A177-3AD203B41FA5}">
                      <a16:colId xmlns:a16="http://schemas.microsoft.com/office/drawing/2014/main" xmlns="" val="20002"/>
                    </a:ext>
                  </a:extLst>
                </a:gridCol>
                <a:gridCol w="2743200">
                  <a:extLst>
                    <a:ext uri="{9D8B030D-6E8A-4147-A177-3AD203B41FA5}">
                      <a16:colId xmlns:a16="http://schemas.microsoft.com/office/drawing/2014/main" xmlns="" val="20003"/>
                    </a:ext>
                  </a:extLst>
                </a:gridCol>
                <a:gridCol w="2834640">
                  <a:extLst>
                    <a:ext uri="{9D8B030D-6E8A-4147-A177-3AD203B41FA5}">
                      <a16:colId xmlns:a16="http://schemas.microsoft.com/office/drawing/2014/main" xmlns="" val="20004"/>
                    </a:ext>
                  </a:extLst>
                </a:gridCol>
              </a:tblGrid>
              <a:tr h="548640">
                <a:tc>
                  <a:txBody>
                    <a:bodyPr/>
                    <a:lstStyle/>
                    <a:p>
                      <a:pPr algn="ctr">
                        <a:defRPr sz="1200" b="1">
                          <a:solidFill>
                            <a:srgbClr val="FFFFFF"/>
                          </a:solidFill>
                          <a:latin typeface="Aptos"/>
                        </a:defRPr>
                      </a:pPr>
                      <a:r>
                        <a:rPr sz="1500"/>
                        <a:t>S. No.</a:t>
                      </a:r>
                    </a:p>
                  </a:txBody>
                  <a:tcPr marR="73152" marT="54864" anchor="ctr">
                    <a:solidFill>
                      <a:srgbClr val="2A67B0"/>
                    </a:solidFill>
                  </a:tcPr>
                </a:tc>
                <a:tc>
                  <a:txBody>
                    <a:bodyPr/>
                    <a:lstStyle/>
                    <a:p>
                      <a:pPr algn="ctr">
                        <a:defRPr sz="1200" b="1">
                          <a:solidFill>
                            <a:srgbClr val="FFFFFF"/>
                          </a:solidFill>
                          <a:latin typeface="Aptos"/>
                        </a:defRPr>
                      </a:pPr>
                      <a:r>
                        <a:rPr sz="1500"/>
                        <a:t>Author(s) &amp; Year</a:t>
                      </a:r>
                    </a:p>
                  </a:txBody>
                  <a:tcPr marR="73152" marT="54864" anchor="ctr">
                    <a:solidFill>
                      <a:srgbClr val="2A67B0"/>
                    </a:solidFill>
                  </a:tcPr>
                </a:tc>
                <a:tc>
                  <a:txBody>
                    <a:bodyPr/>
                    <a:lstStyle/>
                    <a:p>
                      <a:pPr algn="ctr">
                        <a:defRPr sz="1200" b="1">
                          <a:solidFill>
                            <a:srgbClr val="FFFFFF"/>
                          </a:solidFill>
                          <a:latin typeface="Aptos"/>
                        </a:defRPr>
                      </a:pPr>
                      <a:r>
                        <a:rPr sz="1500"/>
                        <a:t>Paper Title</a:t>
                      </a:r>
                    </a:p>
                  </a:txBody>
                  <a:tcPr marR="73152" marT="54864" anchor="ctr">
                    <a:solidFill>
                      <a:srgbClr val="2A67B0"/>
                    </a:solidFill>
                  </a:tcPr>
                </a:tc>
                <a:tc>
                  <a:txBody>
                    <a:bodyPr/>
                    <a:lstStyle/>
                    <a:p>
                      <a:pPr algn="ctr">
                        <a:defRPr sz="1200" b="1">
                          <a:solidFill>
                            <a:srgbClr val="FFFFFF"/>
                          </a:solidFill>
                          <a:latin typeface="Aptos"/>
                        </a:defRPr>
                      </a:pPr>
                      <a:r>
                        <a:rPr sz="1500"/>
                        <a:t>Methodology / Algorithm</a:t>
                      </a:r>
                    </a:p>
                  </a:txBody>
                  <a:tcPr marR="73152" marT="54864" anchor="ctr">
                    <a:solidFill>
                      <a:srgbClr val="2A67B0"/>
                    </a:solidFill>
                  </a:tcPr>
                </a:tc>
                <a:tc>
                  <a:txBody>
                    <a:bodyPr/>
                    <a:lstStyle/>
                    <a:p>
                      <a:pPr algn="ctr">
                        <a:defRPr sz="1200" b="1">
                          <a:solidFill>
                            <a:srgbClr val="FFFFFF"/>
                          </a:solidFill>
                          <a:latin typeface="Aptos"/>
                        </a:defRPr>
                      </a:pPr>
                      <a:r>
                        <a:rPr sz="1500"/>
                        <a:t>Limitations</a:t>
                      </a:r>
                    </a:p>
                  </a:txBody>
                  <a:tcPr marR="73152" marT="54864" anchor="ctr">
                    <a:solidFill>
                      <a:srgbClr val="2A67B0"/>
                    </a:solidFill>
                  </a:tcPr>
                </a:tc>
                <a:extLst>
                  <a:ext uri="{0D108BD9-81ED-4DB2-BD59-A6C34878D82A}">
                    <a16:rowId xmlns:a16="http://schemas.microsoft.com/office/drawing/2014/main" xmlns="" val="10000"/>
                  </a:ext>
                </a:extLst>
              </a:tr>
              <a:tr h="1097280">
                <a:tc>
                  <a:txBody>
                    <a:bodyPr/>
                    <a:lstStyle/>
                    <a:p>
                      <a:pPr algn="ctr">
                        <a:defRPr sz="1100" b="0">
                          <a:solidFill>
                            <a:srgbClr val="2D343E"/>
                          </a:solidFill>
                          <a:latin typeface="Aptos"/>
                        </a:defRPr>
                      </a:pPr>
                      <a:r>
                        <a:rPr sz="1300" dirty="0"/>
                        <a:t>4</a:t>
                      </a:r>
                    </a:p>
                  </a:txBody>
                  <a:tcPr marR="73152" marT="54864" anchor="ctr">
                    <a:solidFill>
                      <a:srgbClr val="EBF2FA"/>
                    </a:solidFill>
                  </a:tcPr>
                </a:tc>
                <a:tc>
                  <a:txBody>
                    <a:bodyPr/>
                    <a:lstStyle/>
                    <a:p>
                      <a:pPr algn="l">
                        <a:defRPr sz="1100" b="0">
                          <a:solidFill>
                            <a:srgbClr val="2D343E"/>
                          </a:solidFill>
                          <a:latin typeface="Aptos"/>
                        </a:defRPr>
                      </a:pPr>
                      <a:r>
                        <a:rPr sz="1300" dirty="0"/>
                        <a:t>A. Dal Pozzolo et al. (2018)</a:t>
                      </a:r>
                    </a:p>
                  </a:txBody>
                  <a:tcPr marR="73152" marT="54864">
                    <a:solidFill>
                      <a:srgbClr val="EBF2FA"/>
                    </a:solidFill>
                  </a:tcPr>
                </a:tc>
                <a:tc>
                  <a:txBody>
                    <a:bodyPr/>
                    <a:lstStyle/>
                    <a:p>
                      <a:pPr algn="l">
                        <a:defRPr sz="1100" b="0">
                          <a:solidFill>
                            <a:srgbClr val="2D343E"/>
                          </a:solidFill>
                          <a:latin typeface="Aptos"/>
                        </a:defRPr>
                      </a:pPr>
                      <a:r>
                        <a:rPr sz="1300" dirty="0"/>
                        <a:t>Credit Card Fraud Detection: A Realistic Modeling and a Novel Learning Strategy</a:t>
                      </a:r>
                    </a:p>
                  </a:txBody>
                  <a:tcPr marR="73152" marT="54864">
                    <a:solidFill>
                      <a:srgbClr val="EBF2FA"/>
                    </a:solidFill>
                  </a:tcPr>
                </a:tc>
                <a:tc>
                  <a:txBody>
                    <a:bodyPr/>
                    <a:lstStyle/>
                    <a:p>
                      <a:pPr algn="l">
                        <a:defRPr sz="1100" b="0">
                          <a:solidFill>
                            <a:srgbClr val="2D343E"/>
                          </a:solidFill>
                          <a:latin typeface="Aptos"/>
                        </a:defRPr>
                      </a:pPr>
                      <a:r>
                        <a:rPr sz="1300" dirty="0"/>
                        <a:t>Machine-learning classifiers for imbalanced, delayed-label card transactions, with analyst feedback</a:t>
                      </a:r>
                    </a:p>
                  </a:txBody>
                  <a:tcPr marR="73152" marT="54864">
                    <a:solidFill>
                      <a:srgbClr val="EBF2FA"/>
                    </a:solidFill>
                  </a:tcPr>
                </a:tc>
                <a:tc>
                  <a:txBody>
                    <a:bodyPr/>
                    <a:lstStyle/>
                    <a:p>
                      <a:pPr algn="l">
                        <a:defRPr sz="1100" b="0">
                          <a:solidFill>
                            <a:srgbClr val="2D343E"/>
                          </a:solidFill>
                          <a:latin typeface="Aptos"/>
                        </a:defRPr>
                      </a:pPr>
                      <a:r>
                        <a:rPr sz="1300" dirty="0"/>
                        <a:t>Requires a large labelled history; concept drift; the classifier is a black box</a:t>
                      </a:r>
                    </a:p>
                  </a:txBody>
                  <a:tcPr marR="73152" marT="54864">
                    <a:solidFill>
                      <a:srgbClr val="EBF2FA"/>
                    </a:solidFill>
                  </a:tcPr>
                </a:tc>
                <a:extLst>
                  <a:ext uri="{0D108BD9-81ED-4DB2-BD59-A6C34878D82A}">
                    <a16:rowId xmlns:a16="http://schemas.microsoft.com/office/drawing/2014/main" xmlns="" val="10004"/>
                  </a:ext>
                </a:extLst>
              </a:tr>
              <a:tr h="1097280">
                <a:tc>
                  <a:txBody>
                    <a:bodyPr/>
                    <a:lstStyle/>
                    <a:p>
                      <a:pPr algn="ctr">
                        <a:defRPr sz="1100" b="0">
                          <a:solidFill>
                            <a:srgbClr val="2D343E"/>
                          </a:solidFill>
                          <a:latin typeface="Aptos"/>
                        </a:defRPr>
                      </a:pPr>
                      <a:r>
                        <a:rPr lang="en-US" sz="1300" dirty="0"/>
                        <a:t>5</a:t>
                      </a:r>
                      <a:endParaRPr sz="1800" dirty="0"/>
                    </a:p>
                  </a:txBody>
                  <a:tcPr marR="73152" marT="54864" anchor="ctr">
                    <a:solidFill>
                      <a:srgbClr val="EBF2FA"/>
                    </a:solidFill>
                  </a:tcPr>
                </a:tc>
                <a:tc>
                  <a:txBody>
                    <a:bodyPr/>
                    <a:lstStyle/>
                    <a:p>
                      <a:pPr algn="l">
                        <a:defRPr sz="1100" b="0">
                          <a:solidFill>
                            <a:srgbClr val="2D343E"/>
                          </a:solidFill>
                          <a:latin typeface="Aptos"/>
                        </a:defRPr>
                      </a:pPr>
                      <a:r>
                        <a:rPr sz="1300" dirty="0"/>
                        <a:t>M. T. Ribeiro, S. Singh, C. Guestrin (2016)</a:t>
                      </a:r>
                    </a:p>
                  </a:txBody>
                  <a:tcPr marR="73152" marT="54864">
                    <a:solidFill>
                      <a:srgbClr val="EBF2FA"/>
                    </a:solidFill>
                  </a:tcPr>
                </a:tc>
                <a:tc>
                  <a:txBody>
                    <a:bodyPr/>
                    <a:lstStyle/>
                    <a:p>
                      <a:pPr algn="l">
                        <a:defRPr sz="1100" b="0">
                          <a:solidFill>
                            <a:srgbClr val="2D343E"/>
                          </a:solidFill>
                          <a:latin typeface="Aptos"/>
                        </a:defRPr>
                      </a:pPr>
                      <a:r>
                        <a:rPr sz="1300" dirty="0"/>
                        <a:t>“Why Should I Trust You?”: Explaining the Predictions of Any Classifier</a:t>
                      </a:r>
                    </a:p>
                  </a:txBody>
                  <a:tcPr marR="73152" marT="54864">
                    <a:solidFill>
                      <a:srgbClr val="EBF2FA"/>
                    </a:solidFill>
                  </a:tcPr>
                </a:tc>
                <a:tc>
                  <a:txBody>
                    <a:bodyPr/>
                    <a:lstStyle/>
                    <a:p>
                      <a:pPr algn="l">
                        <a:defRPr sz="1100" b="0">
                          <a:solidFill>
                            <a:srgbClr val="2D343E"/>
                          </a:solidFill>
                          <a:latin typeface="Aptos"/>
                        </a:defRPr>
                      </a:pPr>
                      <a:r>
                        <a:rPr sz="1300" dirty="0"/>
                        <a:t>LIME: fits a simple local model around one prediction to explain it</a:t>
                      </a:r>
                    </a:p>
                  </a:txBody>
                  <a:tcPr marR="73152" marT="54864">
                    <a:solidFill>
                      <a:srgbClr val="EBF2FA"/>
                    </a:solidFill>
                  </a:tcPr>
                </a:tc>
                <a:tc>
                  <a:txBody>
                    <a:bodyPr/>
                    <a:lstStyle/>
                    <a:p>
                      <a:pPr algn="l">
                        <a:defRPr sz="1100" b="0">
                          <a:solidFill>
                            <a:srgbClr val="2D343E"/>
                          </a:solidFill>
                          <a:latin typeface="Aptos"/>
                        </a:defRPr>
                      </a:pPr>
                      <a:r>
                        <a:rPr sz="1300" dirty="0"/>
                        <a:t>The explanation is an approximation added afterwards, not the logic that decided</a:t>
                      </a:r>
                    </a:p>
                  </a:txBody>
                  <a:tcPr marR="73152" marT="54864">
                    <a:solidFill>
                      <a:srgbClr val="EBF2FA"/>
                    </a:solidFill>
                  </a:tcPr>
                </a:tc>
                <a:extLst>
                  <a:ext uri="{0D108BD9-81ED-4DB2-BD59-A6C34878D82A}">
                    <a16:rowId xmlns:a16="http://schemas.microsoft.com/office/drawing/2014/main" xmlns="" val="2742916463"/>
                  </a:ext>
                </a:extLst>
              </a:tr>
            </a:tbl>
          </a:graphicData>
        </a:graphic>
      </p:graphicFrame>
    </p:spTree>
    <p:extLst>
      <p:ext uri="{BB962C8B-B14F-4D97-AF65-F5344CB8AC3E}">
        <p14:creationId xmlns:p14="http://schemas.microsoft.com/office/powerpoint/2010/main" val="424219530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a:xfrm>
            <a:off x="766233" y="304801"/>
            <a:ext cx="10668000" cy="1216025"/>
          </a:xfrm>
        </p:spPr>
        <p:txBody>
          <a:bodyPr/>
          <a:lstStyle/>
          <a:p>
            <a:pPr algn="ctr"/>
            <a:r>
              <a:rPr lang="en-US" sz="3200" b="1" dirty="0">
                <a:solidFill>
                  <a:srgbClr val="FF0000"/>
                </a:solidFill>
              </a:rPr>
              <a:t>Research Gap / Existing System</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7</a:t>
            </a:fld>
            <a:endParaRPr lang="en-IN"/>
          </a:p>
        </p:txBody>
      </p:sp>
      <p:sp>
        <p:nvSpPr>
          <p:cNvPr id="20" name="Rounded Rectangle 3">
            <a:extLst>
              <a:ext uri="{FF2B5EF4-FFF2-40B4-BE49-F238E27FC236}">
                <a16:creationId xmlns:a16="http://schemas.microsoft.com/office/drawing/2014/main" xmlns="" id="{F4FE7899-24E6-401C-9D46-CFAA1E243809}"/>
              </a:ext>
            </a:extLst>
          </p:cNvPr>
          <p:cNvSpPr>
            <a:spLocks noGrp="1"/>
          </p:cNvSpPr>
          <p:nvPr>
            <p:ph idx="1"/>
          </p:nvPr>
        </p:nvSpPr>
        <p:spPr>
          <a:xfrm>
            <a:off x="758952" y="1783080"/>
            <a:ext cx="5257800" cy="1965960"/>
          </a:xfrm>
          <a:prstGeom prst="roundRect">
            <a:avLst/>
          </a:prstGeom>
          <a:solidFill>
            <a:srgbClr val="EBF2FA"/>
          </a:solidFill>
          <a:ln>
            <a:solidFill>
              <a:srgbClr val="CDDAEB"/>
            </a:solidFill>
          </a:ln>
        </p:spPr>
        <p:style>
          <a:lnRef idx="1">
            <a:schemeClr val="accent1"/>
          </a:lnRef>
          <a:fillRef idx="3">
            <a:schemeClr val="accent1"/>
          </a:fillRef>
          <a:effectRef idx="2">
            <a:schemeClr val="accent1"/>
          </a:effectRef>
          <a:fontRef idx="minor">
            <a:schemeClr val="lt1"/>
          </a:fontRef>
        </p:style>
        <p:txBody>
          <a:bodyPr wrap="square" lIns="182880" tIns="128016" rIns="182880" bIns="91440" rtlCol="0" anchor="t">
            <a:noAutofit/>
          </a:bodyPr>
          <a:lstStyle/>
          <a:p>
            <a:pPr marL="0" indent="0" algn="l">
              <a:buNone/>
            </a:pPr>
            <a:r>
              <a:rPr lang="en-IN" sz="1600" b="1" dirty="0">
                <a:solidFill>
                  <a:srgbClr val="193054"/>
                </a:solidFill>
                <a:latin typeface="+mn-lt"/>
              </a:rPr>
              <a:t>1. What existing studies do</a:t>
            </a:r>
          </a:p>
          <a:p>
            <a:pPr marL="0" indent="0" algn="l">
              <a:spcBef>
                <a:spcPts val="600"/>
              </a:spcBef>
              <a:buNone/>
            </a:pPr>
            <a:r>
              <a:rPr lang="en-IN" sz="1300" b="0" dirty="0">
                <a:solidFill>
                  <a:srgbClr val="1F2933"/>
                </a:solidFill>
                <a:latin typeface="+mn-lt"/>
              </a:rPr>
              <a:t>Expert systems encode knowledge as IF–THEN rules with explanations [2] and match them efficiently [1]; fraud research mostly uses statistical and machine-learning detection [3], [4]; explanation tools such as LIME are added afterwards [5].</a:t>
            </a:r>
          </a:p>
        </p:txBody>
      </p:sp>
      <p:sp>
        <p:nvSpPr>
          <p:cNvPr id="21" name="Rounded Rectangle 4">
            <a:extLst>
              <a:ext uri="{FF2B5EF4-FFF2-40B4-BE49-F238E27FC236}">
                <a16:creationId xmlns:a16="http://schemas.microsoft.com/office/drawing/2014/main" xmlns="" id="{FF66DAF5-0B91-4093-BD89-5CE7615E431A}"/>
              </a:ext>
            </a:extLst>
          </p:cNvPr>
          <p:cNvSpPr/>
          <p:nvPr/>
        </p:nvSpPr>
        <p:spPr>
          <a:xfrm>
            <a:off x="6245352" y="1783080"/>
            <a:ext cx="5257800" cy="1965960"/>
          </a:xfrm>
          <a:prstGeom prst="roundRect">
            <a:avLst/>
          </a:prstGeom>
          <a:solidFill>
            <a:srgbClr val="F7F9FC"/>
          </a:solidFill>
          <a:ln>
            <a:solidFill>
              <a:srgbClr val="CDDAEB"/>
            </a:solidFill>
          </a:ln>
        </p:spPr>
        <p:style>
          <a:lnRef idx="1">
            <a:schemeClr val="accent1"/>
          </a:lnRef>
          <a:fillRef idx="3">
            <a:schemeClr val="accent1"/>
          </a:fillRef>
          <a:effectRef idx="2">
            <a:schemeClr val="accent1"/>
          </a:effectRef>
          <a:fontRef idx="minor">
            <a:schemeClr val="lt1"/>
          </a:fontRef>
        </p:style>
        <p:txBody>
          <a:bodyPr wrap="square" lIns="182880" tIns="128016" rIns="182880" bIns="91440" rtlCol="0" anchor="t">
            <a:noAutofit/>
          </a:bodyPr>
          <a:lstStyle/>
          <a:p>
            <a:pPr marL="0" indent="0" algn="l">
              <a:buNone/>
            </a:pPr>
            <a:r>
              <a:rPr lang="en-IN" sz="1600" b="1" dirty="0">
                <a:solidFill>
                  <a:srgbClr val="193054"/>
                </a:solidFill>
                <a:latin typeface="+mn-lt"/>
              </a:rPr>
              <a:t>2. Limitations observed</a:t>
            </a:r>
          </a:p>
          <a:p>
            <a:pPr marL="0" indent="0" algn="l">
              <a:spcBef>
                <a:spcPts val="600"/>
              </a:spcBef>
              <a:buNone/>
            </a:pPr>
            <a:r>
              <a:rPr lang="en-IN" sz="1300" b="0" dirty="0">
                <a:solidFill>
                  <a:srgbClr val="1F2933"/>
                </a:solidFill>
                <a:latin typeface="+mn-lt"/>
              </a:rPr>
              <a:t>ML detectors need labelled data and act as black boxes; post-hoc explanations only approximate the model; classic expert systems are not packaged for payment risk or a modern web workflow.</a:t>
            </a:r>
          </a:p>
        </p:txBody>
      </p:sp>
      <p:sp>
        <p:nvSpPr>
          <p:cNvPr id="22" name="Rounded Rectangle 5">
            <a:extLst>
              <a:ext uri="{FF2B5EF4-FFF2-40B4-BE49-F238E27FC236}">
                <a16:creationId xmlns:a16="http://schemas.microsoft.com/office/drawing/2014/main" xmlns="" id="{85599EEB-0FFB-4C94-AB5E-41D5A47FE9B6}"/>
              </a:ext>
            </a:extLst>
          </p:cNvPr>
          <p:cNvSpPr/>
          <p:nvPr/>
        </p:nvSpPr>
        <p:spPr>
          <a:xfrm>
            <a:off x="758952" y="3931920"/>
            <a:ext cx="5257800" cy="1965960"/>
          </a:xfrm>
          <a:prstGeom prst="roundRect">
            <a:avLst/>
          </a:prstGeom>
          <a:solidFill>
            <a:srgbClr val="EBF2FA"/>
          </a:solidFill>
          <a:ln>
            <a:solidFill>
              <a:srgbClr val="CDDAEB"/>
            </a:solidFill>
          </a:ln>
        </p:spPr>
        <p:style>
          <a:lnRef idx="1">
            <a:schemeClr val="accent1"/>
          </a:lnRef>
          <a:fillRef idx="3">
            <a:schemeClr val="accent1"/>
          </a:fillRef>
          <a:effectRef idx="2">
            <a:schemeClr val="accent1"/>
          </a:effectRef>
          <a:fontRef idx="minor">
            <a:schemeClr val="lt1"/>
          </a:fontRef>
        </p:style>
        <p:txBody>
          <a:bodyPr wrap="square" lIns="182880" tIns="128016" rIns="182880" bIns="91440" rtlCol="0" anchor="t">
            <a:noAutofit/>
          </a:bodyPr>
          <a:lstStyle/>
          <a:p>
            <a:pPr marL="0" indent="0" algn="l">
              <a:buNone/>
            </a:pPr>
            <a:r>
              <a:rPr lang="en-IN" sz="1600" b="1" dirty="0">
                <a:solidFill>
                  <a:srgbClr val="193054"/>
                </a:solidFill>
                <a:latin typeface="+mn-lt"/>
              </a:rPr>
              <a:t>3. Research gap</a:t>
            </a:r>
          </a:p>
          <a:p>
            <a:pPr marL="0" indent="0" algn="l">
              <a:spcBef>
                <a:spcPts val="600"/>
              </a:spcBef>
              <a:buNone/>
            </a:pPr>
            <a:r>
              <a:rPr lang="en-IN" sz="1300" b="0" dirty="0">
                <a:solidFill>
                  <a:srgbClr val="1F2933"/>
                </a:solidFill>
                <a:latin typeface="+mn-lt"/>
              </a:rPr>
              <a:t>No compact, self-contained tool combines predicate-logic rules, forward chaining, conflict resolution and built-in explanation for payment risk, without training data and installable from one ZIP.</a:t>
            </a:r>
          </a:p>
        </p:txBody>
      </p:sp>
      <p:sp>
        <p:nvSpPr>
          <p:cNvPr id="24" name="Rounded Rectangle 6">
            <a:extLst>
              <a:ext uri="{FF2B5EF4-FFF2-40B4-BE49-F238E27FC236}">
                <a16:creationId xmlns:a16="http://schemas.microsoft.com/office/drawing/2014/main" xmlns="" id="{C31116F3-B074-468F-82D6-F9C068878439}"/>
              </a:ext>
            </a:extLst>
          </p:cNvPr>
          <p:cNvSpPr/>
          <p:nvPr/>
        </p:nvSpPr>
        <p:spPr>
          <a:xfrm>
            <a:off x="6245352" y="3931920"/>
            <a:ext cx="5257800" cy="1965960"/>
          </a:xfrm>
          <a:prstGeom prst="roundRect">
            <a:avLst/>
          </a:prstGeom>
          <a:solidFill>
            <a:srgbClr val="F7F9FC"/>
          </a:solidFill>
          <a:ln>
            <a:solidFill>
              <a:srgbClr val="CDDAEB"/>
            </a:solidFill>
          </a:ln>
        </p:spPr>
        <p:style>
          <a:lnRef idx="1">
            <a:schemeClr val="accent1"/>
          </a:lnRef>
          <a:fillRef idx="3">
            <a:schemeClr val="accent1"/>
          </a:fillRef>
          <a:effectRef idx="2">
            <a:schemeClr val="accent1"/>
          </a:effectRef>
          <a:fontRef idx="minor">
            <a:schemeClr val="lt1"/>
          </a:fontRef>
        </p:style>
        <p:txBody>
          <a:bodyPr wrap="square" lIns="182880" tIns="128016" rIns="182880" bIns="91440" rtlCol="0" anchor="t">
            <a:noAutofit/>
          </a:bodyPr>
          <a:lstStyle/>
          <a:p>
            <a:pPr marL="0" indent="0" algn="l">
              <a:buNone/>
            </a:pPr>
            <a:r>
              <a:rPr lang="en-IN" sz="1600" b="1" dirty="0">
                <a:solidFill>
                  <a:srgbClr val="193054"/>
                </a:solidFill>
                <a:latin typeface="+mn-lt"/>
              </a:rPr>
              <a:t>4. How our project responds</a:t>
            </a:r>
          </a:p>
          <a:p>
            <a:pPr marL="0" indent="0" algn="l">
              <a:spcBef>
                <a:spcPts val="600"/>
              </a:spcBef>
              <a:buNone/>
            </a:pPr>
            <a:r>
              <a:rPr lang="en-IN" sz="1300" b="0" dirty="0">
                <a:solidFill>
                  <a:srgbClr val="1F2933"/>
                </a:solidFill>
                <a:latin typeface="+mn-lt"/>
              </a:rPr>
              <a:t>FraudShield AI: seven inputs → predicates → forward chaining → conflict resolution → four risk tiers, with the fired-rule trail as the explanation, in a web app started by run.bat.</a:t>
            </a:r>
          </a:p>
        </p:txBody>
      </p:sp>
    </p:spTree>
    <p:extLst>
      <p:ext uri="{BB962C8B-B14F-4D97-AF65-F5344CB8AC3E}">
        <p14:creationId xmlns:p14="http://schemas.microsoft.com/office/powerpoint/2010/main" val="46315084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Proposed System</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8</a:t>
            </a:fld>
            <a:endParaRPr lang="en-IN"/>
          </a:p>
        </p:txBody>
      </p:sp>
      <p:sp>
        <p:nvSpPr>
          <p:cNvPr id="7" name="TextBox 6"/>
          <p:cNvSpPr txBox="1"/>
          <p:nvPr/>
        </p:nvSpPr>
        <p:spPr>
          <a:xfrm>
            <a:off x="758952" y="1691640"/>
            <a:ext cx="10744200" cy="566928"/>
          </a:xfrm>
          <a:prstGeom prst="rect">
            <a:avLst/>
          </a:prstGeom>
          <a:noFill/>
        </p:spPr>
        <p:txBody>
          <a:bodyPr wrap="square" lIns="36576" tIns="36576" rIns="36576" bIns="36576" anchor="t">
            <a:noAutofit/>
          </a:bodyPr>
          <a:lstStyle/>
          <a:p>
            <a:pPr algn="l"/>
            <a:r>
              <a:rPr sz="1400" b="1">
                <a:solidFill>
                  <a:srgbClr val="193054"/>
                </a:solidFill>
              </a:rPr>
              <a:t>A staged expert-system pipeline replaces ad-hoc checks. </a:t>
            </a:r>
            <a:r>
              <a:rPr sz="1400" b="0">
                <a:solidFill>
                  <a:srgbClr val="1F2933"/>
                </a:solidFill>
              </a:rPr>
              <a:t>Each stage adds exactly one idea to the stage below, so the gap between two stages is the value of that idea.</a:t>
            </a:r>
          </a:p>
        </p:txBody>
      </p:sp>
      <p:sp>
        <p:nvSpPr>
          <p:cNvPr id="8" name="Rounded Rectangle 7"/>
          <p:cNvSpPr/>
          <p:nvPr/>
        </p:nvSpPr>
        <p:spPr>
          <a:xfrm>
            <a:off x="758952" y="3429000"/>
            <a:ext cx="2587752" cy="1600200"/>
          </a:xfrm>
          <a:prstGeom prst="roundRect">
            <a:avLst>
              <a:gd name="adj" fmla="val 6000"/>
            </a:avLst>
          </a:prstGeom>
          <a:solidFill>
            <a:srgbClr val="FFFFFF"/>
          </a:solidFill>
          <a:ln w="25400">
            <a:solidFill>
              <a:srgbClr val="2A78D6"/>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9" name="Oval 8"/>
          <p:cNvSpPr/>
          <p:nvPr/>
        </p:nvSpPr>
        <p:spPr>
          <a:xfrm>
            <a:off x="886968" y="3557016"/>
            <a:ext cx="402336" cy="40233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1</a:t>
            </a:r>
          </a:p>
        </p:txBody>
      </p:sp>
      <p:sp>
        <p:nvSpPr>
          <p:cNvPr id="10" name="TextBox 9"/>
          <p:cNvSpPr txBox="1"/>
          <p:nvPr/>
        </p:nvSpPr>
        <p:spPr>
          <a:xfrm>
            <a:off x="1362456" y="3520440"/>
            <a:ext cx="1920240" cy="475488"/>
          </a:xfrm>
          <a:prstGeom prst="rect">
            <a:avLst/>
          </a:prstGeom>
          <a:noFill/>
        </p:spPr>
        <p:txBody>
          <a:bodyPr wrap="square" lIns="36576" tIns="36576" rIns="36576" bIns="36576" anchor="ctr">
            <a:noAutofit/>
          </a:bodyPr>
          <a:lstStyle/>
          <a:p>
            <a:pPr algn="l"/>
            <a:r>
              <a:rPr sz="1300" b="1">
                <a:solidFill>
                  <a:srgbClr val="193054"/>
                </a:solidFill>
              </a:rPr>
              <a:t>Facts</a:t>
            </a:r>
          </a:p>
        </p:txBody>
      </p:sp>
      <p:sp>
        <p:nvSpPr>
          <p:cNvPr id="11" name="TextBox 10"/>
          <p:cNvSpPr txBox="1"/>
          <p:nvPr/>
        </p:nvSpPr>
        <p:spPr>
          <a:xfrm>
            <a:off x="886968" y="4050791"/>
            <a:ext cx="2377440" cy="868680"/>
          </a:xfrm>
          <a:prstGeom prst="rect">
            <a:avLst/>
          </a:prstGeom>
          <a:noFill/>
        </p:spPr>
        <p:txBody>
          <a:bodyPr wrap="square" lIns="36576" tIns="36576" rIns="36576" bIns="36576" anchor="t">
            <a:noAutofit/>
          </a:bodyPr>
          <a:lstStyle/>
          <a:p>
            <a:pPr algn="l"/>
            <a:r>
              <a:rPr sz="1100" b="0">
                <a:solidFill>
                  <a:srgbClr val="1F2933"/>
                </a:solidFill>
              </a:rPr>
              <a:t>Seven core inputs become typed facts about the transaction.</a:t>
            </a:r>
          </a:p>
        </p:txBody>
      </p:sp>
      <p:sp>
        <p:nvSpPr>
          <p:cNvPr id="12" name="TextBox 11"/>
          <p:cNvSpPr txBox="1"/>
          <p:nvPr/>
        </p:nvSpPr>
        <p:spPr>
          <a:xfrm>
            <a:off x="886968" y="4480560"/>
            <a:ext cx="2377440" cy="475488"/>
          </a:xfrm>
          <a:prstGeom prst="rect">
            <a:avLst/>
          </a:prstGeom>
          <a:noFill/>
        </p:spPr>
        <p:txBody>
          <a:bodyPr wrap="square" lIns="36576" tIns="36576" rIns="36576" bIns="36576" anchor="b">
            <a:noAutofit/>
          </a:bodyPr>
          <a:lstStyle/>
          <a:p>
            <a:pPr algn="l"/>
            <a:r>
              <a:rPr sz="1100" b="0">
                <a:solidFill>
                  <a:srgbClr val="44505C"/>
                </a:solidFill>
              </a:rPr>
              <a:t>7 core inputs</a:t>
            </a:r>
          </a:p>
          <a:p>
            <a:pPr algn="l"/>
            <a:r>
              <a:rPr sz="1250" b="1">
                <a:solidFill>
                  <a:srgbClr val="2A78D6"/>
                </a:solidFill>
              </a:rPr>
              <a:t>validated facts</a:t>
            </a:r>
          </a:p>
        </p:txBody>
      </p:sp>
      <p:sp>
        <p:nvSpPr>
          <p:cNvPr id="13" name="Rounded Rectangle 12"/>
          <p:cNvSpPr/>
          <p:nvPr/>
        </p:nvSpPr>
        <p:spPr>
          <a:xfrm>
            <a:off x="3483864" y="3044952"/>
            <a:ext cx="2587752" cy="1984248"/>
          </a:xfrm>
          <a:prstGeom prst="roundRect">
            <a:avLst>
              <a:gd name="adj" fmla="val 6000"/>
            </a:avLst>
          </a:prstGeom>
          <a:solidFill>
            <a:srgbClr val="FFFFFF"/>
          </a:solidFill>
          <a:ln w="25400">
            <a:solidFill>
              <a:srgbClr val="EB6834"/>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14" name="Oval 13"/>
          <p:cNvSpPr/>
          <p:nvPr/>
        </p:nvSpPr>
        <p:spPr>
          <a:xfrm>
            <a:off x="3611880" y="3172968"/>
            <a:ext cx="402336" cy="402336"/>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2</a:t>
            </a:r>
          </a:p>
        </p:txBody>
      </p:sp>
      <p:sp>
        <p:nvSpPr>
          <p:cNvPr id="15" name="TextBox 14"/>
          <p:cNvSpPr txBox="1"/>
          <p:nvPr/>
        </p:nvSpPr>
        <p:spPr>
          <a:xfrm>
            <a:off x="4087368" y="3136392"/>
            <a:ext cx="1920240" cy="475488"/>
          </a:xfrm>
          <a:prstGeom prst="rect">
            <a:avLst/>
          </a:prstGeom>
          <a:noFill/>
        </p:spPr>
        <p:txBody>
          <a:bodyPr wrap="square" lIns="36576" tIns="36576" rIns="36576" bIns="36576" anchor="ctr">
            <a:noAutofit/>
          </a:bodyPr>
          <a:lstStyle/>
          <a:p>
            <a:pPr algn="l"/>
            <a:r>
              <a:rPr sz="1300" b="1">
                <a:solidFill>
                  <a:srgbClr val="193054"/>
                </a:solidFill>
              </a:rPr>
              <a:t>Predicates</a:t>
            </a:r>
          </a:p>
        </p:txBody>
      </p:sp>
      <p:sp>
        <p:nvSpPr>
          <p:cNvPr id="16" name="TextBox 15"/>
          <p:cNvSpPr txBox="1"/>
          <p:nvPr/>
        </p:nvSpPr>
        <p:spPr>
          <a:xfrm>
            <a:off x="3611880" y="3666744"/>
            <a:ext cx="2377440" cy="868680"/>
          </a:xfrm>
          <a:prstGeom prst="rect">
            <a:avLst/>
          </a:prstGeom>
          <a:noFill/>
        </p:spPr>
        <p:txBody>
          <a:bodyPr wrap="square" lIns="36576" tIns="36576" rIns="36576" bIns="36576" anchor="t">
            <a:noAutofit/>
          </a:bodyPr>
          <a:lstStyle/>
          <a:p>
            <a:pPr algn="l"/>
            <a:r>
              <a:rPr sz="1100" b="0">
                <a:solidFill>
                  <a:srgbClr val="1F2933"/>
                </a:solidFill>
              </a:rPr>
              <a:t>+ logic: facts become predicates such as HighAmount(t) in IF–THEN rules.</a:t>
            </a:r>
          </a:p>
        </p:txBody>
      </p:sp>
      <p:sp>
        <p:nvSpPr>
          <p:cNvPr id="17" name="TextBox 16"/>
          <p:cNvSpPr txBox="1"/>
          <p:nvPr/>
        </p:nvSpPr>
        <p:spPr>
          <a:xfrm>
            <a:off x="3611880" y="4480560"/>
            <a:ext cx="2377440" cy="475488"/>
          </a:xfrm>
          <a:prstGeom prst="rect">
            <a:avLst/>
          </a:prstGeom>
          <a:noFill/>
        </p:spPr>
        <p:txBody>
          <a:bodyPr wrap="square" lIns="36576" tIns="36576" rIns="36576" bIns="36576" anchor="b">
            <a:noAutofit/>
          </a:bodyPr>
          <a:lstStyle/>
          <a:p>
            <a:pPr algn="l"/>
            <a:r>
              <a:rPr sz="1100" b="0">
                <a:solidFill>
                  <a:srgbClr val="44505C"/>
                </a:solidFill>
              </a:rPr>
              <a:t>31 predicates</a:t>
            </a:r>
          </a:p>
          <a:p>
            <a:pPr algn="l"/>
            <a:r>
              <a:rPr sz="1250" b="1">
                <a:solidFill>
                  <a:srgbClr val="EB6834"/>
                </a:solidFill>
              </a:rPr>
              <a:t>observed + behavioural</a:t>
            </a:r>
          </a:p>
        </p:txBody>
      </p:sp>
      <p:sp>
        <p:nvSpPr>
          <p:cNvPr id="18" name="Rounded Rectangle 17"/>
          <p:cNvSpPr/>
          <p:nvPr/>
        </p:nvSpPr>
        <p:spPr>
          <a:xfrm>
            <a:off x="6208776" y="2660904"/>
            <a:ext cx="2587752" cy="2368296"/>
          </a:xfrm>
          <a:prstGeom prst="roundRect">
            <a:avLst>
              <a:gd name="adj" fmla="val 6000"/>
            </a:avLst>
          </a:prstGeom>
          <a:solidFill>
            <a:srgbClr val="FFFFFF"/>
          </a:solidFill>
          <a:ln w="25400">
            <a:solidFill>
              <a:srgbClr val="1BAF7A"/>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19" name="Oval 18"/>
          <p:cNvSpPr/>
          <p:nvPr/>
        </p:nvSpPr>
        <p:spPr>
          <a:xfrm>
            <a:off x="6336792" y="2788920"/>
            <a:ext cx="402336" cy="40233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3</a:t>
            </a:r>
          </a:p>
        </p:txBody>
      </p:sp>
      <p:sp>
        <p:nvSpPr>
          <p:cNvPr id="20" name="TextBox 19"/>
          <p:cNvSpPr txBox="1"/>
          <p:nvPr/>
        </p:nvSpPr>
        <p:spPr>
          <a:xfrm>
            <a:off x="6812280" y="2752344"/>
            <a:ext cx="1920240" cy="475488"/>
          </a:xfrm>
          <a:prstGeom prst="rect">
            <a:avLst/>
          </a:prstGeom>
          <a:noFill/>
        </p:spPr>
        <p:txBody>
          <a:bodyPr wrap="square" lIns="36576" tIns="36576" rIns="36576" bIns="36576" anchor="ctr">
            <a:noAutofit/>
          </a:bodyPr>
          <a:lstStyle/>
          <a:p>
            <a:pPr algn="l"/>
            <a:r>
              <a:rPr sz="1300" b="1">
                <a:solidFill>
                  <a:srgbClr val="193054"/>
                </a:solidFill>
              </a:rPr>
              <a:t>Forward Chaining</a:t>
            </a:r>
          </a:p>
        </p:txBody>
      </p:sp>
      <p:sp>
        <p:nvSpPr>
          <p:cNvPr id="21" name="TextBox 20"/>
          <p:cNvSpPr txBox="1"/>
          <p:nvPr/>
        </p:nvSpPr>
        <p:spPr>
          <a:xfrm>
            <a:off x="6336792" y="3282696"/>
            <a:ext cx="2377440" cy="868680"/>
          </a:xfrm>
          <a:prstGeom prst="rect">
            <a:avLst/>
          </a:prstGeom>
          <a:noFill/>
        </p:spPr>
        <p:txBody>
          <a:bodyPr wrap="square" lIns="36576" tIns="36576" rIns="36576" bIns="36576" anchor="t">
            <a:noAutofit/>
          </a:bodyPr>
          <a:lstStyle/>
          <a:p>
            <a:pPr algn="l"/>
            <a:r>
              <a:rPr sz="1100" b="0">
                <a:solidFill>
                  <a:srgbClr val="1F2933"/>
                </a:solidFill>
              </a:rPr>
              <a:t>+ inference: rules fire on known facts and add derived risk facts until none remain.</a:t>
            </a:r>
          </a:p>
        </p:txBody>
      </p:sp>
      <p:sp>
        <p:nvSpPr>
          <p:cNvPr id="22" name="TextBox 21"/>
          <p:cNvSpPr txBox="1"/>
          <p:nvPr/>
        </p:nvSpPr>
        <p:spPr>
          <a:xfrm>
            <a:off x="6336792" y="4480560"/>
            <a:ext cx="2377440" cy="475488"/>
          </a:xfrm>
          <a:prstGeom prst="rect">
            <a:avLst/>
          </a:prstGeom>
          <a:noFill/>
        </p:spPr>
        <p:txBody>
          <a:bodyPr wrap="square" lIns="36576" tIns="36576" rIns="36576" bIns="36576" anchor="b">
            <a:noAutofit/>
          </a:bodyPr>
          <a:lstStyle/>
          <a:p>
            <a:pPr algn="l"/>
            <a:r>
              <a:rPr sz="1100" b="0">
                <a:solidFill>
                  <a:srgbClr val="44505C"/>
                </a:solidFill>
              </a:rPr>
              <a:t>32 active rules</a:t>
            </a:r>
          </a:p>
          <a:p>
            <a:pPr algn="l"/>
            <a:r>
              <a:rPr sz="1250" b="1">
                <a:solidFill>
                  <a:srgbClr val="1BAF7A"/>
                </a:solidFill>
              </a:rPr>
              <a:t>no training data</a:t>
            </a:r>
          </a:p>
        </p:txBody>
      </p:sp>
      <p:sp>
        <p:nvSpPr>
          <p:cNvPr id="23" name="Rounded Rectangle 22"/>
          <p:cNvSpPr/>
          <p:nvPr/>
        </p:nvSpPr>
        <p:spPr>
          <a:xfrm>
            <a:off x="8933688" y="2276856"/>
            <a:ext cx="2587752" cy="2752344"/>
          </a:xfrm>
          <a:prstGeom prst="roundRect">
            <a:avLst>
              <a:gd name="adj" fmla="val 6000"/>
            </a:avLst>
          </a:prstGeom>
          <a:solidFill>
            <a:srgbClr val="FFFFFF"/>
          </a:solidFill>
          <a:ln w="25400">
            <a:solidFill>
              <a:srgbClr val="EDA100"/>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24" name="Oval 23"/>
          <p:cNvSpPr/>
          <p:nvPr/>
        </p:nvSpPr>
        <p:spPr>
          <a:xfrm>
            <a:off x="9061704" y="2404872"/>
            <a:ext cx="402336" cy="402336"/>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4</a:t>
            </a:r>
          </a:p>
        </p:txBody>
      </p:sp>
      <p:sp>
        <p:nvSpPr>
          <p:cNvPr id="25" name="TextBox 24"/>
          <p:cNvSpPr txBox="1"/>
          <p:nvPr/>
        </p:nvSpPr>
        <p:spPr>
          <a:xfrm>
            <a:off x="9537192" y="2368296"/>
            <a:ext cx="1920240" cy="475488"/>
          </a:xfrm>
          <a:prstGeom prst="rect">
            <a:avLst/>
          </a:prstGeom>
          <a:noFill/>
        </p:spPr>
        <p:txBody>
          <a:bodyPr wrap="square" lIns="36576" tIns="36576" rIns="36576" bIns="36576" anchor="ctr">
            <a:noAutofit/>
          </a:bodyPr>
          <a:lstStyle/>
          <a:p>
            <a:pPr algn="l"/>
            <a:r>
              <a:rPr sz="1200" b="1">
                <a:solidFill>
                  <a:srgbClr val="193054"/>
                </a:solidFill>
              </a:rPr>
              <a:t>Conflict + XAI</a:t>
            </a:r>
          </a:p>
        </p:txBody>
      </p:sp>
      <p:sp>
        <p:nvSpPr>
          <p:cNvPr id="26" name="TextBox 25"/>
          <p:cNvSpPr txBox="1"/>
          <p:nvPr/>
        </p:nvSpPr>
        <p:spPr>
          <a:xfrm>
            <a:off x="9061704" y="2898648"/>
            <a:ext cx="2377440" cy="868680"/>
          </a:xfrm>
          <a:prstGeom prst="rect">
            <a:avLst/>
          </a:prstGeom>
          <a:noFill/>
        </p:spPr>
        <p:txBody>
          <a:bodyPr wrap="square" lIns="36576" tIns="36576" rIns="36576" bIns="36576" anchor="t">
            <a:noAutofit/>
          </a:bodyPr>
          <a:lstStyle/>
          <a:p>
            <a:pPr algn="l"/>
            <a:r>
              <a:rPr sz="1100" b="0">
                <a:solidFill>
                  <a:srgbClr val="1F2933"/>
                </a:solidFill>
              </a:rPr>
              <a:t>+ decision: conflicts resolved; one of four tiers, an action and the rule trail.</a:t>
            </a:r>
          </a:p>
        </p:txBody>
      </p:sp>
      <p:sp>
        <p:nvSpPr>
          <p:cNvPr id="27" name="TextBox 26"/>
          <p:cNvSpPr txBox="1"/>
          <p:nvPr/>
        </p:nvSpPr>
        <p:spPr>
          <a:xfrm>
            <a:off x="9061704" y="4480560"/>
            <a:ext cx="2377440" cy="475488"/>
          </a:xfrm>
          <a:prstGeom prst="rect">
            <a:avLst/>
          </a:prstGeom>
          <a:noFill/>
        </p:spPr>
        <p:txBody>
          <a:bodyPr wrap="square" lIns="36576" tIns="36576" rIns="36576" bIns="36576" anchor="b">
            <a:noAutofit/>
          </a:bodyPr>
          <a:lstStyle/>
          <a:p>
            <a:pPr algn="l"/>
            <a:r>
              <a:rPr sz="1100" b="0">
                <a:solidFill>
                  <a:srgbClr val="44505C"/>
                </a:solidFill>
              </a:rPr>
              <a:t>4 risk tiers</a:t>
            </a:r>
          </a:p>
          <a:p>
            <a:pPr algn="l"/>
            <a:r>
              <a:rPr sz="1250" b="1">
                <a:solidFill>
                  <a:srgbClr val="B07700"/>
                </a:solidFill>
              </a:rPr>
              <a:t>explained decision</a:t>
            </a:r>
          </a:p>
        </p:txBody>
      </p:sp>
      <p:sp>
        <p:nvSpPr>
          <p:cNvPr id="28" name="TextBox 27"/>
          <p:cNvSpPr txBox="1"/>
          <p:nvPr/>
        </p:nvSpPr>
        <p:spPr>
          <a:xfrm>
            <a:off x="758952" y="5230368"/>
            <a:ext cx="2194560" cy="384048"/>
          </a:xfrm>
          <a:prstGeom prst="rect">
            <a:avLst/>
          </a:prstGeom>
          <a:noFill/>
        </p:spPr>
        <p:txBody>
          <a:bodyPr wrap="square" lIns="36576" tIns="36576" rIns="36576" bIns="36576" anchor="ctr">
            <a:noAutofit/>
          </a:bodyPr>
          <a:lstStyle/>
          <a:p>
            <a:pPr algn="l"/>
            <a:r>
              <a:rPr sz="1250" b="1">
                <a:solidFill>
                  <a:srgbClr val="CC0000"/>
                </a:solidFill>
              </a:rPr>
              <a:t>Around the engine:</a:t>
            </a:r>
          </a:p>
        </p:txBody>
      </p:sp>
      <p:sp>
        <p:nvSpPr>
          <p:cNvPr id="29" name="Rounded Rectangle 28"/>
          <p:cNvSpPr/>
          <p:nvPr/>
        </p:nvSpPr>
        <p:spPr>
          <a:xfrm>
            <a:off x="2788920" y="5230368"/>
            <a:ext cx="1463040" cy="384048"/>
          </a:xfrm>
          <a:prstGeom prst="roundRect">
            <a:avLst>
              <a:gd name="adj" fmla="val 50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100" b="1">
                <a:solidFill>
                  <a:srgbClr val="193054"/>
                </a:solidFill>
              </a:rPr>
              <a:t>Dashboard</a:t>
            </a:r>
          </a:p>
        </p:txBody>
      </p:sp>
      <p:sp>
        <p:nvSpPr>
          <p:cNvPr id="30" name="Rounded Rectangle 29"/>
          <p:cNvSpPr/>
          <p:nvPr/>
        </p:nvSpPr>
        <p:spPr>
          <a:xfrm>
            <a:off x="4379976" y="5230368"/>
            <a:ext cx="1645920" cy="384048"/>
          </a:xfrm>
          <a:prstGeom prst="roundRect">
            <a:avLst>
              <a:gd name="adj" fmla="val 50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100" b="1">
                <a:solidFill>
                  <a:srgbClr val="193054"/>
                </a:solidFill>
              </a:rPr>
              <a:t>Analytics</a:t>
            </a:r>
          </a:p>
        </p:txBody>
      </p:sp>
      <p:sp>
        <p:nvSpPr>
          <p:cNvPr id="31" name="Rounded Rectangle 30"/>
          <p:cNvSpPr/>
          <p:nvPr/>
        </p:nvSpPr>
        <p:spPr>
          <a:xfrm>
            <a:off x="6153912" y="5230368"/>
            <a:ext cx="1188720" cy="384048"/>
          </a:xfrm>
          <a:prstGeom prst="roundRect">
            <a:avLst>
              <a:gd name="adj" fmla="val 50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100" b="1">
                <a:solidFill>
                  <a:srgbClr val="193054"/>
                </a:solidFill>
              </a:rPr>
              <a:t>Reports</a:t>
            </a:r>
          </a:p>
        </p:txBody>
      </p:sp>
      <p:sp>
        <p:nvSpPr>
          <p:cNvPr id="32" name="Rounded Rectangle 31"/>
          <p:cNvSpPr/>
          <p:nvPr/>
        </p:nvSpPr>
        <p:spPr>
          <a:xfrm>
            <a:off x="7470648" y="5230368"/>
            <a:ext cx="1554480" cy="384048"/>
          </a:xfrm>
          <a:prstGeom prst="roundRect">
            <a:avLst>
              <a:gd name="adj" fmla="val 50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100" b="1">
                <a:solidFill>
                  <a:srgbClr val="193054"/>
                </a:solidFill>
              </a:rPr>
              <a:t>Audit logs</a:t>
            </a:r>
          </a:p>
        </p:txBody>
      </p:sp>
      <p:sp>
        <p:nvSpPr>
          <p:cNvPr id="33" name="Rounded Rectangle 32"/>
          <p:cNvSpPr/>
          <p:nvPr/>
        </p:nvSpPr>
        <p:spPr>
          <a:xfrm>
            <a:off x="9153144" y="5230368"/>
            <a:ext cx="2560320" cy="384048"/>
          </a:xfrm>
          <a:prstGeom prst="roundRect">
            <a:avLst>
              <a:gd name="adj" fmla="val 50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100" b="1">
                <a:solidFill>
                  <a:srgbClr val="193054"/>
                </a:solidFill>
              </a:rPr>
              <a:t>Rule Explorer · Knowledge Base</a:t>
            </a:r>
          </a:p>
        </p:txBody>
      </p:sp>
      <p:sp>
        <p:nvSpPr>
          <p:cNvPr id="34" name="TextBox 33"/>
          <p:cNvSpPr txBox="1"/>
          <p:nvPr/>
        </p:nvSpPr>
        <p:spPr>
          <a:xfrm>
            <a:off x="758952" y="5669280"/>
            <a:ext cx="10744200" cy="320040"/>
          </a:xfrm>
          <a:prstGeom prst="rect">
            <a:avLst/>
          </a:prstGeom>
          <a:noFill/>
        </p:spPr>
        <p:txBody>
          <a:bodyPr wrap="square" lIns="36576" tIns="36576" rIns="36576" bIns="36576" anchor="t">
            <a:noAutofit/>
          </a:bodyPr>
          <a:lstStyle/>
          <a:p>
            <a:pPr algn="l"/>
            <a:r>
              <a:rPr sz="1050" b="0">
                <a:solidFill>
                  <a:srgbClr val="6F7B85"/>
                </a:solidFill>
              </a:rPr>
              <a:t>Same facts always give the same tier and the same rule trail: the core is deterministic and symbolic; machine learning is only a designed extension point.</a:t>
            </a:r>
          </a:p>
        </p:txBody>
      </p:sp>
    </p:spTree>
    <p:extLst>
      <p:ext uri="{BB962C8B-B14F-4D97-AF65-F5344CB8AC3E}">
        <p14:creationId xmlns:p14="http://schemas.microsoft.com/office/powerpoint/2010/main" val="1839677867"/>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DFD Diagram – Level 0</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9</a:t>
            </a:fld>
            <a:endParaRPr lang="en-IN"/>
          </a:p>
        </p:txBody>
      </p:sp>
      <p:sp>
        <p:nvSpPr>
          <p:cNvPr id="7" name="TextBox 6"/>
          <p:cNvSpPr txBox="1"/>
          <p:nvPr/>
        </p:nvSpPr>
        <p:spPr>
          <a:xfrm>
            <a:off x="758952" y="1645920"/>
            <a:ext cx="10698480" cy="365760"/>
          </a:xfrm>
          <a:prstGeom prst="rect">
            <a:avLst/>
          </a:prstGeom>
          <a:noFill/>
        </p:spPr>
        <p:txBody>
          <a:bodyPr wrap="square" lIns="36576" tIns="36576" rIns="36576" bIns="36576" anchor="t">
            <a:noAutofit/>
          </a:bodyPr>
          <a:lstStyle/>
          <a:p>
            <a:pPr algn="l"/>
            <a:r>
              <a:rPr sz="1500" b="1">
                <a:solidFill>
                  <a:srgbClr val="CC0000"/>
                </a:solidFill>
              </a:rPr>
              <a:t>Level 0 – context diagram: </a:t>
            </a:r>
            <a:r>
              <a:rPr sz="1500" b="0">
                <a:solidFill>
                  <a:srgbClr val="1F2933"/>
                </a:solidFill>
              </a:rPr>
              <a:t>the whole system as one process and the people who exchange data with it.</a:t>
            </a:r>
          </a:p>
        </p:txBody>
      </p:sp>
      <p:sp>
        <p:nvSpPr>
          <p:cNvPr id="8" name="Rectangle 7"/>
          <p:cNvSpPr/>
          <p:nvPr/>
        </p:nvSpPr>
        <p:spPr>
          <a:xfrm>
            <a:off x="777240" y="3200400"/>
            <a:ext cx="1920240" cy="1097280"/>
          </a:xfrm>
          <a:prstGeom prst="rect">
            <a:avLst/>
          </a:prstGeom>
          <a:solidFill>
            <a:srgbClr val="19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600" b="1">
                <a:solidFill>
                  <a:srgbClr val="FFFFFF"/>
                </a:solidFill>
              </a:rPr>
              <a:t>Analyst</a:t>
            </a:r>
          </a:p>
          <a:p>
            <a:pPr algn="ctr"/>
            <a:r>
              <a:rPr sz="1100" b="0">
                <a:solidFill>
                  <a:srgbClr val="FFFFFF"/>
                </a:solidFill>
              </a:rPr>
              <a:t>(fraud reviewer / user)</a:t>
            </a:r>
          </a:p>
        </p:txBody>
      </p:sp>
      <p:sp>
        <p:nvSpPr>
          <p:cNvPr id="9" name="Rectangle 8"/>
          <p:cNvSpPr/>
          <p:nvPr/>
        </p:nvSpPr>
        <p:spPr>
          <a:xfrm>
            <a:off x="9509760" y="3200400"/>
            <a:ext cx="1920240" cy="1097280"/>
          </a:xfrm>
          <a:prstGeom prst="rect">
            <a:avLst/>
          </a:prstGeom>
          <a:solidFill>
            <a:srgbClr val="19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600" b="1">
                <a:solidFill>
                  <a:srgbClr val="FFFFFF"/>
                </a:solidFill>
              </a:rPr>
              <a:t>Evaluator</a:t>
            </a:r>
          </a:p>
          <a:p>
            <a:pPr algn="ctr"/>
            <a:r>
              <a:rPr sz="1100" b="0">
                <a:solidFill>
                  <a:srgbClr val="FFFFFF"/>
                </a:solidFill>
              </a:rPr>
              <a:t>(reviewer / tester)</a:t>
            </a:r>
          </a:p>
        </p:txBody>
      </p:sp>
      <p:sp>
        <p:nvSpPr>
          <p:cNvPr id="10" name="Oval 9"/>
          <p:cNvSpPr/>
          <p:nvPr/>
        </p:nvSpPr>
        <p:spPr>
          <a:xfrm>
            <a:off x="4572000" y="2606040"/>
            <a:ext cx="3108960" cy="2286000"/>
          </a:xfrm>
          <a:prstGeom prst="ellipse">
            <a:avLst/>
          </a:prstGeom>
          <a:solidFill>
            <a:srgbClr val="EBF2FA"/>
          </a:solidFill>
          <a:ln w="19050">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ctr">
            <a:noAutofit/>
          </a:bodyPr>
          <a:lstStyle/>
          <a:p>
            <a:pPr algn="ctr"/>
            <a:r>
              <a:rPr sz="1500" b="1">
                <a:solidFill>
                  <a:srgbClr val="CC0000"/>
                </a:solidFill>
              </a:rPr>
              <a:t>0</a:t>
            </a:r>
          </a:p>
          <a:p>
            <a:pPr algn="ctr"/>
            <a:r>
              <a:rPr sz="1700" b="1">
                <a:solidFill>
                  <a:srgbClr val="193054"/>
                </a:solidFill>
              </a:rPr>
              <a:t>FraudShield AI</a:t>
            </a:r>
          </a:p>
          <a:p>
            <a:pPr algn="ctr"/>
            <a:r>
              <a:rPr sz="1100" b="0">
                <a:solidFill>
                  <a:srgbClr val="44505C"/>
                </a:solidFill>
              </a:rPr>
              <a:t>rule-based risk assessment</a:t>
            </a:r>
          </a:p>
        </p:txBody>
      </p:sp>
      <p:cxnSp>
        <p:nvCxnSpPr>
          <p:cNvPr id="11" name="Connector 10"/>
          <p:cNvCxnSpPr/>
          <p:nvPr/>
        </p:nvCxnSpPr>
        <p:spPr>
          <a:xfrm flipV="1">
            <a:off x="2697480" y="3291840"/>
            <a:ext cx="2002536" cy="13716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20340" y="2825496"/>
            <a:ext cx="1874519" cy="384048"/>
          </a:xfrm>
          <a:prstGeom prst="rect">
            <a:avLst/>
          </a:prstGeom>
          <a:solidFill>
            <a:srgbClr val="FFFFFF"/>
          </a:solidFill>
        </p:spPr>
        <p:txBody>
          <a:bodyPr wrap="square" lIns="18288" tIns="18288" rIns="18288" bIns="18288" anchor="ctr">
            <a:noAutofit/>
          </a:bodyPr>
          <a:lstStyle/>
          <a:p>
            <a:pPr algn="ctr"/>
            <a:r>
              <a:rPr sz="1000" b="0">
                <a:solidFill>
                  <a:srgbClr val="44505C"/>
                </a:solidFill>
              </a:rPr>
              <a:t>transaction details (7 core inputs)</a:t>
            </a:r>
          </a:p>
        </p:txBody>
      </p:sp>
      <p:cxnSp>
        <p:nvCxnSpPr>
          <p:cNvPr id="13" name="Connector 12"/>
          <p:cNvCxnSpPr/>
          <p:nvPr/>
        </p:nvCxnSpPr>
        <p:spPr>
          <a:xfrm flipH="1" flipV="1">
            <a:off x="2697480" y="4069080"/>
            <a:ext cx="2002536" cy="13716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20340" y="4288536"/>
            <a:ext cx="1874519" cy="384048"/>
          </a:xfrm>
          <a:prstGeom prst="rect">
            <a:avLst/>
          </a:prstGeom>
          <a:solidFill>
            <a:srgbClr val="FFFFFF"/>
          </a:solidFill>
        </p:spPr>
        <p:txBody>
          <a:bodyPr wrap="square" lIns="18288" tIns="18288" rIns="18288" bIns="18288" anchor="ctr">
            <a:noAutofit/>
          </a:bodyPr>
          <a:lstStyle/>
          <a:p>
            <a:pPr algn="ctr"/>
            <a:r>
              <a:rPr sz="1000" b="0">
                <a:solidFill>
                  <a:srgbClr val="44505C"/>
                </a:solidFill>
              </a:rPr>
              <a:t>risk tier, fired rules, explanation</a:t>
            </a:r>
          </a:p>
        </p:txBody>
      </p:sp>
      <p:cxnSp>
        <p:nvCxnSpPr>
          <p:cNvPr id="15" name="Connector 14"/>
          <p:cNvCxnSpPr/>
          <p:nvPr/>
        </p:nvCxnSpPr>
        <p:spPr>
          <a:xfrm flipH="1" flipV="1">
            <a:off x="7552944" y="3291840"/>
            <a:ext cx="1956816" cy="13716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639812" y="2825496"/>
            <a:ext cx="1874519" cy="384048"/>
          </a:xfrm>
          <a:prstGeom prst="rect">
            <a:avLst/>
          </a:prstGeom>
          <a:solidFill>
            <a:srgbClr val="FFFFFF"/>
          </a:solidFill>
        </p:spPr>
        <p:txBody>
          <a:bodyPr wrap="square" lIns="18288" tIns="18288" rIns="18288" bIns="18288" anchor="ctr">
            <a:noAutofit/>
          </a:bodyPr>
          <a:lstStyle/>
          <a:p>
            <a:pPr algn="ctr"/>
            <a:r>
              <a:rPr sz="1000" b="0">
                <a:solidFill>
                  <a:srgbClr val="44505C"/>
                </a:solidFill>
              </a:rPr>
              <a:t>review requests: history, reports, audit logs</a:t>
            </a:r>
          </a:p>
        </p:txBody>
      </p:sp>
      <p:cxnSp>
        <p:nvCxnSpPr>
          <p:cNvPr id="17" name="Connector 16"/>
          <p:cNvCxnSpPr/>
          <p:nvPr/>
        </p:nvCxnSpPr>
        <p:spPr>
          <a:xfrm flipV="1">
            <a:off x="7552944" y="4069080"/>
            <a:ext cx="1956816" cy="13716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639812" y="4288536"/>
            <a:ext cx="1874519" cy="384048"/>
          </a:xfrm>
          <a:prstGeom prst="rect">
            <a:avLst/>
          </a:prstGeom>
          <a:solidFill>
            <a:srgbClr val="FFFFFF"/>
          </a:solidFill>
        </p:spPr>
        <p:txBody>
          <a:bodyPr wrap="square" lIns="18288" tIns="18288" rIns="18288" bIns="18288" anchor="ctr">
            <a:noAutofit/>
          </a:bodyPr>
          <a:lstStyle/>
          <a:p>
            <a:pPr algn="ctr"/>
            <a:r>
              <a:rPr sz="1000" b="0">
                <a:solidFill>
                  <a:srgbClr val="44505C"/>
                </a:solidFill>
              </a:rPr>
              <a:t>PDF reports, audit trail</a:t>
            </a:r>
          </a:p>
        </p:txBody>
      </p:sp>
      <p:sp>
        <p:nvSpPr>
          <p:cNvPr id="19" name="TextBox 18"/>
          <p:cNvSpPr txBox="1"/>
          <p:nvPr/>
        </p:nvSpPr>
        <p:spPr>
          <a:xfrm>
            <a:off x="777240" y="5532120"/>
            <a:ext cx="914400" cy="274320"/>
          </a:xfrm>
          <a:prstGeom prst="rect">
            <a:avLst/>
          </a:prstGeom>
          <a:noFill/>
        </p:spPr>
        <p:txBody>
          <a:bodyPr wrap="square" lIns="36576" tIns="36576" rIns="36576" bIns="36576" anchor="ctr">
            <a:noAutofit/>
          </a:bodyPr>
          <a:lstStyle/>
          <a:p>
            <a:pPr algn="l"/>
            <a:r>
              <a:rPr sz="1000" b="1">
                <a:solidFill>
                  <a:srgbClr val="44505C"/>
                </a:solidFill>
              </a:rPr>
              <a:t>Notation:</a:t>
            </a:r>
          </a:p>
        </p:txBody>
      </p:sp>
      <p:sp>
        <p:nvSpPr>
          <p:cNvPr id="20" name="Rectangle 19"/>
          <p:cNvSpPr/>
          <p:nvPr/>
        </p:nvSpPr>
        <p:spPr>
          <a:xfrm>
            <a:off x="1691640" y="5559552"/>
            <a:ext cx="384048" cy="219456"/>
          </a:xfrm>
          <a:prstGeom prst="rect">
            <a:avLst/>
          </a:prstGeom>
          <a:solidFill>
            <a:srgbClr val="19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21" name="TextBox 20"/>
          <p:cNvSpPr txBox="1"/>
          <p:nvPr/>
        </p:nvSpPr>
        <p:spPr>
          <a:xfrm>
            <a:off x="2121408" y="5532120"/>
            <a:ext cx="1371600" cy="274320"/>
          </a:xfrm>
          <a:prstGeom prst="rect">
            <a:avLst/>
          </a:prstGeom>
          <a:noFill/>
        </p:spPr>
        <p:txBody>
          <a:bodyPr wrap="square" lIns="36576" tIns="36576" rIns="36576" bIns="36576" anchor="ctr">
            <a:noAutofit/>
          </a:bodyPr>
          <a:lstStyle/>
          <a:p>
            <a:pPr algn="l"/>
            <a:r>
              <a:rPr sz="1000" b="0">
                <a:solidFill>
                  <a:srgbClr val="44505C"/>
                </a:solidFill>
              </a:rPr>
              <a:t>external entity</a:t>
            </a:r>
          </a:p>
        </p:txBody>
      </p:sp>
      <p:sp>
        <p:nvSpPr>
          <p:cNvPr id="22" name="Rounded Rectangle 21"/>
          <p:cNvSpPr/>
          <p:nvPr/>
        </p:nvSpPr>
        <p:spPr>
          <a:xfrm>
            <a:off x="3520440" y="5559552"/>
            <a:ext cx="384048" cy="219456"/>
          </a:xfrm>
          <a:prstGeom prst="roundRect">
            <a:avLst>
              <a:gd name="adj" fmla="val 12000"/>
            </a:avLst>
          </a:prstGeom>
          <a:solidFill>
            <a:srgbClr val="EBF2FA"/>
          </a:solidFill>
          <a:ln w="12700">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23" name="TextBox 22"/>
          <p:cNvSpPr txBox="1"/>
          <p:nvPr/>
        </p:nvSpPr>
        <p:spPr>
          <a:xfrm>
            <a:off x="3950208" y="5532120"/>
            <a:ext cx="822960" cy="274320"/>
          </a:xfrm>
          <a:prstGeom prst="rect">
            <a:avLst/>
          </a:prstGeom>
          <a:noFill/>
        </p:spPr>
        <p:txBody>
          <a:bodyPr wrap="square" lIns="36576" tIns="36576" rIns="36576" bIns="36576" anchor="ctr">
            <a:noAutofit/>
          </a:bodyPr>
          <a:lstStyle/>
          <a:p>
            <a:pPr algn="l"/>
            <a:r>
              <a:rPr sz="1000" b="0">
                <a:solidFill>
                  <a:srgbClr val="44505C"/>
                </a:solidFill>
              </a:rPr>
              <a:t>process</a:t>
            </a:r>
          </a:p>
        </p:txBody>
      </p:sp>
      <p:sp>
        <p:nvSpPr>
          <p:cNvPr id="24" name="Rectangle 23"/>
          <p:cNvSpPr/>
          <p:nvPr/>
        </p:nvSpPr>
        <p:spPr>
          <a:xfrm>
            <a:off x="4800600" y="5559552"/>
            <a:ext cx="502920" cy="219456"/>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cxnSp>
        <p:nvCxnSpPr>
          <p:cNvPr id="25" name="Connector 24"/>
          <p:cNvCxnSpPr/>
          <p:nvPr/>
        </p:nvCxnSpPr>
        <p:spPr>
          <a:xfrm>
            <a:off x="4800600" y="5559552"/>
            <a:ext cx="502920" cy="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800600" y="5779008"/>
            <a:ext cx="502920" cy="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800600" y="5559552"/>
            <a:ext cx="0" cy="219456"/>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951476" y="5559552"/>
            <a:ext cx="0" cy="219456"/>
          </a:xfrm>
          <a:prstGeom prst="line">
            <a:avLst/>
          </a:prstGeom>
          <a:ln w="12700">
            <a:solidFill>
              <a:srgbClr val="53657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800600" y="5559552"/>
            <a:ext cx="150876" cy="219456"/>
          </a:xfrm>
          <a:prstGeom prst="rect">
            <a:avLst/>
          </a:prstGeom>
          <a:noFill/>
        </p:spPr>
        <p:txBody>
          <a:bodyPr wrap="square" lIns="0" tIns="0" rIns="0" bIns="0" anchor="ctr">
            <a:noAutofit/>
          </a:bodyPr>
          <a:lstStyle/>
          <a:p>
            <a:pPr algn="ctr"/>
            <a:r>
              <a:rPr sz="1100" b="1">
                <a:solidFill>
                  <a:srgbClr val="CC0000"/>
                </a:solidFill>
              </a:rPr>
              <a:t>D</a:t>
            </a:r>
          </a:p>
        </p:txBody>
      </p:sp>
      <p:sp>
        <p:nvSpPr>
          <p:cNvPr id="30" name="TextBox 29"/>
          <p:cNvSpPr txBox="1"/>
          <p:nvPr/>
        </p:nvSpPr>
        <p:spPr>
          <a:xfrm>
            <a:off x="5367527" y="5532120"/>
            <a:ext cx="1005840" cy="274320"/>
          </a:xfrm>
          <a:prstGeom prst="rect">
            <a:avLst/>
          </a:prstGeom>
          <a:noFill/>
        </p:spPr>
        <p:txBody>
          <a:bodyPr wrap="square" lIns="36576" tIns="36576" rIns="36576" bIns="36576" anchor="ctr">
            <a:noAutofit/>
          </a:bodyPr>
          <a:lstStyle/>
          <a:p>
            <a:pPr algn="l"/>
            <a:r>
              <a:rPr sz="1000" b="0">
                <a:solidFill>
                  <a:srgbClr val="44505C"/>
                </a:solidFill>
              </a:rPr>
              <a:t>data store</a:t>
            </a:r>
          </a:p>
        </p:txBody>
      </p:sp>
      <p:cxnSp>
        <p:nvCxnSpPr>
          <p:cNvPr id="31" name="Connector 30"/>
          <p:cNvCxnSpPr/>
          <p:nvPr/>
        </p:nvCxnSpPr>
        <p:spPr>
          <a:xfrm>
            <a:off x="6355079" y="5669280"/>
            <a:ext cx="457200" cy="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0" y="5532120"/>
            <a:ext cx="914400" cy="274320"/>
          </a:xfrm>
          <a:prstGeom prst="rect">
            <a:avLst/>
          </a:prstGeom>
          <a:noFill/>
        </p:spPr>
        <p:txBody>
          <a:bodyPr wrap="square" lIns="36576" tIns="36576" rIns="36576" bIns="36576" anchor="ctr">
            <a:noAutofit/>
          </a:bodyPr>
          <a:lstStyle/>
          <a:p>
            <a:pPr algn="l"/>
            <a:r>
              <a:rPr sz="1000" b="0">
                <a:solidFill>
                  <a:srgbClr val="44505C"/>
                </a:solidFill>
              </a:rPr>
              <a:t>data flow</a:t>
            </a:r>
          </a:p>
        </p:txBody>
      </p:sp>
    </p:spTree>
    <p:extLst>
      <p:ext uri="{BB962C8B-B14F-4D97-AF65-F5344CB8AC3E}">
        <p14:creationId xmlns:p14="http://schemas.microsoft.com/office/powerpoint/2010/main" val="1066777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DFD Diagram – Level 1</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10</a:t>
            </a:fld>
            <a:endParaRPr lang="en-IN"/>
          </a:p>
        </p:txBody>
      </p:sp>
      <p:sp>
        <p:nvSpPr>
          <p:cNvPr id="7" name="TextBox 6"/>
          <p:cNvSpPr txBox="1"/>
          <p:nvPr/>
        </p:nvSpPr>
        <p:spPr>
          <a:xfrm>
            <a:off x="758952" y="1645920"/>
            <a:ext cx="10698480" cy="320040"/>
          </a:xfrm>
          <a:prstGeom prst="rect">
            <a:avLst/>
          </a:prstGeom>
          <a:noFill/>
        </p:spPr>
        <p:txBody>
          <a:bodyPr wrap="square" lIns="36576" tIns="36576" rIns="36576" bIns="36576" anchor="t">
            <a:noAutofit/>
          </a:bodyPr>
          <a:lstStyle/>
          <a:p>
            <a:pPr algn="l"/>
            <a:r>
              <a:rPr sz="1400" b="1">
                <a:solidFill>
                  <a:srgbClr val="CC0000"/>
                </a:solidFill>
              </a:rPr>
              <a:t>Level 1: </a:t>
            </a:r>
            <a:r>
              <a:rPr sz="1400" b="0">
                <a:solidFill>
                  <a:srgbClr val="1F2933"/>
                </a:solidFill>
              </a:rPr>
              <a:t>process 0 broken into six processes and three data stores.</a:t>
            </a:r>
          </a:p>
        </p:txBody>
      </p:sp>
      <p:sp>
        <p:nvSpPr>
          <p:cNvPr id="8" name="Rectangle 7"/>
          <p:cNvSpPr/>
          <p:nvPr/>
        </p:nvSpPr>
        <p:spPr>
          <a:xfrm>
            <a:off x="502920" y="3364991"/>
            <a:ext cx="1280160" cy="768096"/>
          </a:xfrm>
          <a:prstGeom prst="rect">
            <a:avLst/>
          </a:prstGeom>
          <a:solidFill>
            <a:srgbClr val="19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1">
                <a:solidFill>
                  <a:srgbClr val="FFFFFF"/>
                </a:solidFill>
              </a:rPr>
              <a:t>Analyst</a:t>
            </a:r>
          </a:p>
        </p:txBody>
      </p:sp>
      <p:sp>
        <p:nvSpPr>
          <p:cNvPr id="9" name="Rectangle 8"/>
          <p:cNvSpPr/>
          <p:nvPr/>
        </p:nvSpPr>
        <p:spPr>
          <a:xfrm>
            <a:off x="10149840" y="3364991"/>
            <a:ext cx="1371600" cy="768096"/>
          </a:xfrm>
          <a:prstGeom prst="rect">
            <a:avLst/>
          </a:prstGeom>
          <a:solidFill>
            <a:srgbClr val="19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1">
                <a:solidFill>
                  <a:srgbClr val="FFFFFF"/>
                </a:solidFill>
              </a:rPr>
              <a:t>Evaluator</a:t>
            </a:r>
          </a:p>
        </p:txBody>
      </p:sp>
      <p:sp>
        <p:nvSpPr>
          <p:cNvPr id="10" name="Rounded Rectangle 9"/>
          <p:cNvSpPr/>
          <p:nvPr/>
        </p:nvSpPr>
        <p:spPr>
          <a:xfrm>
            <a:off x="4914900" y="1965960"/>
            <a:ext cx="1874519" cy="822960"/>
          </a:xfrm>
          <a:prstGeom prst="roundRect">
            <a:avLst>
              <a:gd name="adj" fmla="val 18000"/>
            </a:avLst>
          </a:prstGeom>
          <a:solidFill>
            <a:srgbClr val="EBF2FA"/>
          </a:solidFill>
          <a:ln w="15875">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100" b="1">
                <a:solidFill>
                  <a:srgbClr val="CC0000"/>
                </a:solidFill>
              </a:rPr>
              <a:t>1.0</a:t>
            </a:r>
          </a:p>
          <a:p>
            <a:pPr algn="ctr"/>
            <a:r>
              <a:rPr sz="1300" b="1">
                <a:solidFill>
                  <a:srgbClr val="193054"/>
                </a:solidFill>
              </a:rPr>
              <a:t>Load Rules &amp; Knowledge Base</a:t>
            </a:r>
          </a:p>
        </p:txBody>
      </p:sp>
      <p:sp>
        <p:nvSpPr>
          <p:cNvPr id="11" name="Rounded Rectangle 10"/>
          <p:cNvSpPr/>
          <p:nvPr/>
        </p:nvSpPr>
        <p:spPr>
          <a:xfrm>
            <a:off x="4914900" y="3337559"/>
            <a:ext cx="1874519" cy="822960"/>
          </a:xfrm>
          <a:prstGeom prst="roundRect">
            <a:avLst>
              <a:gd name="adj" fmla="val 18000"/>
            </a:avLst>
          </a:prstGeom>
          <a:solidFill>
            <a:srgbClr val="EBF2FA"/>
          </a:solidFill>
          <a:ln w="15875">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100" b="1">
                <a:solidFill>
                  <a:srgbClr val="CC0000"/>
                </a:solidFill>
              </a:rPr>
              <a:t>2.0</a:t>
            </a:r>
          </a:p>
          <a:p>
            <a:pPr algn="ctr"/>
            <a:r>
              <a:rPr sz="1300" b="1">
                <a:solidFill>
                  <a:srgbClr val="193054"/>
                </a:solidFill>
              </a:rPr>
              <a:t>Validate &amp; Derive Facts</a:t>
            </a:r>
          </a:p>
        </p:txBody>
      </p:sp>
      <p:sp>
        <p:nvSpPr>
          <p:cNvPr id="12" name="Rounded Rectangle 11"/>
          <p:cNvSpPr/>
          <p:nvPr/>
        </p:nvSpPr>
        <p:spPr>
          <a:xfrm>
            <a:off x="7475219" y="3337559"/>
            <a:ext cx="1874519" cy="822960"/>
          </a:xfrm>
          <a:prstGeom prst="roundRect">
            <a:avLst>
              <a:gd name="adj" fmla="val 18000"/>
            </a:avLst>
          </a:prstGeom>
          <a:solidFill>
            <a:srgbClr val="EBF2FA"/>
          </a:solidFill>
          <a:ln w="15875">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100" b="1">
                <a:solidFill>
                  <a:srgbClr val="CC0000"/>
                </a:solidFill>
              </a:rPr>
              <a:t>3.0</a:t>
            </a:r>
          </a:p>
          <a:p>
            <a:pPr algn="ctr"/>
            <a:r>
              <a:rPr sz="1300" b="1">
                <a:solidFill>
                  <a:srgbClr val="193054"/>
                </a:solidFill>
              </a:rPr>
              <a:t>Forward Chaining Inference</a:t>
            </a:r>
          </a:p>
        </p:txBody>
      </p:sp>
      <p:sp>
        <p:nvSpPr>
          <p:cNvPr id="13" name="Rounded Rectangle 12"/>
          <p:cNvSpPr/>
          <p:nvPr/>
        </p:nvSpPr>
        <p:spPr>
          <a:xfrm>
            <a:off x="4914900" y="4709159"/>
            <a:ext cx="1874519" cy="822960"/>
          </a:xfrm>
          <a:prstGeom prst="roundRect">
            <a:avLst>
              <a:gd name="adj" fmla="val 18000"/>
            </a:avLst>
          </a:prstGeom>
          <a:solidFill>
            <a:srgbClr val="EBF2FA"/>
          </a:solidFill>
          <a:ln w="15875">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100" b="1">
                <a:solidFill>
                  <a:srgbClr val="CC0000"/>
                </a:solidFill>
              </a:rPr>
              <a:t>4.0</a:t>
            </a:r>
          </a:p>
          <a:p>
            <a:pPr algn="ctr"/>
            <a:r>
              <a:rPr sz="1300" b="1">
                <a:solidFill>
                  <a:srgbClr val="193054"/>
                </a:solidFill>
              </a:rPr>
              <a:t>Resolve Conflicts &amp; Assign Tier</a:t>
            </a:r>
          </a:p>
        </p:txBody>
      </p:sp>
      <p:sp>
        <p:nvSpPr>
          <p:cNvPr id="14" name="Rounded Rectangle 13"/>
          <p:cNvSpPr/>
          <p:nvPr/>
        </p:nvSpPr>
        <p:spPr>
          <a:xfrm>
            <a:off x="7475219" y="4709159"/>
            <a:ext cx="1874519" cy="822960"/>
          </a:xfrm>
          <a:prstGeom prst="roundRect">
            <a:avLst>
              <a:gd name="adj" fmla="val 18000"/>
            </a:avLst>
          </a:prstGeom>
          <a:solidFill>
            <a:srgbClr val="EBF2FA"/>
          </a:solidFill>
          <a:ln w="15875">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100" b="1">
                <a:solidFill>
                  <a:srgbClr val="CC0000"/>
                </a:solidFill>
              </a:rPr>
              <a:t>5.0</a:t>
            </a:r>
          </a:p>
          <a:p>
            <a:pPr algn="ctr"/>
            <a:r>
              <a:rPr sz="1300" b="1">
                <a:solidFill>
                  <a:srgbClr val="193054"/>
                </a:solidFill>
              </a:rPr>
              <a:t>Log Decision &amp; Report</a:t>
            </a:r>
          </a:p>
        </p:txBody>
      </p:sp>
      <p:sp>
        <p:nvSpPr>
          <p:cNvPr id="15" name="Rounded Rectangle 14"/>
          <p:cNvSpPr/>
          <p:nvPr/>
        </p:nvSpPr>
        <p:spPr>
          <a:xfrm>
            <a:off x="2354580" y="4709159"/>
            <a:ext cx="1874519" cy="822960"/>
          </a:xfrm>
          <a:prstGeom prst="roundRect">
            <a:avLst>
              <a:gd name="adj" fmla="val 18000"/>
            </a:avLst>
          </a:prstGeom>
          <a:solidFill>
            <a:srgbClr val="EBF2FA"/>
          </a:solidFill>
          <a:ln w="15875">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100" b="1">
                <a:solidFill>
                  <a:srgbClr val="CC0000"/>
                </a:solidFill>
              </a:rPr>
              <a:t>6.0</a:t>
            </a:r>
          </a:p>
          <a:p>
            <a:pPr algn="ctr"/>
            <a:r>
              <a:rPr sz="1300" b="1">
                <a:solidFill>
                  <a:srgbClr val="193054"/>
                </a:solidFill>
              </a:rPr>
              <a:t>Explain &amp; Display Result</a:t>
            </a:r>
          </a:p>
        </p:txBody>
      </p:sp>
      <p:sp>
        <p:nvSpPr>
          <p:cNvPr id="16" name="Rectangle 15"/>
          <p:cNvSpPr/>
          <p:nvPr/>
        </p:nvSpPr>
        <p:spPr>
          <a:xfrm>
            <a:off x="2286000" y="2148840"/>
            <a:ext cx="2011680" cy="4572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cxnSp>
        <p:nvCxnSpPr>
          <p:cNvPr id="17" name="Connector 16"/>
          <p:cNvCxnSpPr/>
          <p:nvPr/>
        </p:nvCxnSpPr>
        <p:spPr>
          <a:xfrm>
            <a:off x="2286000" y="2148840"/>
            <a:ext cx="2011680" cy="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286000" y="2606040"/>
            <a:ext cx="2011680" cy="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286000" y="2148840"/>
            <a:ext cx="0" cy="45720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670048" y="2148840"/>
            <a:ext cx="0" cy="457200"/>
          </a:xfrm>
          <a:prstGeom prst="line">
            <a:avLst/>
          </a:prstGeom>
          <a:ln w="12700">
            <a:solidFill>
              <a:srgbClr val="53657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286000" y="2148840"/>
            <a:ext cx="384048" cy="457200"/>
          </a:xfrm>
          <a:prstGeom prst="rect">
            <a:avLst/>
          </a:prstGeom>
          <a:noFill/>
        </p:spPr>
        <p:txBody>
          <a:bodyPr wrap="square" lIns="0" tIns="0" rIns="0" bIns="0" anchor="ctr">
            <a:noAutofit/>
          </a:bodyPr>
          <a:lstStyle/>
          <a:p>
            <a:pPr algn="ctr"/>
            <a:r>
              <a:rPr sz="1100" b="1">
                <a:solidFill>
                  <a:srgbClr val="CC0000"/>
                </a:solidFill>
              </a:rPr>
              <a:t>D2</a:t>
            </a:r>
          </a:p>
        </p:txBody>
      </p:sp>
      <p:sp>
        <p:nvSpPr>
          <p:cNvPr id="22" name="TextBox 21"/>
          <p:cNvSpPr txBox="1"/>
          <p:nvPr/>
        </p:nvSpPr>
        <p:spPr>
          <a:xfrm>
            <a:off x="2715768" y="2148840"/>
            <a:ext cx="1554480" cy="457200"/>
          </a:xfrm>
          <a:prstGeom prst="rect">
            <a:avLst/>
          </a:prstGeom>
          <a:noFill/>
        </p:spPr>
        <p:txBody>
          <a:bodyPr wrap="square" lIns="18288" tIns="18288" rIns="18288" bIns="18288" anchor="ctr">
            <a:noAutofit/>
          </a:bodyPr>
          <a:lstStyle/>
          <a:p>
            <a:pPr algn="l"/>
            <a:r>
              <a:rPr sz="1100" b="0">
                <a:solidFill>
                  <a:srgbClr val="1F2933"/>
                </a:solidFill>
              </a:rPr>
              <a:t>Transactions</a:t>
            </a:r>
          </a:p>
        </p:txBody>
      </p:sp>
      <p:sp>
        <p:nvSpPr>
          <p:cNvPr id="23" name="Rectangle 22"/>
          <p:cNvSpPr/>
          <p:nvPr/>
        </p:nvSpPr>
        <p:spPr>
          <a:xfrm>
            <a:off x="9966960" y="2148840"/>
            <a:ext cx="1737360" cy="4572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cxnSp>
        <p:nvCxnSpPr>
          <p:cNvPr id="24" name="Connector 23"/>
          <p:cNvCxnSpPr/>
          <p:nvPr/>
        </p:nvCxnSpPr>
        <p:spPr>
          <a:xfrm>
            <a:off x="9966960" y="2148840"/>
            <a:ext cx="1737360" cy="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966960" y="2606040"/>
            <a:ext cx="1737360" cy="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966960" y="2148840"/>
            <a:ext cx="0" cy="45720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351008" y="2148840"/>
            <a:ext cx="0" cy="457200"/>
          </a:xfrm>
          <a:prstGeom prst="line">
            <a:avLst/>
          </a:prstGeom>
          <a:ln w="12700">
            <a:solidFill>
              <a:srgbClr val="53657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966960" y="2148840"/>
            <a:ext cx="384048" cy="457200"/>
          </a:xfrm>
          <a:prstGeom prst="rect">
            <a:avLst/>
          </a:prstGeom>
          <a:noFill/>
        </p:spPr>
        <p:txBody>
          <a:bodyPr wrap="square" lIns="0" tIns="0" rIns="0" bIns="0" anchor="ctr">
            <a:noAutofit/>
          </a:bodyPr>
          <a:lstStyle/>
          <a:p>
            <a:pPr algn="ctr"/>
            <a:r>
              <a:rPr sz="1100" b="1">
                <a:solidFill>
                  <a:srgbClr val="CC0000"/>
                </a:solidFill>
              </a:rPr>
              <a:t>D1</a:t>
            </a:r>
          </a:p>
        </p:txBody>
      </p:sp>
      <p:sp>
        <p:nvSpPr>
          <p:cNvPr id="29" name="TextBox 28"/>
          <p:cNvSpPr txBox="1"/>
          <p:nvPr/>
        </p:nvSpPr>
        <p:spPr>
          <a:xfrm>
            <a:off x="10396728" y="2148840"/>
            <a:ext cx="1280160" cy="457200"/>
          </a:xfrm>
          <a:prstGeom prst="rect">
            <a:avLst/>
          </a:prstGeom>
          <a:noFill/>
        </p:spPr>
        <p:txBody>
          <a:bodyPr wrap="square" lIns="18288" tIns="18288" rIns="18288" bIns="18288" anchor="ctr">
            <a:noAutofit/>
          </a:bodyPr>
          <a:lstStyle/>
          <a:p>
            <a:pPr algn="l"/>
            <a:r>
              <a:rPr sz="1100" b="0">
                <a:solidFill>
                  <a:srgbClr val="1F2933"/>
                </a:solidFill>
              </a:rPr>
              <a:t>Rule Base</a:t>
            </a:r>
          </a:p>
        </p:txBody>
      </p:sp>
      <p:sp>
        <p:nvSpPr>
          <p:cNvPr id="30" name="Rectangle 29"/>
          <p:cNvSpPr/>
          <p:nvPr/>
        </p:nvSpPr>
        <p:spPr>
          <a:xfrm>
            <a:off x="9966960" y="4892040"/>
            <a:ext cx="1737360" cy="4572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cxnSp>
        <p:nvCxnSpPr>
          <p:cNvPr id="31" name="Connector 30"/>
          <p:cNvCxnSpPr/>
          <p:nvPr/>
        </p:nvCxnSpPr>
        <p:spPr>
          <a:xfrm>
            <a:off x="9966960" y="4892040"/>
            <a:ext cx="1737360" cy="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966960" y="5349240"/>
            <a:ext cx="1737360" cy="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966960" y="4892040"/>
            <a:ext cx="0" cy="45720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351008" y="4892040"/>
            <a:ext cx="0" cy="457200"/>
          </a:xfrm>
          <a:prstGeom prst="line">
            <a:avLst/>
          </a:prstGeom>
          <a:ln w="12700">
            <a:solidFill>
              <a:srgbClr val="53657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966960" y="4892040"/>
            <a:ext cx="384048" cy="457200"/>
          </a:xfrm>
          <a:prstGeom prst="rect">
            <a:avLst/>
          </a:prstGeom>
          <a:noFill/>
        </p:spPr>
        <p:txBody>
          <a:bodyPr wrap="square" lIns="0" tIns="0" rIns="0" bIns="0" anchor="ctr">
            <a:noAutofit/>
          </a:bodyPr>
          <a:lstStyle/>
          <a:p>
            <a:pPr algn="ctr"/>
            <a:r>
              <a:rPr sz="1100" b="1">
                <a:solidFill>
                  <a:srgbClr val="CC0000"/>
                </a:solidFill>
              </a:rPr>
              <a:t>D3</a:t>
            </a:r>
          </a:p>
        </p:txBody>
      </p:sp>
      <p:sp>
        <p:nvSpPr>
          <p:cNvPr id="36" name="TextBox 35"/>
          <p:cNvSpPr txBox="1"/>
          <p:nvPr/>
        </p:nvSpPr>
        <p:spPr>
          <a:xfrm>
            <a:off x="10396728" y="4892040"/>
            <a:ext cx="1280160" cy="457200"/>
          </a:xfrm>
          <a:prstGeom prst="rect">
            <a:avLst/>
          </a:prstGeom>
          <a:noFill/>
        </p:spPr>
        <p:txBody>
          <a:bodyPr wrap="square" lIns="18288" tIns="18288" rIns="18288" bIns="18288" anchor="ctr">
            <a:noAutofit/>
          </a:bodyPr>
          <a:lstStyle/>
          <a:p>
            <a:pPr algn="l"/>
            <a:r>
              <a:rPr sz="1100" b="0">
                <a:solidFill>
                  <a:srgbClr val="1F2933"/>
                </a:solidFill>
              </a:rPr>
              <a:t>Audit Log</a:t>
            </a:r>
          </a:p>
        </p:txBody>
      </p:sp>
      <p:cxnSp>
        <p:nvCxnSpPr>
          <p:cNvPr id="37" name="Connector 36"/>
          <p:cNvCxnSpPr/>
          <p:nvPr/>
        </p:nvCxnSpPr>
        <p:spPr>
          <a:xfrm>
            <a:off x="1783080" y="3749039"/>
            <a:ext cx="3131820" cy="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205989" y="3447287"/>
            <a:ext cx="2286000" cy="237744"/>
          </a:xfrm>
          <a:prstGeom prst="rect">
            <a:avLst/>
          </a:prstGeom>
          <a:solidFill>
            <a:srgbClr val="FFFFFF"/>
          </a:solidFill>
        </p:spPr>
        <p:txBody>
          <a:bodyPr wrap="square" lIns="18288" tIns="18288" rIns="18288" bIns="18288" anchor="ctr">
            <a:noAutofit/>
          </a:bodyPr>
          <a:lstStyle/>
          <a:p>
            <a:pPr algn="ctr"/>
            <a:r>
              <a:rPr sz="900" b="0">
                <a:solidFill>
                  <a:srgbClr val="44505C"/>
                </a:solidFill>
              </a:rPr>
              <a:t>transaction details (7 inputs)</a:t>
            </a:r>
          </a:p>
        </p:txBody>
      </p:sp>
      <p:cxnSp>
        <p:nvCxnSpPr>
          <p:cNvPr id="39" name="Connector 38"/>
          <p:cNvCxnSpPr/>
          <p:nvPr/>
        </p:nvCxnSpPr>
        <p:spPr>
          <a:xfrm flipH="1" flipV="1">
            <a:off x="1143000" y="4133087"/>
            <a:ext cx="1211580" cy="896113"/>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34340" y="4663440"/>
            <a:ext cx="1600200" cy="365760"/>
          </a:xfrm>
          <a:prstGeom prst="rect">
            <a:avLst/>
          </a:prstGeom>
          <a:solidFill>
            <a:srgbClr val="FFFFFF"/>
          </a:solidFill>
        </p:spPr>
        <p:txBody>
          <a:bodyPr wrap="square" lIns="18288" tIns="18288" rIns="18288" bIns="18288" anchor="ctr">
            <a:noAutofit/>
          </a:bodyPr>
          <a:lstStyle/>
          <a:p>
            <a:pPr algn="ctr"/>
            <a:r>
              <a:rPr sz="900" b="0">
                <a:solidFill>
                  <a:srgbClr val="44505C"/>
                </a:solidFill>
              </a:rPr>
              <a:t>risk tier, explanation</a:t>
            </a:r>
          </a:p>
        </p:txBody>
      </p:sp>
      <p:cxnSp>
        <p:nvCxnSpPr>
          <p:cNvPr id="41" name="Connector 40"/>
          <p:cNvCxnSpPr/>
          <p:nvPr/>
        </p:nvCxnSpPr>
        <p:spPr>
          <a:xfrm flipH="1">
            <a:off x="6789420" y="2377440"/>
            <a:ext cx="3177540" cy="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692390" y="2075688"/>
            <a:ext cx="1371600" cy="237744"/>
          </a:xfrm>
          <a:prstGeom prst="rect">
            <a:avLst/>
          </a:prstGeom>
          <a:solidFill>
            <a:srgbClr val="FFFFFF"/>
          </a:solidFill>
        </p:spPr>
        <p:txBody>
          <a:bodyPr wrap="square" lIns="18288" tIns="18288" rIns="18288" bIns="18288" anchor="ctr">
            <a:noAutofit/>
          </a:bodyPr>
          <a:lstStyle/>
          <a:p>
            <a:pPr algn="ctr"/>
            <a:r>
              <a:rPr sz="900" b="0">
                <a:solidFill>
                  <a:srgbClr val="44505C"/>
                </a:solidFill>
              </a:rPr>
              <a:t>rule definitions</a:t>
            </a:r>
          </a:p>
        </p:txBody>
      </p:sp>
      <p:cxnSp>
        <p:nvCxnSpPr>
          <p:cNvPr id="43" name="Connector 42"/>
          <p:cNvCxnSpPr/>
          <p:nvPr/>
        </p:nvCxnSpPr>
        <p:spPr>
          <a:xfrm>
            <a:off x="5852160" y="2788920"/>
            <a:ext cx="0" cy="548639"/>
          </a:xfrm>
          <a:prstGeom prst="line">
            <a:avLst/>
          </a:prstGeom>
          <a:ln w="19050">
            <a:solidFill>
              <a:srgbClr val="44505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961888" y="2944368"/>
            <a:ext cx="1463040" cy="237744"/>
          </a:xfrm>
          <a:prstGeom prst="rect">
            <a:avLst/>
          </a:prstGeom>
          <a:noFill/>
        </p:spPr>
        <p:txBody>
          <a:bodyPr wrap="square" lIns="18288" tIns="18288" rIns="18288" bIns="18288" anchor="ctr">
            <a:noAutofit/>
          </a:bodyPr>
          <a:lstStyle/>
          <a:p>
            <a:pPr algn="l"/>
            <a:r>
              <a:rPr sz="900" b="0">
                <a:solidFill>
                  <a:srgbClr val="44505C"/>
                </a:solidFill>
              </a:rPr>
              <a:t>rules, predicates</a:t>
            </a:r>
          </a:p>
        </p:txBody>
      </p:sp>
      <p:cxnSp>
        <p:nvCxnSpPr>
          <p:cNvPr id="45" name="Connector 44"/>
          <p:cNvCxnSpPr/>
          <p:nvPr/>
        </p:nvCxnSpPr>
        <p:spPr>
          <a:xfrm flipH="1" flipV="1">
            <a:off x="3840480" y="2606040"/>
            <a:ext cx="1074420" cy="868680"/>
          </a:xfrm>
          <a:prstGeom prst="line">
            <a:avLst/>
          </a:prstGeom>
          <a:ln w="19050">
            <a:solidFill>
              <a:srgbClr val="44505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040380" y="2944368"/>
            <a:ext cx="1143000" cy="237744"/>
          </a:xfrm>
          <a:prstGeom prst="rect">
            <a:avLst/>
          </a:prstGeom>
          <a:solidFill>
            <a:srgbClr val="FFFFFF"/>
          </a:solidFill>
        </p:spPr>
        <p:txBody>
          <a:bodyPr wrap="square" lIns="18288" tIns="18288" rIns="18288" bIns="18288" anchor="ctr">
            <a:noAutofit/>
          </a:bodyPr>
          <a:lstStyle/>
          <a:p>
            <a:pPr algn="ctr"/>
            <a:r>
              <a:rPr sz="900" b="0">
                <a:solidFill>
                  <a:srgbClr val="44505C"/>
                </a:solidFill>
              </a:rPr>
              <a:t>save / load txn</a:t>
            </a:r>
          </a:p>
        </p:txBody>
      </p:sp>
      <p:cxnSp>
        <p:nvCxnSpPr>
          <p:cNvPr id="47" name="Connector 46"/>
          <p:cNvCxnSpPr/>
          <p:nvPr/>
        </p:nvCxnSpPr>
        <p:spPr>
          <a:xfrm>
            <a:off x="6789420" y="3749039"/>
            <a:ext cx="685799" cy="0"/>
          </a:xfrm>
          <a:prstGeom prst="line">
            <a:avLst/>
          </a:prstGeom>
          <a:ln w="19050">
            <a:solidFill>
              <a:srgbClr val="44505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803136" y="3282696"/>
            <a:ext cx="658368" cy="347472"/>
          </a:xfrm>
          <a:prstGeom prst="rect">
            <a:avLst/>
          </a:prstGeom>
          <a:solidFill>
            <a:srgbClr val="FFFFFF"/>
          </a:solidFill>
        </p:spPr>
        <p:txBody>
          <a:bodyPr wrap="square" lIns="18288" tIns="18288" rIns="18288" bIns="18288" anchor="ctr">
            <a:noAutofit/>
          </a:bodyPr>
          <a:lstStyle/>
          <a:p>
            <a:pPr algn="ctr"/>
            <a:r>
              <a:rPr sz="850" b="0">
                <a:solidFill>
                  <a:srgbClr val="44505C"/>
                </a:solidFill>
              </a:rPr>
              <a:t>derived</a:t>
            </a:r>
          </a:p>
          <a:p>
            <a:pPr algn="ctr"/>
            <a:r>
              <a:rPr sz="850" b="0">
                <a:solidFill>
                  <a:srgbClr val="44505C"/>
                </a:solidFill>
              </a:rPr>
              <a:t>facts</a:t>
            </a:r>
          </a:p>
        </p:txBody>
      </p:sp>
      <p:cxnSp>
        <p:nvCxnSpPr>
          <p:cNvPr id="49" name="Connector 48"/>
          <p:cNvCxnSpPr/>
          <p:nvPr/>
        </p:nvCxnSpPr>
        <p:spPr>
          <a:xfrm>
            <a:off x="5852160" y="4160520"/>
            <a:ext cx="0" cy="548639"/>
          </a:xfrm>
          <a:prstGeom prst="line">
            <a:avLst/>
          </a:prstGeom>
          <a:ln w="19050">
            <a:solidFill>
              <a:srgbClr val="44505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56632" y="4279391"/>
            <a:ext cx="731520" cy="347472"/>
          </a:xfrm>
          <a:prstGeom prst="rect">
            <a:avLst/>
          </a:prstGeom>
          <a:noFill/>
        </p:spPr>
        <p:txBody>
          <a:bodyPr wrap="square" lIns="18288" tIns="18288" rIns="18288" bIns="18288" anchor="ctr">
            <a:noAutofit/>
          </a:bodyPr>
          <a:lstStyle/>
          <a:p>
            <a:pPr algn="r"/>
            <a:r>
              <a:rPr sz="850" b="0">
                <a:solidFill>
                  <a:srgbClr val="44505C"/>
                </a:solidFill>
              </a:rPr>
              <a:t>fact</a:t>
            </a:r>
          </a:p>
          <a:p>
            <a:pPr algn="r"/>
            <a:r>
              <a:rPr sz="850" b="0">
                <a:solidFill>
                  <a:srgbClr val="44505C"/>
                </a:solidFill>
              </a:rPr>
              <a:t>base</a:t>
            </a:r>
          </a:p>
        </p:txBody>
      </p:sp>
      <p:cxnSp>
        <p:nvCxnSpPr>
          <p:cNvPr id="51" name="Connector 50"/>
          <p:cNvCxnSpPr/>
          <p:nvPr/>
        </p:nvCxnSpPr>
        <p:spPr>
          <a:xfrm flipH="1">
            <a:off x="6537960" y="4160520"/>
            <a:ext cx="1325880" cy="548639"/>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219188" y="4425696"/>
            <a:ext cx="1051560" cy="237744"/>
          </a:xfrm>
          <a:prstGeom prst="rect">
            <a:avLst/>
          </a:prstGeom>
          <a:solidFill>
            <a:srgbClr val="FFFFFF"/>
          </a:solidFill>
        </p:spPr>
        <p:txBody>
          <a:bodyPr wrap="square" lIns="18288" tIns="18288" rIns="18288" bIns="18288" anchor="ctr">
            <a:noAutofit/>
          </a:bodyPr>
          <a:lstStyle/>
          <a:p>
            <a:pPr algn="ctr"/>
            <a:r>
              <a:rPr sz="900" b="0">
                <a:solidFill>
                  <a:srgbClr val="44505C"/>
                </a:solidFill>
              </a:rPr>
              <a:t>fired rules</a:t>
            </a:r>
          </a:p>
        </p:txBody>
      </p:sp>
      <p:cxnSp>
        <p:nvCxnSpPr>
          <p:cNvPr id="53" name="Connector 52"/>
          <p:cNvCxnSpPr/>
          <p:nvPr/>
        </p:nvCxnSpPr>
        <p:spPr>
          <a:xfrm flipH="1">
            <a:off x="4229100" y="5120640"/>
            <a:ext cx="685800" cy="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251960" y="5175503"/>
            <a:ext cx="640080" cy="347472"/>
          </a:xfrm>
          <a:prstGeom prst="rect">
            <a:avLst/>
          </a:prstGeom>
          <a:solidFill>
            <a:srgbClr val="FFFFFF"/>
          </a:solidFill>
        </p:spPr>
        <p:txBody>
          <a:bodyPr wrap="square" lIns="18288" tIns="18288" rIns="18288" bIns="18288" anchor="ctr">
            <a:noAutofit/>
          </a:bodyPr>
          <a:lstStyle/>
          <a:p>
            <a:pPr algn="ctr"/>
            <a:r>
              <a:rPr sz="850" b="0">
                <a:solidFill>
                  <a:srgbClr val="44505C"/>
                </a:solidFill>
              </a:rPr>
              <a:t>tier +</a:t>
            </a:r>
          </a:p>
          <a:p>
            <a:pPr algn="ctr"/>
            <a:r>
              <a:rPr sz="850" b="0">
                <a:solidFill>
                  <a:srgbClr val="44505C"/>
                </a:solidFill>
              </a:rPr>
              <a:t>rules</a:t>
            </a:r>
          </a:p>
        </p:txBody>
      </p:sp>
      <p:cxnSp>
        <p:nvCxnSpPr>
          <p:cNvPr id="55" name="Connector 54"/>
          <p:cNvCxnSpPr/>
          <p:nvPr/>
        </p:nvCxnSpPr>
        <p:spPr>
          <a:xfrm flipH="1">
            <a:off x="3840480" y="4160520"/>
            <a:ext cx="1280160" cy="548639"/>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680460" y="4224528"/>
            <a:ext cx="777240" cy="237744"/>
          </a:xfrm>
          <a:prstGeom prst="rect">
            <a:avLst/>
          </a:prstGeom>
          <a:solidFill>
            <a:srgbClr val="FFFFFF"/>
          </a:solidFill>
        </p:spPr>
        <p:txBody>
          <a:bodyPr wrap="square" lIns="18288" tIns="18288" rIns="18288" bIns="18288" anchor="ctr">
            <a:noAutofit/>
          </a:bodyPr>
          <a:lstStyle/>
          <a:p>
            <a:pPr algn="ctr"/>
            <a:r>
              <a:rPr sz="900" b="0">
                <a:solidFill>
                  <a:srgbClr val="44505C"/>
                </a:solidFill>
              </a:rPr>
              <a:t>fact view</a:t>
            </a:r>
          </a:p>
        </p:txBody>
      </p:sp>
      <p:cxnSp>
        <p:nvCxnSpPr>
          <p:cNvPr id="57" name="Connector 56"/>
          <p:cNvCxnSpPr/>
          <p:nvPr/>
        </p:nvCxnSpPr>
        <p:spPr>
          <a:xfrm>
            <a:off x="6789420" y="5120640"/>
            <a:ext cx="685799" cy="0"/>
          </a:xfrm>
          <a:prstGeom prst="line">
            <a:avLst/>
          </a:prstGeom>
          <a:ln w="19050">
            <a:solidFill>
              <a:srgbClr val="44505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803136" y="5175503"/>
            <a:ext cx="658368" cy="347472"/>
          </a:xfrm>
          <a:prstGeom prst="rect">
            <a:avLst/>
          </a:prstGeom>
          <a:solidFill>
            <a:srgbClr val="FFFFFF"/>
          </a:solidFill>
        </p:spPr>
        <p:txBody>
          <a:bodyPr wrap="square" lIns="18288" tIns="18288" rIns="18288" bIns="18288" anchor="ctr">
            <a:noAutofit/>
          </a:bodyPr>
          <a:lstStyle/>
          <a:p>
            <a:pPr algn="ctr"/>
            <a:r>
              <a:rPr sz="850" b="0">
                <a:solidFill>
                  <a:srgbClr val="44505C"/>
                </a:solidFill>
              </a:rPr>
              <a:t>tier,</a:t>
            </a:r>
          </a:p>
          <a:p>
            <a:pPr algn="ctr"/>
            <a:r>
              <a:rPr sz="850" b="0">
                <a:solidFill>
                  <a:srgbClr val="44505C"/>
                </a:solidFill>
              </a:rPr>
              <a:t>decision</a:t>
            </a:r>
          </a:p>
        </p:txBody>
      </p:sp>
      <p:cxnSp>
        <p:nvCxnSpPr>
          <p:cNvPr id="59" name="Connector 58"/>
          <p:cNvCxnSpPr/>
          <p:nvPr/>
        </p:nvCxnSpPr>
        <p:spPr>
          <a:xfrm flipH="1">
            <a:off x="8961119" y="2606040"/>
            <a:ext cx="1325881" cy="2103119"/>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372600" y="2807208"/>
            <a:ext cx="548640" cy="237744"/>
          </a:xfrm>
          <a:prstGeom prst="rect">
            <a:avLst/>
          </a:prstGeom>
          <a:solidFill>
            <a:srgbClr val="FFFFFF"/>
          </a:solidFill>
        </p:spPr>
        <p:txBody>
          <a:bodyPr wrap="square" lIns="18288" tIns="18288" rIns="18288" bIns="18288" anchor="ctr">
            <a:noAutofit/>
          </a:bodyPr>
          <a:lstStyle/>
          <a:p>
            <a:pPr algn="ctr"/>
            <a:r>
              <a:rPr sz="900" b="0">
                <a:solidFill>
                  <a:srgbClr val="44505C"/>
                </a:solidFill>
              </a:rPr>
              <a:t>rule ids</a:t>
            </a:r>
          </a:p>
        </p:txBody>
      </p:sp>
      <p:cxnSp>
        <p:nvCxnSpPr>
          <p:cNvPr id="61" name="Connector 60"/>
          <p:cNvCxnSpPr/>
          <p:nvPr/>
        </p:nvCxnSpPr>
        <p:spPr>
          <a:xfrm flipH="1">
            <a:off x="9349740" y="4133087"/>
            <a:ext cx="1120140" cy="804672"/>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669780" y="4288536"/>
            <a:ext cx="868680" cy="237744"/>
          </a:xfrm>
          <a:prstGeom prst="rect">
            <a:avLst/>
          </a:prstGeom>
          <a:solidFill>
            <a:srgbClr val="FFFFFF"/>
          </a:solidFill>
        </p:spPr>
        <p:txBody>
          <a:bodyPr wrap="square" lIns="18288" tIns="18288" rIns="18288" bIns="18288" anchor="ctr">
            <a:noAutofit/>
          </a:bodyPr>
          <a:lstStyle/>
          <a:p>
            <a:pPr algn="ctr"/>
            <a:r>
              <a:rPr sz="900" b="0">
                <a:solidFill>
                  <a:srgbClr val="44505C"/>
                </a:solidFill>
              </a:rPr>
              <a:t>request</a:t>
            </a:r>
          </a:p>
        </p:txBody>
      </p:sp>
      <p:cxnSp>
        <p:nvCxnSpPr>
          <p:cNvPr id="63" name="Connector 62"/>
          <p:cNvCxnSpPr/>
          <p:nvPr/>
        </p:nvCxnSpPr>
        <p:spPr>
          <a:xfrm>
            <a:off x="9349740" y="5212079"/>
            <a:ext cx="617220" cy="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11247119" y="4133087"/>
            <a:ext cx="0" cy="758953"/>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11100815" y="4480559"/>
            <a:ext cx="566928" cy="365760"/>
          </a:xfrm>
          <a:prstGeom prst="rect">
            <a:avLst/>
          </a:prstGeom>
          <a:solidFill>
            <a:srgbClr val="FFFFFF"/>
          </a:solidFill>
        </p:spPr>
        <p:txBody>
          <a:bodyPr wrap="square" lIns="18288" tIns="18288" rIns="18288" bIns="18288" anchor="ctr">
            <a:noAutofit/>
          </a:bodyPr>
          <a:lstStyle/>
          <a:p>
            <a:pPr algn="ctr"/>
            <a:r>
              <a:rPr sz="900" b="0">
                <a:solidFill>
                  <a:srgbClr val="44505C"/>
                </a:solidFill>
              </a:rPr>
              <a:t>PDF report</a:t>
            </a:r>
          </a:p>
        </p:txBody>
      </p:sp>
      <p:sp>
        <p:nvSpPr>
          <p:cNvPr id="66" name="TextBox 65"/>
          <p:cNvSpPr txBox="1"/>
          <p:nvPr/>
        </p:nvSpPr>
        <p:spPr>
          <a:xfrm>
            <a:off x="777240" y="5806440"/>
            <a:ext cx="914400" cy="274320"/>
          </a:xfrm>
          <a:prstGeom prst="rect">
            <a:avLst/>
          </a:prstGeom>
          <a:noFill/>
        </p:spPr>
        <p:txBody>
          <a:bodyPr wrap="square" lIns="36576" tIns="36576" rIns="36576" bIns="36576" anchor="ctr">
            <a:noAutofit/>
          </a:bodyPr>
          <a:lstStyle/>
          <a:p>
            <a:pPr algn="l"/>
            <a:r>
              <a:rPr sz="1000" b="1">
                <a:solidFill>
                  <a:srgbClr val="44505C"/>
                </a:solidFill>
              </a:rPr>
              <a:t>Notation:</a:t>
            </a:r>
          </a:p>
        </p:txBody>
      </p:sp>
      <p:sp>
        <p:nvSpPr>
          <p:cNvPr id="67" name="Rectangle 66"/>
          <p:cNvSpPr/>
          <p:nvPr/>
        </p:nvSpPr>
        <p:spPr>
          <a:xfrm>
            <a:off x="1691640" y="5833872"/>
            <a:ext cx="384048" cy="219456"/>
          </a:xfrm>
          <a:prstGeom prst="rect">
            <a:avLst/>
          </a:prstGeom>
          <a:solidFill>
            <a:srgbClr val="19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68" name="TextBox 67"/>
          <p:cNvSpPr txBox="1"/>
          <p:nvPr/>
        </p:nvSpPr>
        <p:spPr>
          <a:xfrm>
            <a:off x="2121408" y="5806440"/>
            <a:ext cx="1371600" cy="274320"/>
          </a:xfrm>
          <a:prstGeom prst="rect">
            <a:avLst/>
          </a:prstGeom>
          <a:noFill/>
        </p:spPr>
        <p:txBody>
          <a:bodyPr wrap="square" lIns="36576" tIns="36576" rIns="36576" bIns="36576" anchor="ctr">
            <a:noAutofit/>
          </a:bodyPr>
          <a:lstStyle/>
          <a:p>
            <a:pPr algn="l"/>
            <a:r>
              <a:rPr sz="1000" b="0">
                <a:solidFill>
                  <a:srgbClr val="44505C"/>
                </a:solidFill>
              </a:rPr>
              <a:t>external entity</a:t>
            </a:r>
          </a:p>
        </p:txBody>
      </p:sp>
      <p:sp>
        <p:nvSpPr>
          <p:cNvPr id="69" name="Rounded Rectangle 68"/>
          <p:cNvSpPr/>
          <p:nvPr/>
        </p:nvSpPr>
        <p:spPr>
          <a:xfrm>
            <a:off x="3520440" y="5833872"/>
            <a:ext cx="384048" cy="219456"/>
          </a:xfrm>
          <a:prstGeom prst="roundRect">
            <a:avLst>
              <a:gd name="adj" fmla="val 12000"/>
            </a:avLst>
          </a:prstGeom>
          <a:solidFill>
            <a:srgbClr val="EBF2FA"/>
          </a:solidFill>
          <a:ln w="12700">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70" name="TextBox 69"/>
          <p:cNvSpPr txBox="1"/>
          <p:nvPr/>
        </p:nvSpPr>
        <p:spPr>
          <a:xfrm>
            <a:off x="3950208" y="5806440"/>
            <a:ext cx="822960" cy="274320"/>
          </a:xfrm>
          <a:prstGeom prst="rect">
            <a:avLst/>
          </a:prstGeom>
          <a:noFill/>
        </p:spPr>
        <p:txBody>
          <a:bodyPr wrap="square" lIns="36576" tIns="36576" rIns="36576" bIns="36576" anchor="ctr">
            <a:noAutofit/>
          </a:bodyPr>
          <a:lstStyle/>
          <a:p>
            <a:pPr algn="l"/>
            <a:r>
              <a:rPr sz="1000" b="0">
                <a:solidFill>
                  <a:srgbClr val="44505C"/>
                </a:solidFill>
              </a:rPr>
              <a:t>process</a:t>
            </a:r>
          </a:p>
        </p:txBody>
      </p:sp>
      <p:sp>
        <p:nvSpPr>
          <p:cNvPr id="71" name="Rectangle 70"/>
          <p:cNvSpPr/>
          <p:nvPr/>
        </p:nvSpPr>
        <p:spPr>
          <a:xfrm>
            <a:off x="4800600" y="5833872"/>
            <a:ext cx="502920" cy="219456"/>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cxnSp>
        <p:nvCxnSpPr>
          <p:cNvPr id="72" name="Connector 71"/>
          <p:cNvCxnSpPr/>
          <p:nvPr/>
        </p:nvCxnSpPr>
        <p:spPr>
          <a:xfrm>
            <a:off x="4800600" y="5833872"/>
            <a:ext cx="502920" cy="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800600" y="6053328"/>
            <a:ext cx="502920" cy="0"/>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800600" y="5833872"/>
            <a:ext cx="0" cy="219456"/>
          </a:xfrm>
          <a:prstGeom prst="line">
            <a:avLst/>
          </a:prstGeom>
          <a:ln w="15875">
            <a:solidFill>
              <a:srgbClr val="53657A"/>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951476" y="5833872"/>
            <a:ext cx="0" cy="219456"/>
          </a:xfrm>
          <a:prstGeom prst="line">
            <a:avLst/>
          </a:prstGeom>
          <a:ln w="12700">
            <a:solidFill>
              <a:srgbClr val="53657A"/>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4800600" y="5833872"/>
            <a:ext cx="150876" cy="219456"/>
          </a:xfrm>
          <a:prstGeom prst="rect">
            <a:avLst/>
          </a:prstGeom>
          <a:noFill/>
        </p:spPr>
        <p:txBody>
          <a:bodyPr wrap="square" lIns="0" tIns="0" rIns="0" bIns="0" anchor="ctr">
            <a:noAutofit/>
          </a:bodyPr>
          <a:lstStyle/>
          <a:p>
            <a:pPr algn="ctr"/>
            <a:r>
              <a:rPr sz="1100" b="1">
                <a:solidFill>
                  <a:srgbClr val="CC0000"/>
                </a:solidFill>
              </a:rPr>
              <a:t>D</a:t>
            </a:r>
          </a:p>
        </p:txBody>
      </p:sp>
      <p:sp>
        <p:nvSpPr>
          <p:cNvPr id="77" name="TextBox 76"/>
          <p:cNvSpPr txBox="1"/>
          <p:nvPr/>
        </p:nvSpPr>
        <p:spPr>
          <a:xfrm>
            <a:off x="5367527" y="5806440"/>
            <a:ext cx="1005840" cy="274320"/>
          </a:xfrm>
          <a:prstGeom prst="rect">
            <a:avLst/>
          </a:prstGeom>
          <a:noFill/>
        </p:spPr>
        <p:txBody>
          <a:bodyPr wrap="square" lIns="36576" tIns="36576" rIns="36576" bIns="36576" anchor="ctr">
            <a:noAutofit/>
          </a:bodyPr>
          <a:lstStyle/>
          <a:p>
            <a:pPr algn="l"/>
            <a:r>
              <a:rPr sz="1000" b="0">
                <a:solidFill>
                  <a:srgbClr val="44505C"/>
                </a:solidFill>
              </a:rPr>
              <a:t>data store</a:t>
            </a:r>
          </a:p>
        </p:txBody>
      </p:sp>
      <p:cxnSp>
        <p:nvCxnSpPr>
          <p:cNvPr id="78" name="Connector 77"/>
          <p:cNvCxnSpPr/>
          <p:nvPr/>
        </p:nvCxnSpPr>
        <p:spPr>
          <a:xfrm>
            <a:off x="6355079" y="5943600"/>
            <a:ext cx="457200" cy="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858000" y="5806440"/>
            <a:ext cx="914400" cy="274320"/>
          </a:xfrm>
          <a:prstGeom prst="rect">
            <a:avLst/>
          </a:prstGeom>
          <a:noFill/>
        </p:spPr>
        <p:txBody>
          <a:bodyPr wrap="square" lIns="36576" tIns="36576" rIns="36576" bIns="36576" anchor="ctr">
            <a:noAutofit/>
          </a:bodyPr>
          <a:lstStyle/>
          <a:p>
            <a:pPr algn="l"/>
            <a:r>
              <a:rPr sz="1000" b="0">
                <a:solidFill>
                  <a:srgbClr val="44505C"/>
                </a:solidFill>
              </a:rPr>
              <a:t>data flow</a:t>
            </a:r>
          </a:p>
        </p:txBody>
      </p:sp>
    </p:spTree>
    <p:extLst>
      <p:ext uri="{BB962C8B-B14F-4D97-AF65-F5344CB8AC3E}">
        <p14:creationId xmlns:p14="http://schemas.microsoft.com/office/powerpoint/2010/main" val="1066777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IN" altLang="en-US" sz="3200" b="1" dirty="0">
                <a:solidFill>
                  <a:srgbClr val="FF0000"/>
                </a:solidFill>
              </a:rPr>
              <a:t>Methodology / Workflow Diagram</a:t>
            </a:r>
            <a:endParaRPr lang="en-IN" sz="2800" dirty="0"/>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11</a:t>
            </a:fld>
            <a:endParaRPr lang="en-IN"/>
          </a:p>
        </p:txBody>
      </p:sp>
      <p:sp>
        <p:nvSpPr>
          <p:cNvPr id="7" name="Rounded Rectangle 6"/>
          <p:cNvSpPr/>
          <p:nvPr/>
        </p:nvSpPr>
        <p:spPr>
          <a:xfrm>
            <a:off x="758952" y="1828800"/>
            <a:ext cx="2450592" cy="1572768"/>
          </a:xfrm>
          <a:prstGeom prst="roundRect">
            <a:avLst>
              <a:gd name="adj" fmla="val 8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8" name="Oval 7"/>
          <p:cNvSpPr/>
          <p:nvPr/>
        </p:nvSpPr>
        <p:spPr>
          <a:xfrm>
            <a:off x="886968" y="1956816"/>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1</a:t>
            </a:r>
          </a:p>
        </p:txBody>
      </p:sp>
      <p:sp>
        <p:nvSpPr>
          <p:cNvPr id="9" name="TextBox 8"/>
          <p:cNvSpPr txBox="1"/>
          <p:nvPr/>
        </p:nvSpPr>
        <p:spPr>
          <a:xfrm>
            <a:off x="1325880" y="1920240"/>
            <a:ext cx="1810512" cy="219456"/>
          </a:xfrm>
          <a:prstGeom prst="rect">
            <a:avLst/>
          </a:prstGeom>
          <a:noFill/>
        </p:spPr>
        <p:txBody>
          <a:bodyPr wrap="square" lIns="0" tIns="0" rIns="0" bIns="0" anchor="t">
            <a:noAutofit/>
          </a:bodyPr>
          <a:lstStyle/>
          <a:p>
            <a:pPr algn="l"/>
            <a:r>
              <a:rPr sz="900" b="1">
                <a:solidFill>
                  <a:srgbClr val="CC0000"/>
                </a:solidFill>
              </a:rPr>
              <a:t>INPUT</a:t>
            </a:r>
          </a:p>
        </p:txBody>
      </p:sp>
      <p:sp>
        <p:nvSpPr>
          <p:cNvPr id="10" name="TextBox 9"/>
          <p:cNvSpPr txBox="1"/>
          <p:nvPr/>
        </p:nvSpPr>
        <p:spPr>
          <a:xfrm>
            <a:off x="1325880" y="2103120"/>
            <a:ext cx="1810512" cy="310896"/>
          </a:xfrm>
          <a:prstGeom prst="rect">
            <a:avLst/>
          </a:prstGeom>
          <a:noFill/>
        </p:spPr>
        <p:txBody>
          <a:bodyPr wrap="square" lIns="0" tIns="0" rIns="0" bIns="0" anchor="t">
            <a:noAutofit/>
          </a:bodyPr>
          <a:lstStyle/>
          <a:p>
            <a:pPr algn="l"/>
            <a:r>
              <a:rPr sz="1400" b="1">
                <a:solidFill>
                  <a:srgbClr val="193054"/>
                </a:solidFill>
              </a:rPr>
              <a:t>Transaction input</a:t>
            </a:r>
          </a:p>
        </p:txBody>
      </p:sp>
      <p:sp>
        <p:nvSpPr>
          <p:cNvPr id="11" name="TextBox 10"/>
          <p:cNvSpPr txBox="1"/>
          <p:nvPr/>
        </p:nvSpPr>
        <p:spPr>
          <a:xfrm>
            <a:off x="886968" y="2468880"/>
            <a:ext cx="2212848" cy="886968"/>
          </a:xfrm>
          <a:prstGeom prst="rect">
            <a:avLst/>
          </a:prstGeom>
          <a:noFill/>
        </p:spPr>
        <p:txBody>
          <a:bodyPr wrap="square" lIns="0" tIns="0" rIns="0" bIns="0" anchor="t">
            <a:noAutofit/>
          </a:bodyPr>
          <a:lstStyle/>
          <a:p>
            <a:pPr algn="l"/>
            <a:r>
              <a:rPr sz="1150" b="0">
                <a:solidFill>
                  <a:srgbClr val="1F2933"/>
                </a:solidFill>
              </a:rPr>
              <a:t>Amount, time, device trust, location, login, frequency, account activity</a:t>
            </a:r>
          </a:p>
        </p:txBody>
      </p:sp>
      <p:cxnSp>
        <p:nvCxnSpPr>
          <p:cNvPr id="12" name="Connector 11"/>
          <p:cNvCxnSpPr/>
          <p:nvPr/>
        </p:nvCxnSpPr>
        <p:spPr>
          <a:xfrm>
            <a:off x="3236976" y="2615184"/>
            <a:ext cx="237744" cy="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02152" y="1828800"/>
            <a:ext cx="2450592" cy="1572768"/>
          </a:xfrm>
          <a:prstGeom prst="roundRect">
            <a:avLst>
              <a:gd name="adj" fmla="val 8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14" name="Oval 13"/>
          <p:cNvSpPr/>
          <p:nvPr/>
        </p:nvSpPr>
        <p:spPr>
          <a:xfrm>
            <a:off x="3630168" y="1956816"/>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2</a:t>
            </a:r>
          </a:p>
        </p:txBody>
      </p:sp>
      <p:sp>
        <p:nvSpPr>
          <p:cNvPr id="15" name="TextBox 14"/>
          <p:cNvSpPr txBox="1"/>
          <p:nvPr/>
        </p:nvSpPr>
        <p:spPr>
          <a:xfrm>
            <a:off x="4069080" y="1920240"/>
            <a:ext cx="1810512" cy="219456"/>
          </a:xfrm>
          <a:prstGeom prst="rect">
            <a:avLst/>
          </a:prstGeom>
          <a:noFill/>
        </p:spPr>
        <p:txBody>
          <a:bodyPr wrap="square" lIns="0" tIns="0" rIns="0" bIns="0" anchor="t">
            <a:noAutofit/>
          </a:bodyPr>
          <a:lstStyle/>
          <a:p>
            <a:pPr algn="l"/>
            <a:r>
              <a:rPr sz="900" b="1">
                <a:solidFill>
                  <a:srgbClr val="CC0000"/>
                </a:solidFill>
              </a:rPr>
              <a:t>PREPROCESSING</a:t>
            </a:r>
          </a:p>
        </p:txBody>
      </p:sp>
      <p:sp>
        <p:nvSpPr>
          <p:cNvPr id="16" name="TextBox 15"/>
          <p:cNvSpPr txBox="1"/>
          <p:nvPr/>
        </p:nvSpPr>
        <p:spPr>
          <a:xfrm>
            <a:off x="4069080" y="2103120"/>
            <a:ext cx="1810512" cy="310896"/>
          </a:xfrm>
          <a:prstGeom prst="rect">
            <a:avLst/>
          </a:prstGeom>
          <a:noFill/>
        </p:spPr>
        <p:txBody>
          <a:bodyPr wrap="square" lIns="0" tIns="0" rIns="0" bIns="0" anchor="t">
            <a:noAutofit/>
          </a:bodyPr>
          <a:lstStyle/>
          <a:p>
            <a:pPr algn="l"/>
            <a:r>
              <a:rPr sz="1400" b="1">
                <a:solidFill>
                  <a:srgbClr val="193054"/>
                </a:solidFill>
              </a:rPr>
              <a:t>Validate</a:t>
            </a:r>
          </a:p>
        </p:txBody>
      </p:sp>
      <p:sp>
        <p:nvSpPr>
          <p:cNvPr id="17" name="TextBox 16"/>
          <p:cNvSpPr txBox="1"/>
          <p:nvPr/>
        </p:nvSpPr>
        <p:spPr>
          <a:xfrm>
            <a:off x="3630168" y="2468880"/>
            <a:ext cx="2212848" cy="886968"/>
          </a:xfrm>
          <a:prstGeom prst="rect">
            <a:avLst/>
          </a:prstGeom>
          <a:noFill/>
        </p:spPr>
        <p:txBody>
          <a:bodyPr wrap="square" lIns="0" tIns="0" rIns="0" bIns="0" anchor="t">
            <a:noAutofit/>
          </a:bodyPr>
          <a:lstStyle/>
          <a:p>
            <a:pPr algn="l"/>
            <a:r>
              <a:rPr sz="1150" b="0">
                <a:solidFill>
                  <a:srgbClr val="1F2933"/>
                </a:solidFill>
              </a:rPr>
              <a:t>Pydantic checks every field; constraint evaluation rejects invalid input</a:t>
            </a:r>
          </a:p>
        </p:txBody>
      </p:sp>
      <p:cxnSp>
        <p:nvCxnSpPr>
          <p:cNvPr id="18" name="Connector 17"/>
          <p:cNvCxnSpPr/>
          <p:nvPr/>
        </p:nvCxnSpPr>
        <p:spPr>
          <a:xfrm>
            <a:off x="5980176" y="2615184"/>
            <a:ext cx="237744" cy="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45352" y="1828800"/>
            <a:ext cx="2450592" cy="1572768"/>
          </a:xfrm>
          <a:prstGeom prst="roundRect">
            <a:avLst>
              <a:gd name="adj" fmla="val 8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20" name="Oval 19"/>
          <p:cNvSpPr/>
          <p:nvPr/>
        </p:nvSpPr>
        <p:spPr>
          <a:xfrm>
            <a:off x="6373368" y="1956816"/>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3</a:t>
            </a:r>
          </a:p>
        </p:txBody>
      </p:sp>
      <p:sp>
        <p:nvSpPr>
          <p:cNvPr id="21" name="TextBox 20"/>
          <p:cNvSpPr txBox="1"/>
          <p:nvPr/>
        </p:nvSpPr>
        <p:spPr>
          <a:xfrm>
            <a:off x="6812280" y="1920240"/>
            <a:ext cx="1810512" cy="219456"/>
          </a:xfrm>
          <a:prstGeom prst="rect">
            <a:avLst/>
          </a:prstGeom>
          <a:noFill/>
        </p:spPr>
        <p:txBody>
          <a:bodyPr wrap="square" lIns="0" tIns="0" rIns="0" bIns="0" anchor="t">
            <a:noAutofit/>
          </a:bodyPr>
          <a:lstStyle/>
          <a:p>
            <a:pPr algn="l"/>
            <a:r>
              <a:rPr sz="900" b="1">
                <a:solidFill>
                  <a:srgbClr val="CC0000"/>
                </a:solidFill>
              </a:rPr>
              <a:t>PREPROCESSING</a:t>
            </a:r>
          </a:p>
        </p:txBody>
      </p:sp>
      <p:sp>
        <p:nvSpPr>
          <p:cNvPr id="22" name="TextBox 21"/>
          <p:cNvSpPr txBox="1"/>
          <p:nvPr/>
        </p:nvSpPr>
        <p:spPr>
          <a:xfrm>
            <a:off x="6812280" y="2103120"/>
            <a:ext cx="1810512" cy="310896"/>
          </a:xfrm>
          <a:prstGeom prst="rect">
            <a:avLst/>
          </a:prstGeom>
          <a:noFill/>
        </p:spPr>
        <p:txBody>
          <a:bodyPr wrap="square" lIns="0" tIns="0" rIns="0" bIns="0" anchor="t">
            <a:noAutofit/>
          </a:bodyPr>
          <a:lstStyle/>
          <a:p>
            <a:pPr algn="l"/>
            <a:r>
              <a:rPr sz="1400" b="1">
                <a:solidFill>
                  <a:srgbClr val="193054"/>
                </a:solidFill>
              </a:rPr>
              <a:t>Baseline &amp; facts</a:t>
            </a:r>
          </a:p>
        </p:txBody>
      </p:sp>
      <p:sp>
        <p:nvSpPr>
          <p:cNvPr id="23" name="TextBox 22"/>
          <p:cNvSpPr txBox="1"/>
          <p:nvPr/>
        </p:nvSpPr>
        <p:spPr>
          <a:xfrm>
            <a:off x="6373368" y="2468880"/>
            <a:ext cx="2212848" cy="886968"/>
          </a:xfrm>
          <a:prstGeom prst="rect">
            <a:avLst/>
          </a:prstGeom>
          <a:noFill/>
        </p:spPr>
        <p:txBody>
          <a:bodyPr wrap="square" lIns="0" tIns="0" rIns="0" bIns="0" anchor="t">
            <a:noAutofit/>
          </a:bodyPr>
          <a:lstStyle/>
          <a:p>
            <a:pPr algn="l"/>
            <a:r>
              <a:rPr sz="1150" b="0">
                <a:solidFill>
                  <a:srgbClr val="1F2933"/>
                </a:solidFill>
              </a:rPr>
              <a:t>User baseline and features become facts, e.g. HighAmount(x), NewLocation(x)</a:t>
            </a:r>
          </a:p>
        </p:txBody>
      </p:sp>
      <p:cxnSp>
        <p:nvCxnSpPr>
          <p:cNvPr id="24" name="Connector 23"/>
          <p:cNvCxnSpPr/>
          <p:nvPr/>
        </p:nvCxnSpPr>
        <p:spPr>
          <a:xfrm>
            <a:off x="8723376" y="2615184"/>
            <a:ext cx="237744" cy="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88552" y="1828800"/>
            <a:ext cx="2450592" cy="1572768"/>
          </a:xfrm>
          <a:prstGeom prst="roundRect">
            <a:avLst>
              <a:gd name="adj" fmla="val 8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26" name="Oval 25"/>
          <p:cNvSpPr/>
          <p:nvPr/>
        </p:nvSpPr>
        <p:spPr>
          <a:xfrm>
            <a:off x="9116568" y="1956816"/>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4</a:t>
            </a:r>
          </a:p>
        </p:txBody>
      </p:sp>
      <p:sp>
        <p:nvSpPr>
          <p:cNvPr id="27" name="TextBox 26"/>
          <p:cNvSpPr txBox="1"/>
          <p:nvPr/>
        </p:nvSpPr>
        <p:spPr>
          <a:xfrm>
            <a:off x="9555480" y="1920240"/>
            <a:ext cx="1810512" cy="219456"/>
          </a:xfrm>
          <a:prstGeom prst="rect">
            <a:avLst/>
          </a:prstGeom>
          <a:noFill/>
        </p:spPr>
        <p:txBody>
          <a:bodyPr wrap="square" lIns="0" tIns="0" rIns="0" bIns="0" anchor="t">
            <a:noAutofit/>
          </a:bodyPr>
          <a:lstStyle/>
          <a:p>
            <a:pPr algn="l"/>
            <a:r>
              <a:rPr sz="900" b="1">
                <a:solidFill>
                  <a:srgbClr val="CC0000"/>
                </a:solidFill>
              </a:rPr>
              <a:t>DESIGN</a:t>
            </a:r>
          </a:p>
        </p:txBody>
      </p:sp>
      <p:sp>
        <p:nvSpPr>
          <p:cNvPr id="28" name="TextBox 27"/>
          <p:cNvSpPr txBox="1"/>
          <p:nvPr/>
        </p:nvSpPr>
        <p:spPr>
          <a:xfrm>
            <a:off x="9555480" y="2103120"/>
            <a:ext cx="1810512" cy="310896"/>
          </a:xfrm>
          <a:prstGeom prst="rect">
            <a:avLst/>
          </a:prstGeom>
          <a:noFill/>
        </p:spPr>
        <p:txBody>
          <a:bodyPr wrap="square" lIns="0" tIns="0" rIns="0" bIns="0" anchor="t">
            <a:noAutofit/>
          </a:bodyPr>
          <a:lstStyle/>
          <a:p>
            <a:pPr algn="l"/>
            <a:r>
              <a:rPr sz="1400" b="1">
                <a:solidFill>
                  <a:srgbClr val="193054"/>
                </a:solidFill>
              </a:rPr>
              <a:t>Knowledge base</a:t>
            </a:r>
          </a:p>
        </p:txBody>
      </p:sp>
      <p:sp>
        <p:nvSpPr>
          <p:cNvPr id="29" name="TextBox 28"/>
          <p:cNvSpPr txBox="1"/>
          <p:nvPr/>
        </p:nvSpPr>
        <p:spPr>
          <a:xfrm>
            <a:off x="9116568" y="2468880"/>
            <a:ext cx="2212848" cy="886968"/>
          </a:xfrm>
          <a:prstGeom prst="rect">
            <a:avLst/>
          </a:prstGeom>
          <a:noFill/>
        </p:spPr>
        <p:txBody>
          <a:bodyPr wrap="square" lIns="0" tIns="0" rIns="0" bIns="0" anchor="t">
            <a:noAutofit/>
          </a:bodyPr>
          <a:lstStyle/>
          <a:p>
            <a:pPr algn="l"/>
            <a:r>
              <a:rPr sz="1150" b="0">
                <a:solidFill>
                  <a:srgbClr val="1F2933"/>
                </a:solidFill>
              </a:rPr>
              <a:t>32 versioned IF–THEN rules over 31 predicates, each with a severity</a:t>
            </a:r>
          </a:p>
        </p:txBody>
      </p:sp>
      <p:sp>
        <p:nvSpPr>
          <p:cNvPr id="30" name="Rounded Rectangle 29"/>
          <p:cNvSpPr/>
          <p:nvPr/>
        </p:nvSpPr>
        <p:spPr>
          <a:xfrm>
            <a:off x="758952" y="4069080"/>
            <a:ext cx="2450592" cy="1572768"/>
          </a:xfrm>
          <a:prstGeom prst="roundRect">
            <a:avLst>
              <a:gd name="adj" fmla="val 8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31" name="Oval 30"/>
          <p:cNvSpPr/>
          <p:nvPr/>
        </p:nvSpPr>
        <p:spPr>
          <a:xfrm>
            <a:off x="886968" y="4197096"/>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5</a:t>
            </a:r>
          </a:p>
        </p:txBody>
      </p:sp>
      <p:sp>
        <p:nvSpPr>
          <p:cNvPr id="32" name="TextBox 31"/>
          <p:cNvSpPr txBox="1"/>
          <p:nvPr/>
        </p:nvSpPr>
        <p:spPr>
          <a:xfrm>
            <a:off x="1325880" y="4160520"/>
            <a:ext cx="1810512" cy="219456"/>
          </a:xfrm>
          <a:prstGeom prst="rect">
            <a:avLst/>
          </a:prstGeom>
          <a:noFill/>
        </p:spPr>
        <p:txBody>
          <a:bodyPr wrap="square" lIns="0" tIns="0" rIns="0" bIns="0" anchor="t">
            <a:noAutofit/>
          </a:bodyPr>
          <a:lstStyle/>
          <a:p>
            <a:pPr algn="l"/>
            <a:r>
              <a:rPr sz="900" b="1">
                <a:solidFill>
                  <a:srgbClr val="CC0000"/>
                </a:solidFill>
              </a:rPr>
              <a:t>IMPLEMENTATION</a:t>
            </a:r>
          </a:p>
        </p:txBody>
      </p:sp>
      <p:sp>
        <p:nvSpPr>
          <p:cNvPr id="33" name="TextBox 32"/>
          <p:cNvSpPr txBox="1"/>
          <p:nvPr/>
        </p:nvSpPr>
        <p:spPr>
          <a:xfrm>
            <a:off x="1325880" y="4343400"/>
            <a:ext cx="1810512" cy="310896"/>
          </a:xfrm>
          <a:prstGeom prst="rect">
            <a:avLst/>
          </a:prstGeom>
          <a:noFill/>
        </p:spPr>
        <p:txBody>
          <a:bodyPr wrap="square" lIns="0" tIns="0" rIns="0" bIns="0" anchor="t">
            <a:noAutofit/>
          </a:bodyPr>
          <a:lstStyle/>
          <a:p>
            <a:pPr algn="l"/>
            <a:r>
              <a:rPr sz="1400" b="1">
                <a:solidFill>
                  <a:srgbClr val="193054"/>
                </a:solidFill>
              </a:rPr>
              <a:t>Match &amp; chain</a:t>
            </a:r>
          </a:p>
        </p:txBody>
      </p:sp>
      <p:sp>
        <p:nvSpPr>
          <p:cNvPr id="34" name="TextBox 33"/>
          <p:cNvSpPr txBox="1"/>
          <p:nvPr/>
        </p:nvSpPr>
        <p:spPr>
          <a:xfrm>
            <a:off x="886968" y="4709160"/>
            <a:ext cx="2212848" cy="886968"/>
          </a:xfrm>
          <a:prstGeom prst="rect">
            <a:avLst/>
          </a:prstGeom>
          <a:noFill/>
        </p:spPr>
        <p:txBody>
          <a:bodyPr wrap="square" lIns="0" tIns="0" rIns="0" bIns="0" anchor="t">
            <a:noAutofit/>
          </a:bodyPr>
          <a:lstStyle/>
          <a:p>
            <a:pPr algn="l"/>
            <a:r>
              <a:rPr sz="1150" b="0">
                <a:solidFill>
                  <a:srgbClr val="1F2933"/>
                </a:solidFill>
              </a:rPr>
              <a:t>Unify rules with facts, fire each once, stop at a fixpoint</a:t>
            </a:r>
          </a:p>
        </p:txBody>
      </p:sp>
      <p:cxnSp>
        <p:nvCxnSpPr>
          <p:cNvPr id="35" name="Connector 34"/>
          <p:cNvCxnSpPr/>
          <p:nvPr/>
        </p:nvCxnSpPr>
        <p:spPr>
          <a:xfrm>
            <a:off x="3236976" y="4855464"/>
            <a:ext cx="237744" cy="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502152" y="4069080"/>
            <a:ext cx="2450592" cy="1572768"/>
          </a:xfrm>
          <a:prstGeom prst="roundRect">
            <a:avLst>
              <a:gd name="adj" fmla="val 8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37" name="Oval 36"/>
          <p:cNvSpPr/>
          <p:nvPr/>
        </p:nvSpPr>
        <p:spPr>
          <a:xfrm>
            <a:off x="3630168" y="4197096"/>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6</a:t>
            </a:r>
          </a:p>
        </p:txBody>
      </p:sp>
      <p:sp>
        <p:nvSpPr>
          <p:cNvPr id="38" name="TextBox 37"/>
          <p:cNvSpPr txBox="1"/>
          <p:nvPr/>
        </p:nvSpPr>
        <p:spPr>
          <a:xfrm>
            <a:off x="4069080" y="4160520"/>
            <a:ext cx="1810512" cy="219456"/>
          </a:xfrm>
          <a:prstGeom prst="rect">
            <a:avLst/>
          </a:prstGeom>
          <a:noFill/>
        </p:spPr>
        <p:txBody>
          <a:bodyPr wrap="square" lIns="0" tIns="0" rIns="0" bIns="0" anchor="t">
            <a:noAutofit/>
          </a:bodyPr>
          <a:lstStyle/>
          <a:p>
            <a:pPr algn="l"/>
            <a:r>
              <a:rPr sz="900" b="1">
                <a:solidFill>
                  <a:srgbClr val="CC0000"/>
                </a:solidFill>
              </a:rPr>
              <a:t>IMPLEMENTATION</a:t>
            </a:r>
          </a:p>
        </p:txBody>
      </p:sp>
      <p:sp>
        <p:nvSpPr>
          <p:cNvPr id="39" name="TextBox 38"/>
          <p:cNvSpPr txBox="1"/>
          <p:nvPr/>
        </p:nvSpPr>
        <p:spPr>
          <a:xfrm>
            <a:off x="4069080" y="4343400"/>
            <a:ext cx="1810512" cy="310896"/>
          </a:xfrm>
          <a:prstGeom prst="rect">
            <a:avLst/>
          </a:prstGeom>
          <a:noFill/>
        </p:spPr>
        <p:txBody>
          <a:bodyPr wrap="square" lIns="0" tIns="0" rIns="0" bIns="0" anchor="t">
            <a:noAutofit/>
          </a:bodyPr>
          <a:lstStyle/>
          <a:p>
            <a:pPr algn="l"/>
            <a:r>
              <a:rPr sz="1400" b="1">
                <a:solidFill>
                  <a:srgbClr val="193054"/>
                </a:solidFill>
              </a:rPr>
              <a:t>Resolve &amp; classify</a:t>
            </a:r>
          </a:p>
        </p:txBody>
      </p:sp>
      <p:sp>
        <p:nvSpPr>
          <p:cNvPr id="40" name="TextBox 39"/>
          <p:cNvSpPr txBox="1"/>
          <p:nvPr/>
        </p:nvSpPr>
        <p:spPr>
          <a:xfrm>
            <a:off x="3630168" y="4709160"/>
            <a:ext cx="2212848" cy="886968"/>
          </a:xfrm>
          <a:prstGeom prst="rect">
            <a:avLst/>
          </a:prstGeom>
          <a:noFill/>
        </p:spPr>
        <p:txBody>
          <a:bodyPr wrap="square" lIns="0" tIns="0" rIns="0" bIns="0" anchor="t">
            <a:noAutofit/>
          </a:bodyPr>
          <a:lstStyle/>
          <a:p>
            <a:pPr algn="l"/>
            <a:r>
              <a:rPr sz="1150" b="0">
                <a:solidFill>
                  <a:srgbClr val="1F2933"/>
                </a:solidFill>
              </a:rPr>
              <a:t>Priority, specificity, severity, id; then tier and 0–100 index</a:t>
            </a:r>
          </a:p>
        </p:txBody>
      </p:sp>
      <p:cxnSp>
        <p:nvCxnSpPr>
          <p:cNvPr id="41" name="Connector 40"/>
          <p:cNvCxnSpPr/>
          <p:nvPr/>
        </p:nvCxnSpPr>
        <p:spPr>
          <a:xfrm>
            <a:off x="5980176" y="4855464"/>
            <a:ext cx="237744" cy="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6245352" y="4069080"/>
            <a:ext cx="2450592" cy="1572768"/>
          </a:xfrm>
          <a:prstGeom prst="roundRect">
            <a:avLst>
              <a:gd name="adj" fmla="val 8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43" name="Oval 42"/>
          <p:cNvSpPr/>
          <p:nvPr/>
        </p:nvSpPr>
        <p:spPr>
          <a:xfrm>
            <a:off x="6373368" y="4197096"/>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7</a:t>
            </a:r>
          </a:p>
        </p:txBody>
      </p:sp>
      <p:sp>
        <p:nvSpPr>
          <p:cNvPr id="44" name="TextBox 43"/>
          <p:cNvSpPr txBox="1"/>
          <p:nvPr/>
        </p:nvSpPr>
        <p:spPr>
          <a:xfrm>
            <a:off x="6812280" y="4160520"/>
            <a:ext cx="1810512" cy="219456"/>
          </a:xfrm>
          <a:prstGeom prst="rect">
            <a:avLst/>
          </a:prstGeom>
          <a:noFill/>
        </p:spPr>
        <p:txBody>
          <a:bodyPr wrap="square" lIns="0" tIns="0" rIns="0" bIns="0" anchor="t">
            <a:noAutofit/>
          </a:bodyPr>
          <a:lstStyle/>
          <a:p>
            <a:pPr algn="l"/>
            <a:r>
              <a:rPr sz="900" b="1">
                <a:solidFill>
                  <a:srgbClr val="CC0000"/>
                </a:solidFill>
              </a:rPr>
              <a:t>TESTING</a:t>
            </a:r>
          </a:p>
        </p:txBody>
      </p:sp>
      <p:sp>
        <p:nvSpPr>
          <p:cNvPr id="45" name="TextBox 44"/>
          <p:cNvSpPr txBox="1"/>
          <p:nvPr/>
        </p:nvSpPr>
        <p:spPr>
          <a:xfrm>
            <a:off x="6812280" y="4343400"/>
            <a:ext cx="1810512" cy="310896"/>
          </a:xfrm>
          <a:prstGeom prst="rect">
            <a:avLst/>
          </a:prstGeom>
          <a:noFill/>
        </p:spPr>
        <p:txBody>
          <a:bodyPr wrap="square" lIns="0" tIns="0" rIns="0" bIns="0" anchor="t">
            <a:noAutofit/>
          </a:bodyPr>
          <a:lstStyle/>
          <a:p>
            <a:pPr algn="l"/>
            <a:r>
              <a:rPr sz="1400" b="1">
                <a:solidFill>
                  <a:srgbClr val="193054"/>
                </a:solidFill>
              </a:rPr>
              <a:t>Verify</a:t>
            </a:r>
          </a:p>
        </p:txBody>
      </p:sp>
      <p:sp>
        <p:nvSpPr>
          <p:cNvPr id="46" name="TextBox 45"/>
          <p:cNvSpPr txBox="1"/>
          <p:nvPr/>
        </p:nvSpPr>
        <p:spPr>
          <a:xfrm>
            <a:off x="6373368" y="4709160"/>
            <a:ext cx="2212848" cy="886968"/>
          </a:xfrm>
          <a:prstGeom prst="rect">
            <a:avLst/>
          </a:prstGeom>
          <a:noFill/>
        </p:spPr>
        <p:txBody>
          <a:bodyPr wrap="square" lIns="0" tIns="0" rIns="0" bIns="0" anchor="t">
            <a:noAutofit/>
          </a:bodyPr>
          <a:lstStyle/>
          <a:p>
            <a:pPr algn="l"/>
            <a:r>
              <a:rPr sz="1150" b="0">
                <a:solidFill>
                  <a:srgbClr val="1F2933"/>
                </a:solidFill>
              </a:rPr>
              <a:t>Six startup checks pass; pytest and Playwright suites for the code</a:t>
            </a:r>
          </a:p>
        </p:txBody>
      </p:sp>
      <p:cxnSp>
        <p:nvCxnSpPr>
          <p:cNvPr id="47" name="Connector 46"/>
          <p:cNvCxnSpPr/>
          <p:nvPr/>
        </p:nvCxnSpPr>
        <p:spPr>
          <a:xfrm>
            <a:off x="8723376" y="4855464"/>
            <a:ext cx="237744" cy="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8988552" y="4069080"/>
            <a:ext cx="2450592" cy="1572768"/>
          </a:xfrm>
          <a:prstGeom prst="roundRect">
            <a:avLst>
              <a:gd name="adj" fmla="val 8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49" name="Oval 48"/>
          <p:cNvSpPr/>
          <p:nvPr/>
        </p:nvSpPr>
        <p:spPr>
          <a:xfrm>
            <a:off x="9116568" y="4197096"/>
            <a:ext cx="384048" cy="38404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300" b="1">
                <a:solidFill>
                  <a:srgbClr val="FFFFFF"/>
                </a:solidFill>
              </a:rPr>
              <a:t>8</a:t>
            </a:r>
          </a:p>
        </p:txBody>
      </p:sp>
      <p:sp>
        <p:nvSpPr>
          <p:cNvPr id="50" name="TextBox 49"/>
          <p:cNvSpPr txBox="1"/>
          <p:nvPr/>
        </p:nvSpPr>
        <p:spPr>
          <a:xfrm>
            <a:off x="9555480" y="4160520"/>
            <a:ext cx="1810512" cy="219456"/>
          </a:xfrm>
          <a:prstGeom prst="rect">
            <a:avLst/>
          </a:prstGeom>
          <a:noFill/>
        </p:spPr>
        <p:txBody>
          <a:bodyPr wrap="square" lIns="0" tIns="0" rIns="0" bIns="0" anchor="t">
            <a:noAutofit/>
          </a:bodyPr>
          <a:lstStyle/>
          <a:p>
            <a:pPr algn="l"/>
            <a:r>
              <a:rPr sz="900" b="1">
                <a:solidFill>
                  <a:srgbClr val="CC0000"/>
                </a:solidFill>
              </a:rPr>
              <a:t>EVALUATION · OUTPUT</a:t>
            </a:r>
          </a:p>
        </p:txBody>
      </p:sp>
      <p:sp>
        <p:nvSpPr>
          <p:cNvPr id="51" name="TextBox 50"/>
          <p:cNvSpPr txBox="1"/>
          <p:nvPr/>
        </p:nvSpPr>
        <p:spPr>
          <a:xfrm>
            <a:off x="9555480" y="4343400"/>
            <a:ext cx="1810512" cy="310896"/>
          </a:xfrm>
          <a:prstGeom prst="rect">
            <a:avLst/>
          </a:prstGeom>
          <a:noFill/>
        </p:spPr>
        <p:txBody>
          <a:bodyPr wrap="square" lIns="0" tIns="0" rIns="0" bIns="0" anchor="t">
            <a:noAutofit/>
          </a:bodyPr>
          <a:lstStyle/>
          <a:p>
            <a:pPr algn="l"/>
            <a:r>
              <a:rPr sz="1400" b="1">
                <a:solidFill>
                  <a:srgbClr val="193054"/>
                </a:solidFill>
              </a:rPr>
              <a:t>Recommend &amp; audit</a:t>
            </a:r>
          </a:p>
        </p:txBody>
      </p:sp>
      <p:sp>
        <p:nvSpPr>
          <p:cNvPr id="52" name="TextBox 51"/>
          <p:cNvSpPr txBox="1"/>
          <p:nvPr/>
        </p:nvSpPr>
        <p:spPr>
          <a:xfrm>
            <a:off x="9116568" y="4709160"/>
            <a:ext cx="2212848" cy="886968"/>
          </a:xfrm>
          <a:prstGeom prst="rect">
            <a:avLst/>
          </a:prstGeom>
          <a:noFill/>
        </p:spPr>
        <p:txBody>
          <a:bodyPr wrap="square" lIns="0" tIns="0" rIns="0" bIns="0" anchor="t">
            <a:noAutofit/>
          </a:bodyPr>
          <a:lstStyle/>
          <a:p>
            <a:pPr algn="l"/>
            <a:r>
              <a:rPr sz="1150" b="0">
                <a:solidFill>
                  <a:srgbClr val="1F2933"/>
                </a:solidFill>
              </a:rPr>
              <a:t>Approve, MFA, block or analyst review, with rule trail, PDF and audit log</a:t>
            </a:r>
          </a:p>
        </p:txBody>
      </p:sp>
      <p:cxnSp>
        <p:nvCxnSpPr>
          <p:cNvPr id="53" name="Connector 52"/>
          <p:cNvCxnSpPr/>
          <p:nvPr/>
        </p:nvCxnSpPr>
        <p:spPr>
          <a:xfrm>
            <a:off x="10213848" y="3401568"/>
            <a:ext cx="0" cy="333756"/>
          </a:xfrm>
          <a:prstGeom prst="line">
            <a:avLst/>
          </a:prstGeom>
          <a:ln w="25400">
            <a:solidFill>
              <a:srgbClr val="CC00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984248" y="3735324"/>
            <a:ext cx="8229600" cy="0"/>
          </a:xfrm>
          <a:prstGeom prst="line">
            <a:avLst/>
          </a:prstGeom>
          <a:ln w="25400">
            <a:solidFill>
              <a:srgbClr val="CC00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984248" y="3735324"/>
            <a:ext cx="0" cy="333756"/>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58952" y="5733288"/>
            <a:ext cx="10698480" cy="292608"/>
          </a:xfrm>
          <a:prstGeom prst="rect">
            <a:avLst/>
          </a:prstGeom>
          <a:noFill/>
        </p:spPr>
        <p:txBody>
          <a:bodyPr wrap="square" lIns="36576" tIns="36576" rIns="36576" bIns="36576" anchor="t">
            <a:noAutofit/>
          </a:bodyPr>
          <a:lstStyle/>
          <a:p>
            <a:pPr algn="l"/>
            <a:r>
              <a:rPr sz="1150" b="1">
                <a:solidFill>
                  <a:srgbClr val="44505C"/>
                </a:solidFill>
              </a:rPr>
              <a:t>Feedback loop: </a:t>
            </a:r>
            <a:r>
              <a:rPr sz="1150" b="0">
                <a:solidFill>
                  <a:srgbClr val="44505C"/>
                </a:solidFill>
              </a:rPr>
              <a:t>findings from testing and the demo data go back into steps 3–6 to refine predicates, rules and conflict order.</a:t>
            </a:r>
          </a:p>
        </p:txBody>
      </p:sp>
    </p:spTree>
    <p:extLst>
      <p:ext uri="{BB962C8B-B14F-4D97-AF65-F5344CB8AC3E}">
        <p14:creationId xmlns:p14="http://schemas.microsoft.com/office/powerpoint/2010/main" val="2967815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Tools and Technologies</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12</a:t>
            </a:fld>
            <a:endParaRPr lang="en-IN"/>
          </a:p>
        </p:txBody>
      </p:sp>
      <p:graphicFrame>
        <p:nvGraphicFramePr>
          <p:cNvPr id="7" name="Table 6"/>
          <p:cNvGraphicFramePr>
            <a:graphicFrameLocks noGrp="1"/>
          </p:cNvGraphicFramePr>
          <p:nvPr/>
        </p:nvGraphicFramePr>
        <p:xfrm>
          <a:off x="758952" y="1783080"/>
          <a:ext cx="10698480" cy="4023360"/>
        </p:xfrm>
        <a:graphic>
          <a:graphicData uri="http://schemas.openxmlformats.org/drawingml/2006/table">
            <a:tbl>
              <a:tblPr firstRow="1" bandRow="1">
                <a:tableStyleId>{5C22544A-7EE6-4342-B048-85BDC9FD1C3A}</a:tableStyleId>
              </a:tblPr>
              <a:tblGrid>
                <a:gridCol w="2331720"/>
                <a:gridCol w="4800600"/>
                <a:gridCol w="3566160"/>
              </a:tblGrid>
              <a:tr h="457200">
                <a:tc>
                  <a:txBody>
                    <a:bodyPr/>
                    <a:lstStyle/>
                    <a:p>
                      <a:pPr algn="l"/>
                      <a:r>
                        <a:rPr sz="1400" b="1">
                          <a:solidFill>
                            <a:srgbClr val="FFFFFF"/>
                          </a:solidFill>
                        </a:rPr>
                        <a:t>Category</a:t>
                      </a:r>
                    </a:p>
                  </a:txBody>
                  <a:tcPr marL="64008" marR="64008" marT="27432" marB="27432" anchor="ctr">
                    <a:solidFill>
                      <a:srgbClr val="2A67B0"/>
                    </a:solidFill>
                  </a:tcPr>
                </a:tc>
                <a:tc>
                  <a:txBody>
                    <a:bodyPr/>
                    <a:lstStyle/>
                    <a:p>
                      <a:pPr algn="l"/>
                      <a:r>
                        <a:rPr sz="1400" b="1">
                          <a:solidFill>
                            <a:srgbClr val="FFFFFF"/>
                          </a:solidFill>
                        </a:rPr>
                        <a:t>Used in this project</a:t>
                      </a:r>
                    </a:p>
                  </a:txBody>
                  <a:tcPr marL="64008" marR="64008" marT="27432" marB="27432" anchor="ctr">
                    <a:solidFill>
                      <a:srgbClr val="2A67B0"/>
                    </a:solidFill>
                  </a:tcPr>
                </a:tc>
                <a:tc>
                  <a:txBody>
                    <a:bodyPr/>
                    <a:lstStyle/>
                    <a:p>
                      <a:pPr algn="l"/>
                      <a:r>
                        <a:rPr sz="1400" b="1">
                          <a:solidFill>
                            <a:srgbClr val="FFFFFF"/>
                          </a:solidFill>
                        </a:rPr>
                        <a:t>Why</a:t>
                      </a:r>
                    </a:p>
                  </a:txBody>
                  <a:tcPr marL="64008" marR="64008" marT="27432" marB="27432" anchor="ctr">
                    <a:solidFill>
                      <a:srgbClr val="2A67B0"/>
                    </a:solidFill>
                  </a:tcPr>
                </a:tc>
              </a:tr>
              <a:tr h="713232">
                <a:tc>
                  <a:txBody>
                    <a:bodyPr/>
                    <a:lstStyle/>
                    <a:p>
                      <a:pPr algn="l"/>
                      <a:r>
                        <a:rPr sz="1300" b="1">
                          <a:solidFill>
                            <a:srgbClr val="1F2933"/>
                          </a:solidFill>
                        </a:rPr>
                        <a:t>Programming languages</a:t>
                      </a:r>
                    </a:p>
                  </a:txBody>
                  <a:tcPr marL="64008" marR="64008" marT="27432" marB="27432" anchor="ctr">
                    <a:solidFill>
                      <a:srgbClr val="FFFFFF"/>
                    </a:solidFill>
                  </a:tcPr>
                </a:tc>
                <a:tc>
                  <a:txBody>
                    <a:bodyPr/>
                    <a:lstStyle/>
                    <a:p>
                      <a:pPr algn="l"/>
                      <a:r>
                        <a:rPr sz="1300" b="0">
                          <a:solidFill>
                            <a:srgbClr val="1F2933"/>
                          </a:solidFill>
                        </a:rPr>
                        <a:t>Python · TypeScript · SQL · HTML5 · CSS3</a:t>
                      </a:r>
                    </a:p>
                  </a:txBody>
                  <a:tcPr marL="64008" marR="64008" marT="27432" marB="27432" anchor="ctr">
                    <a:solidFill>
                      <a:srgbClr val="FFFFFF"/>
                    </a:solidFill>
                  </a:tcPr>
                </a:tc>
                <a:tc>
                  <a:txBody>
                    <a:bodyPr/>
                    <a:lstStyle/>
                    <a:p>
                      <a:pPr algn="l"/>
                      <a:r>
                        <a:rPr sz="1300" b="0">
                          <a:solidFill>
                            <a:srgbClr val="1F2933"/>
                          </a:solidFill>
                        </a:rPr>
                        <a:t>Python for the rule engine and API; TypeScript for a type-safe UI</a:t>
                      </a:r>
                    </a:p>
                  </a:txBody>
                  <a:tcPr marL="64008" marR="64008" marT="27432" marB="27432" anchor="ctr">
                    <a:solidFill>
                      <a:srgbClr val="FFFFFF"/>
                    </a:solidFill>
                  </a:tcPr>
                </a:tc>
              </a:tr>
              <a:tr h="713232">
                <a:tc>
                  <a:txBody>
                    <a:bodyPr/>
                    <a:lstStyle/>
                    <a:p>
                      <a:pPr algn="l"/>
                      <a:r>
                        <a:rPr sz="1300" b="1">
                          <a:solidFill>
                            <a:srgbClr val="1F2933"/>
                          </a:solidFill>
                        </a:rPr>
                        <a:t>Libraries / frameworks</a:t>
                      </a:r>
                    </a:p>
                  </a:txBody>
                  <a:tcPr marL="64008" marR="64008" marT="27432" marB="27432" anchor="ctr">
                    <a:solidFill>
                      <a:srgbClr val="EEF3FA"/>
                    </a:solidFill>
                  </a:tcPr>
                </a:tc>
                <a:tc>
                  <a:txBody>
                    <a:bodyPr/>
                    <a:lstStyle/>
                    <a:p>
                      <a:pPr algn="l"/>
                      <a:r>
                        <a:rPr sz="1300" b="0">
                          <a:solidFill>
                            <a:srgbClr val="1F2933"/>
                          </a:solidFill>
                        </a:rPr>
                        <a:t>FastAPI · Pydantic · SQLAlchemy · SQLite · React · Vite · Tailwind CSS</a:t>
                      </a:r>
                    </a:p>
                  </a:txBody>
                  <a:tcPr marL="64008" marR="64008" marT="27432" marB="27432" anchor="ctr">
                    <a:solidFill>
                      <a:srgbClr val="EEF3FA"/>
                    </a:solidFill>
                  </a:tcPr>
                </a:tc>
                <a:tc>
                  <a:txBody>
                    <a:bodyPr/>
                    <a:lstStyle/>
                    <a:p>
                      <a:pPr algn="l"/>
                      <a:r>
                        <a:rPr sz="1300" b="0">
                          <a:solidFill>
                            <a:srgbClr val="1F2933"/>
                          </a:solidFill>
                        </a:rPr>
                        <a:t>Typed validation from request to database; fast modern frontend</a:t>
                      </a:r>
                    </a:p>
                  </a:txBody>
                  <a:tcPr marL="64008" marR="64008" marT="27432" marB="27432" anchor="ctr">
                    <a:solidFill>
                      <a:srgbClr val="EEF3FA"/>
                    </a:solidFill>
                  </a:tcPr>
                </a:tc>
              </a:tr>
              <a:tr h="713232">
                <a:tc>
                  <a:txBody>
                    <a:bodyPr/>
                    <a:lstStyle/>
                    <a:p>
                      <a:pPr algn="l"/>
                      <a:r>
                        <a:rPr sz="1300" b="1">
                          <a:solidFill>
                            <a:srgbClr val="1F2933"/>
                          </a:solidFill>
                        </a:rPr>
                        <a:t>Software / tools</a:t>
                      </a:r>
                    </a:p>
                  </a:txBody>
                  <a:tcPr marL="64008" marR="64008" marT="27432" marB="27432" anchor="ctr">
                    <a:solidFill>
                      <a:srgbClr val="FFFFFF"/>
                    </a:solidFill>
                  </a:tcPr>
                </a:tc>
                <a:tc>
                  <a:txBody>
                    <a:bodyPr/>
                    <a:lstStyle/>
                    <a:p>
                      <a:pPr algn="l"/>
                      <a:r>
                        <a:rPr sz="1300" b="0">
                          <a:solidFill>
                            <a:srgbClr val="1F2933"/>
                          </a:solidFill>
                        </a:rPr>
                        <a:t>pytest · Playwright · run.bat · Docker (optional)</a:t>
                      </a:r>
                    </a:p>
                  </a:txBody>
                  <a:tcPr marL="64008" marR="64008" marT="27432" marB="27432" anchor="ctr">
                    <a:solidFill>
                      <a:srgbClr val="FFFFFF"/>
                    </a:solidFill>
                  </a:tcPr>
                </a:tc>
                <a:tc>
                  <a:txBody>
                    <a:bodyPr/>
                    <a:lstStyle/>
                    <a:p>
                      <a:pPr algn="l"/>
                      <a:r>
                        <a:rPr sz="1300" b="0">
                          <a:solidFill>
                            <a:srgbClr val="1F2933"/>
                          </a:solidFill>
                        </a:rPr>
                        <a:t>Automated tests; one-click start on Windows</a:t>
                      </a:r>
                    </a:p>
                  </a:txBody>
                  <a:tcPr marL="64008" marR="64008" marT="27432" marB="27432" anchor="ctr">
                    <a:solidFill>
                      <a:srgbClr val="FFFFFF"/>
                    </a:solidFill>
                  </a:tcPr>
                </a:tc>
              </a:tr>
              <a:tr h="713232">
                <a:tc>
                  <a:txBody>
                    <a:bodyPr/>
                    <a:lstStyle/>
                    <a:p>
                      <a:pPr algn="l"/>
                      <a:r>
                        <a:rPr sz="1300" b="1">
                          <a:solidFill>
                            <a:srgbClr val="1F2933"/>
                          </a:solidFill>
                        </a:rPr>
                        <a:t>Hardware</a:t>
                      </a:r>
                    </a:p>
                  </a:txBody>
                  <a:tcPr marL="64008" marR="64008" marT="27432" marB="27432" anchor="ctr">
                    <a:solidFill>
                      <a:srgbClr val="EEF3FA"/>
                    </a:solidFill>
                  </a:tcPr>
                </a:tc>
                <a:tc>
                  <a:txBody>
                    <a:bodyPr/>
                    <a:lstStyle/>
                    <a:p>
                      <a:pPr algn="l"/>
                      <a:r>
                        <a:rPr sz="1300" b="0">
                          <a:solidFill>
                            <a:srgbClr val="1F2933"/>
                          </a:solidFill>
                        </a:rPr>
                        <a:t>Any CPU-only PC or laptop running Windows 10/11</a:t>
                      </a:r>
                    </a:p>
                  </a:txBody>
                  <a:tcPr marL="64008" marR="64008" marT="27432" marB="27432" anchor="ctr">
                    <a:solidFill>
                      <a:srgbClr val="EEF3FA"/>
                    </a:solidFill>
                  </a:tcPr>
                </a:tc>
                <a:tc>
                  <a:txBody>
                    <a:bodyPr/>
                    <a:lstStyle/>
                    <a:p>
                      <a:pPr algn="l"/>
                      <a:r>
                        <a:rPr sz="1300" b="0">
                          <a:solidFill>
                            <a:srgbClr val="1F2933"/>
                          </a:solidFill>
                        </a:rPr>
                        <a:t>Rule-based inference needs no GPU</a:t>
                      </a:r>
                    </a:p>
                  </a:txBody>
                  <a:tcPr marL="64008" marR="64008" marT="27432" marB="27432" anchor="ctr">
                    <a:solidFill>
                      <a:srgbClr val="EEF3FA"/>
                    </a:solidFill>
                  </a:tcPr>
                </a:tc>
              </a:tr>
              <a:tr h="713232">
                <a:tc>
                  <a:txBody>
                    <a:bodyPr/>
                    <a:lstStyle/>
                    <a:p>
                      <a:pPr algn="l"/>
                      <a:r>
                        <a:rPr sz="1300" b="1">
                          <a:solidFill>
                            <a:srgbClr val="1F2933"/>
                          </a:solidFill>
                        </a:rPr>
                        <a:t>Dataset</a:t>
                      </a:r>
                    </a:p>
                  </a:txBody>
                  <a:tcPr marL="64008" marR="64008" marT="27432" marB="27432" anchor="ctr">
                    <a:solidFill>
                      <a:srgbClr val="FFFFFF"/>
                    </a:solidFill>
                  </a:tcPr>
                </a:tc>
                <a:tc>
                  <a:txBody>
                    <a:bodyPr/>
                    <a:lstStyle/>
                    <a:p>
                      <a:pPr algn="l"/>
                      <a:r>
                        <a:rPr sz="1300" b="0">
                          <a:solidFill>
                            <a:srgbClr val="1F2933"/>
                          </a:solidFill>
                        </a:rPr>
                        <a:t>No training dataset: knowledge is written as rules. 74 clearly labelled synthetic demonstration transactions (incl. TXN001 critical, TXN002 normal)</a:t>
                      </a:r>
                    </a:p>
                  </a:txBody>
                  <a:tcPr marL="64008" marR="64008" marT="27432" marB="27432" anchor="ctr">
                    <a:solidFill>
                      <a:srgbClr val="FFFFFF"/>
                    </a:solidFill>
                  </a:tcPr>
                </a:tc>
                <a:tc>
                  <a:txBody>
                    <a:bodyPr/>
                    <a:lstStyle/>
                    <a:p>
                      <a:pPr algn="l"/>
                      <a:r>
                        <a:rPr sz="1300" b="0">
                          <a:solidFill>
                            <a:srgbClr val="1F2933"/>
                          </a:solidFill>
                        </a:rPr>
                        <a:t>Rules replace training data; synthetic records only demonstrate behaviour</a:t>
                      </a:r>
                    </a:p>
                  </a:txBody>
                  <a:tcPr marL="64008" marR="64008" marT="27432" marB="27432" anchor="ctr">
                    <a:solidFill>
                      <a:srgbClr val="FFFFFF"/>
                    </a:solidFill>
                  </a:tcPr>
                </a:tc>
              </a:tr>
            </a:tbl>
          </a:graphicData>
        </a:graphic>
      </p:graphicFrame>
    </p:spTree>
    <p:extLst>
      <p:ext uri="{BB962C8B-B14F-4D97-AF65-F5344CB8AC3E}">
        <p14:creationId xmlns:p14="http://schemas.microsoft.com/office/powerpoint/2010/main" val="3478475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altLang="en-US" sz="3200" b="1" dirty="0">
                <a:solidFill>
                  <a:srgbClr val="FF0000"/>
                </a:solidFill>
              </a:rPr>
              <a:t>List of Modules</a:t>
            </a:r>
            <a:endParaRPr lang="en-IN" sz="2800" dirty="0"/>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13</a:t>
            </a:fld>
            <a:endParaRPr lang="en-IN"/>
          </a:p>
        </p:txBody>
      </p:sp>
      <p:sp>
        <p:nvSpPr>
          <p:cNvPr id="7" name="Rounded Rectangle 6"/>
          <p:cNvSpPr/>
          <p:nvPr/>
        </p:nvSpPr>
        <p:spPr>
          <a:xfrm>
            <a:off x="758952" y="1783080"/>
            <a:ext cx="6949440" cy="749808"/>
          </a:xfrm>
          <a:prstGeom prst="roundRect">
            <a:avLst>
              <a:gd name="adj" fmla="val 10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8" name="Oval 7"/>
          <p:cNvSpPr/>
          <p:nvPr/>
        </p:nvSpPr>
        <p:spPr>
          <a:xfrm>
            <a:off x="896112" y="1938528"/>
            <a:ext cx="438912" cy="438912"/>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a:solidFill>
                  <a:srgbClr val="FFFFFF"/>
                </a:solidFill>
              </a:rPr>
              <a:t>M1</a:t>
            </a:r>
          </a:p>
        </p:txBody>
      </p:sp>
      <p:sp>
        <p:nvSpPr>
          <p:cNvPr id="9" name="TextBox 8"/>
          <p:cNvSpPr txBox="1"/>
          <p:nvPr/>
        </p:nvSpPr>
        <p:spPr>
          <a:xfrm>
            <a:off x="1463040" y="1828800"/>
            <a:ext cx="3657600" cy="329184"/>
          </a:xfrm>
          <a:prstGeom prst="rect">
            <a:avLst/>
          </a:prstGeom>
          <a:noFill/>
        </p:spPr>
        <p:txBody>
          <a:bodyPr wrap="square" lIns="36576" tIns="36576" rIns="36576" bIns="36576" anchor="ctr">
            <a:noAutofit/>
          </a:bodyPr>
          <a:lstStyle/>
          <a:p>
            <a:pPr algn="l"/>
            <a:r>
              <a:rPr sz="1450" b="1">
                <a:solidFill>
                  <a:srgbClr val="193054"/>
                </a:solidFill>
              </a:rPr>
              <a:t>Knowledge Base</a:t>
            </a:r>
          </a:p>
        </p:txBody>
      </p:sp>
      <p:sp>
        <p:nvSpPr>
          <p:cNvPr id="10" name="TextBox 9"/>
          <p:cNvSpPr txBox="1"/>
          <p:nvPr/>
        </p:nvSpPr>
        <p:spPr>
          <a:xfrm>
            <a:off x="4846320" y="1828800"/>
            <a:ext cx="2788920" cy="329184"/>
          </a:xfrm>
          <a:prstGeom prst="rect">
            <a:avLst/>
          </a:prstGeom>
          <a:noFill/>
        </p:spPr>
        <p:txBody>
          <a:bodyPr wrap="square" lIns="36576" tIns="36576" rIns="36576" bIns="36576" anchor="ctr">
            <a:noAutofit/>
          </a:bodyPr>
          <a:lstStyle/>
          <a:p>
            <a:pPr algn="r"/>
            <a:r>
              <a:rPr sz="1000" b="0">
                <a:solidFill>
                  <a:srgbClr val="6F7B85"/>
                </a:solidFill>
              </a:rPr>
              <a:t>31 predicates · 32 rules</a:t>
            </a:r>
          </a:p>
        </p:txBody>
      </p:sp>
      <p:sp>
        <p:nvSpPr>
          <p:cNvPr id="11" name="TextBox 10"/>
          <p:cNvSpPr txBox="1"/>
          <p:nvPr/>
        </p:nvSpPr>
        <p:spPr>
          <a:xfrm>
            <a:off x="1463040" y="2148840"/>
            <a:ext cx="6172200" cy="365760"/>
          </a:xfrm>
          <a:prstGeom prst="rect">
            <a:avLst/>
          </a:prstGeom>
          <a:noFill/>
        </p:spPr>
        <p:txBody>
          <a:bodyPr wrap="square" lIns="36576" tIns="36576" rIns="36576" bIns="36576" anchor="t">
            <a:noAutofit/>
          </a:bodyPr>
          <a:lstStyle/>
          <a:p>
            <a:pPr algn="l"/>
            <a:r>
              <a:rPr sz="1150" b="0">
                <a:solidFill>
                  <a:srgbClr val="1F2933"/>
                </a:solidFill>
              </a:rPr>
              <a:t>Predicates, facts and 32 versioned IF–THEN rules over the seven inputs</a:t>
            </a:r>
          </a:p>
        </p:txBody>
      </p:sp>
      <p:sp>
        <p:nvSpPr>
          <p:cNvPr id="12" name="Rounded Rectangle 11"/>
          <p:cNvSpPr/>
          <p:nvPr/>
        </p:nvSpPr>
        <p:spPr>
          <a:xfrm>
            <a:off x="758952" y="2633472"/>
            <a:ext cx="6949440" cy="749808"/>
          </a:xfrm>
          <a:prstGeom prst="roundRect">
            <a:avLst>
              <a:gd name="adj" fmla="val 10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13" name="Oval 12"/>
          <p:cNvSpPr/>
          <p:nvPr/>
        </p:nvSpPr>
        <p:spPr>
          <a:xfrm>
            <a:off x="896112" y="2788920"/>
            <a:ext cx="438912" cy="438912"/>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a:solidFill>
                  <a:srgbClr val="FFFFFF"/>
                </a:solidFill>
              </a:rPr>
              <a:t>M2</a:t>
            </a:r>
          </a:p>
        </p:txBody>
      </p:sp>
      <p:sp>
        <p:nvSpPr>
          <p:cNvPr id="14" name="TextBox 13"/>
          <p:cNvSpPr txBox="1"/>
          <p:nvPr/>
        </p:nvSpPr>
        <p:spPr>
          <a:xfrm>
            <a:off x="1463040" y="2679191"/>
            <a:ext cx="3657600" cy="329184"/>
          </a:xfrm>
          <a:prstGeom prst="rect">
            <a:avLst/>
          </a:prstGeom>
          <a:noFill/>
        </p:spPr>
        <p:txBody>
          <a:bodyPr wrap="square" lIns="36576" tIns="36576" rIns="36576" bIns="36576" anchor="ctr">
            <a:noAutofit/>
          </a:bodyPr>
          <a:lstStyle/>
          <a:p>
            <a:pPr algn="l"/>
            <a:r>
              <a:rPr sz="1450" b="1">
                <a:solidFill>
                  <a:srgbClr val="193054"/>
                </a:solidFill>
              </a:rPr>
              <a:t>Inference Engine</a:t>
            </a:r>
          </a:p>
        </p:txBody>
      </p:sp>
      <p:sp>
        <p:nvSpPr>
          <p:cNvPr id="15" name="TextBox 14"/>
          <p:cNvSpPr txBox="1"/>
          <p:nvPr/>
        </p:nvSpPr>
        <p:spPr>
          <a:xfrm>
            <a:off x="4846320" y="2679191"/>
            <a:ext cx="2788920" cy="329184"/>
          </a:xfrm>
          <a:prstGeom prst="rect">
            <a:avLst/>
          </a:prstGeom>
          <a:noFill/>
        </p:spPr>
        <p:txBody>
          <a:bodyPr wrap="square" lIns="36576" tIns="36576" rIns="36576" bIns="36576" anchor="ctr">
            <a:noAutofit/>
          </a:bodyPr>
          <a:lstStyle/>
          <a:p>
            <a:pPr algn="r"/>
            <a:r>
              <a:rPr sz="1000" b="0">
                <a:solidFill>
                  <a:srgbClr val="6F7B85"/>
                </a:solidFill>
              </a:rPr>
              <a:t>forward chaining</a:t>
            </a:r>
          </a:p>
        </p:txBody>
      </p:sp>
      <p:sp>
        <p:nvSpPr>
          <p:cNvPr id="16" name="TextBox 15"/>
          <p:cNvSpPr txBox="1"/>
          <p:nvPr/>
        </p:nvSpPr>
        <p:spPr>
          <a:xfrm>
            <a:off x="1463040" y="2999232"/>
            <a:ext cx="6172200" cy="365760"/>
          </a:xfrm>
          <a:prstGeom prst="rect">
            <a:avLst/>
          </a:prstGeom>
          <a:noFill/>
        </p:spPr>
        <p:txBody>
          <a:bodyPr wrap="square" lIns="36576" tIns="36576" rIns="36576" bIns="36576" anchor="t">
            <a:noAutofit/>
          </a:bodyPr>
          <a:lstStyle/>
          <a:p>
            <a:pPr algn="l"/>
            <a:r>
              <a:rPr sz="1150" b="0">
                <a:solidFill>
                  <a:srgbClr val="1F2933"/>
                </a:solidFill>
              </a:rPr>
              <a:t>Rule matching, forward chaining, conflict resolution and risk tier</a:t>
            </a:r>
          </a:p>
        </p:txBody>
      </p:sp>
      <p:sp>
        <p:nvSpPr>
          <p:cNvPr id="17" name="Rounded Rectangle 16"/>
          <p:cNvSpPr/>
          <p:nvPr/>
        </p:nvSpPr>
        <p:spPr>
          <a:xfrm>
            <a:off x="758952" y="3483864"/>
            <a:ext cx="6949440" cy="749808"/>
          </a:xfrm>
          <a:prstGeom prst="roundRect">
            <a:avLst>
              <a:gd name="adj" fmla="val 10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18" name="Oval 17"/>
          <p:cNvSpPr/>
          <p:nvPr/>
        </p:nvSpPr>
        <p:spPr>
          <a:xfrm>
            <a:off x="896112" y="3639312"/>
            <a:ext cx="438912" cy="438912"/>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a:solidFill>
                  <a:srgbClr val="FFFFFF"/>
                </a:solidFill>
              </a:rPr>
              <a:t>M3</a:t>
            </a:r>
          </a:p>
        </p:txBody>
      </p:sp>
      <p:sp>
        <p:nvSpPr>
          <p:cNvPr id="19" name="TextBox 18"/>
          <p:cNvSpPr txBox="1"/>
          <p:nvPr/>
        </p:nvSpPr>
        <p:spPr>
          <a:xfrm>
            <a:off x="1463040" y="3529584"/>
            <a:ext cx="3657600" cy="329184"/>
          </a:xfrm>
          <a:prstGeom prst="rect">
            <a:avLst/>
          </a:prstGeom>
          <a:noFill/>
        </p:spPr>
        <p:txBody>
          <a:bodyPr wrap="square" lIns="36576" tIns="36576" rIns="36576" bIns="36576" anchor="ctr">
            <a:noAutofit/>
          </a:bodyPr>
          <a:lstStyle/>
          <a:p>
            <a:pPr algn="l"/>
            <a:r>
              <a:rPr sz="1450" b="1">
                <a:solidFill>
                  <a:srgbClr val="193054"/>
                </a:solidFill>
              </a:rPr>
              <a:t>Interface</a:t>
            </a:r>
          </a:p>
        </p:txBody>
      </p:sp>
      <p:sp>
        <p:nvSpPr>
          <p:cNvPr id="20" name="TextBox 19"/>
          <p:cNvSpPr txBox="1"/>
          <p:nvPr/>
        </p:nvSpPr>
        <p:spPr>
          <a:xfrm>
            <a:off x="4846320" y="3529584"/>
            <a:ext cx="2788920" cy="329184"/>
          </a:xfrm>
          <a:prstGeom prst="rect">
            <a:avLst/>
          </a:prstGeom>
          <a:noFill/>
        </p:spPr>
        <p:txBody>
          <a:bodyPr wrap="square" lIns="36576" tIns="36576" rIns="36576" bIns="36576" anchor="ctr">
            <a:noAutofit/>
          </a:bodyPr>
          <a:lstStyle/>
          <a:p>
            <a:pPr algn="r"/>
            <a:r>
              <a:rPr sz="1000" b="0">
                <a:solidFill>
                  <a:srgbClr val="6F7B85"/>
                </a:solidFill>
              </a:rPr>
              <a:t>FastAPI · React</a:t>
            </a:r>
          </a:p>
        </p:txBody>
      </p:sp>
      <p:sp>
        <p:nvSpPr>
          <p:cNvPr id="21" name="TextBox 20"/>
          <p:cNvSpPr txBox="1"/>
          <p:nvPr/>
        </p:nvSpPr>
        <p:spPr>
          <a:xfrm>
            <a:off x="1463040" y="3849624"/>
            <a:ext cx="6172200" cy="365760"/>
          </a:xfrm>
          <a:prstGeom prst="rect">
            <a:avLst/>
          </a:prstGeom>
          <a:noFill/>
        </p:spPr>
        <p:txBody>
          <a:bodyPr wrap="square" lIns="36576" tIns="36576" rIns="36576" bIns="36576" anchor="t">
            <a:noAutofit/>
          </a:bodyPr>
          <a:lstStyle/>
          <a:p>
            <a:pPr algn="l"/>
            <a:r>
              <a:rPr sz="1150" b="0">
                <a:solidFill>
                  <a:srgbClr val="1F2933"/>
                </a:solidFill>
              </a:rPr>
              <a:t>React + TypeScript console (10 pages) and FastAPI service</a:t>
            </a:r>
          </a:p>
        </p:txBody>
      </p:sp>
      <p:sp>
        <p:nvSpPr>
          <p:cNvPr id="22" name="Rounded Rectangle 21"/>
          <p:cNvSpPr/>
          <p:nvPr/>
        </p:nvSpPr>
        <p:spPr>
          <a:xfrm>
            <a:off x="758952" y="4334256"/>
            <a:ext cx="6949440" cy="749808"/>
          </a:xfrm>
          <a:prstGeom prst="roundRect">
            <a:avLst>
              <a:gd name="adj" fmla="val 10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23" name="Oval 22"/>
          <p:cNvSpPr/>
          <p:nvPr/>
        </p:nvSpPr>
        <p:spPr>
          <a:xfrm>
            <a:off x="896112" y="4489704"/>
            <a:ext cx="438912" cy="438912"/>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a:solidFill>
                  <a:srgbClr val="FFFFFF"/>
                </a:solidFill>
              </a:rPr>
              <a:t>M4</a:t>
            </a:r>
          </a:p>
        </p:txBody>
      </p:sp>
      <p:sp>
        <p:nvSpPr>
          <p:cNvPr id="24" name="TextBox 23"/>
          <p:cNvSpPr txBox="1"/>
          <p:nvPr/>
        </p:nvSpPr>
        <p:spPr>
          <a:xfrm>
            <a:off x="1463040" y="4379976"/>
            <a:ext cx="3657600" cy="329184"/>
          </a:xfrm>
          <a:prstGeom prst="rect">
            <a:avLst/>
          </a:prstGeom>
          <a:noFill/>
        </p:spPr>
        <p:txBody>
          <a:bodyPr wrap="square" lIns="36576" tIns="36576" rIns="36576" bIns="36576" anchor="ctr">
            <a:noAutofit/>
          </a:bodyPr>
          <a:lstStyle/>
          <a:p>
            <a:pPr algn="l"/>
            <a:r>
              <a:rPr sz="1450" b="1">
                <a:solidFill>
                  <a:srgbClr val="193054"/>
                </a:solidFill>
              </a:rPr>
              <a:t>Data</a:t>
            </a:r>
          </a:p>
        </p:txBody>
      </p:sp>
      <p:sp>
        <p:nvSpPr>
          <p:cNvPr id="25" name="TextBox 24"/>
          <p:cNvSpPr txBox="1"/>
          <p:nvPr/>
        </p:nvSpPr>
        <p:spPr>
          <a:xfrm>
            <a:off x="4846320" y="4379976"/>
            <a:ext cx="2788920" cy="329184"/>
          </a:xfrm>
          <a:prstGeom prst="rect">
            <a:avLst/>
          </a:prstGeom>
          <a:noFill/>
        </p:spPr>
        <p:txBody>
          <a:bodyPr wrap="square" lIns="36576" tIns="36576" rIns="36576" bIns="36576" anchor="ctr">
            <a:noAutofit/>
          </a:bodyPr>
          <a:lstStyle/>
          <a:p>
            <a:pPr algn="r"/>
            <a:r>
              <a:rPr sz="1000" b="0">
                <a:solidFill>
                  <a:srgbClr val="6F7B85"/>
                </a:solidFill>
              </a:rPr>
              <a:t>SQLAlchemy · SQLite</a:t>
            </a:r>
          </a:p>
        </p:txBody>
      </p:sp>
      <p:sp>
        <p:nvSpPr>
          <p:cNvPr id="26" name="TextBox 25"/>
          <p:cNvSpPr txBox="1"/>
          <p:nvPr/>
        </p:nvSpPr>
        <p:spPr>
          <a:xfrm>
            <a:off x="1463040" y="4700016"/>
            <a:ext cx="6172200" cy="365760"/>
          </a:xfrm>
          <a:prstGeom prst="rect">
            <a:avLst/>
          </a:prstGeom>
          <a:noFill/>
        </p:spPr>
        <p:txBody>
          <a:bodyPr wrap="square" lIns="36576" tIns="36576" rIns="36576" bIns="36576" anchor="t">
            <a:noAutofit/>
          </a:bodyPr>
          <a:lstStyle/>
          <a:p>
            <a:pPr algn="l"/>
            <a:r>
              <a:rPr sz="1150" b="0">
                <a:solidFill>
                  <a:srgbClr val="1F2933"/>
                </a:solidFill>
              </a:rPr>
              <a:t>Storage of evaluations, reports and audit logs; synthetic demo data</a:t>
            </a:r>
          </a:p>
        </p:txBody>
      </p:sp>
      <p:sp>
        <p:nvSpPr>
          <p:cNvPr id="27" name="Rounded Rectangle 26"/>
          <p:cNvSpPr/>
          <p:nvPr/>
        </p:nvSpPr>
        <p:spPr>
          <a:xfrm>
            <a:off x="758952" y="5184648"/>
            <a:ext cx="6949440" cy="749808"/>
          </a:xfrm>
          <a:prstGeom prst="roundRect">
            <a:avLst>
              <a:gd name="adj" fmla="val 10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endParaRPr/>
          </a:p>
        </p:txBody>
      </p:sp>
      <p:sp>
        <p:nvSpPr>
          <p:cNvPr id="28" name="Oval 27"/>
          <p:cNvSpPr/>
          <p:nvPr/>
        </p:nvSpPr>
        <p:spPr>
          <a:xfrm>
            <a:off x="896112" y="5340096"/>
            <a:ext cx="438912" cy="438912"/>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a:solidFill>
                  <a:srgbClr val="FFFFFF"/>
                </a:solidFill>
              </a:rPr>
              <a:t>M5</a:t>
            </a:r>
          </a:p>
        </p:txBody>
      </p:sp>
      <p:sp>
        <p:nvSpPr>
          <p:cNvPr id="29" name="TextBox 28"/>
          <p:cNvSpPr txBox="1"/>
          <p:nvPr/>
        </p:nvSpPr>
        <p:spPr>
          <a:xfrm>
            <a:off x="1463040" y="5230368"/>
            <a:ext cx="3657600" cy="329184"/>
          </a:xfrm>
          <a:prstGeom prst="rect">
            <a:avLst/>
          </a:prstGeom>
          <a:noFill/>
        </p:spPr>
        <p:txBody>
          <a:bodyPr wrap="square" lIns="36576" tIns="36576" rIns="36576" bIns="36576" anchor="ctr">
            <a:noAutofit/>
          </a:bodyPr>
          <a:lstStyle/>
          <a:p>
            <a:pPr algn="l"/>
            <a:r>
              <a:rPr sz="1450" b="1">
                <a:solidFill>
                  <a:srgbClr val="193054"/>
                </a:solidFill>
              </a:rPr>
              <a:t>Explanation</a:t>
            </a:r>
          </a:p>
        </p:txBody>
      </p:sp>
      <p:sp>
        <p:nvSpPr>
          <p:cNvPr id="30" name="TextBox 29"/>
          <p:cNvSpPr txBox="1"/>
          <p:nvPr/>
        </p:nvSpPr>
        <p:spPr>
          <a:xfrm>
            <a:off x="4846320" y="5230368"/>
            <a:ext cx="2788920" cy="329184"/>
          </a:xfrm>
          <a:prstGeom prst="rect">
            <a:avLst/>
          </a:prstGeom>
          <a:noFill/>
        </p:spPr>
        <p:txBody>
          <a:bodyPr wrap="square" lIns="36576" tIns="36576" rIns="36576" bIns="36576" anchor="ctr">
            <a:noAutofit/>
          </a:bodyPr>
          <a:lstStyle/>
          <a:p>
            <a:pPr algn="r"/>
            <a:r>
              <a:rPr sz="1000" b="0">
                <a:solidFill>
                  <a:srgbClr val="6F7B85"/>
                </a:solidFill>
              </a:rPr>
              <a:t>XAI · PDF</a:t>
            </a:r>
          </a:p>
        </p:txBody>
      </p:sp>
      <p:sp>
        <p:nvSpPr>
          <p:cNvPr id="31" name="TextBox 30"/>
          <p:cNvSpPr txBox="1"/>
          <p:nvPr/>
        </p:nvSpPr>
        <p:spPr>
          <a:xfrm>
            <a:off x="1463040" y="5550408"/>
            <a:ext cx="6172200" cy="365760"/>
          </a:xfrm>
          <a:prstGeom prst="rect">
            <a:avLst/>
          </a:prstGeom>
          <a:noFill/>
        </p:spPr>
        <p:txBody>
          <a:bodyPr wrap="square" lIns="36576" tIns="36576" rIns="36576" bIns="36576" anchor="t">
            <a:noAutofit/>
          </a:bodyPr>
          <a:lstStyle/>
          <a:p>
            <a:pPr algn="l"/>
            <a:r>
              <a:rPr sz="1150" b="0">
                <a:solidFill>
                  <a:srgbClr val="1F2933"/>
                </a:solidFill>
              </a:rPr>
              <a:t>Reasoning chain, PDF report and audit trail behind every decision</a:t>
            </a:r>
          </a:p>
        </p:txBody>
      </p:sp>
      <p:sp>
        <p:nvSpPr>
          <p:cNvPr id="32" name="TextBox 31"/>
          <p:cNvSpPr txBox="1"/>
          <p:nvPr/>
        </p:nvSpPr>
        <p:spPr>
          <a:xfrm>
            <a:off x="8046720" y="1737360"/>
            <a:ext cx="3474720" cy="365760"/>
          </a:xfrm>
          <a:prstGeom prst="rect">
            <a:avLst/>
          </a:prstGeom>
          <a:noFill/>
        </p:spPr>
        <p:txBody>
          <a:bodyPr wrap="square" lIns="36576" tIns="36576" rIns="36576" bIns="36576" anchor="t">
            <a:noAutofit/>
          </a:bodyPr>
          <a:lstStyle/>
          <a:p>
            <a:pPr algn="l"/>
            <a:r>
              <a:rPr sz="1350" b="1">
                <a:solidFill>
                  <a:srgbClr val="CC0000"/>
                </a:solidFill>
              </a:rPr>
              <a:t>Dependencies point one way</a:t>
            </a:r>
          </a:p>
        </p:txBody>
      </p:sp>
      <p:sp>
        <p:nvSpPr>
          <p:cNvPr id="33" name="Rounded Rectangle 32"/>
          <p:cNvSpPr/>
          <p:nvPr/>
        </p:nvSpPr>
        <p:spPr>
          <a:xfrm>
            <a:off x="8046720" y="2194560"/>
            <a:ext cx="3474720" cy="530352"/>
          </a:xfrm>
          <a:prstGeom prst="roundRect">
            <a:avLst>
              <a:gd name="adj" fmla="val 12000"/>
            </a:avLst>
          </a:prstGeom>
          <a:solidFill>
            <a:srgbClr val="19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250" b="1">
                <a:solidFill>
                  <a:srgbClr val="FFFFFF"/>
                </a:solidFill>
              </a:rPr>
              <a:t>M3 Interface</a:t>
            </a:r>
          </a:p>
        </p:txBody>
      </p:sp>
      <p:cxnSp>
        <p:nvCxnSpPr>
          <p:cNvPr id="34" name="Connector 33"/>
          <p:cNvCxnSpPr/>
          <p:nvPr/>
        </p:nvCxnSpPr>
        <p:spPr>
          <a:xfrm>
            <a:off x="8589264" y="2724912"/>
            <a:ext cx="0" cy="36576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046720" y="3090672"/>
            <a:ext cx="1085087" cy="640080"/>
          </a:xfrm>
          <a:prstGeom prst="roundRect">
            <a:avLst>
              <a:gd name="adj" fmla="val 12000"/>
            </a:avLst>
          </a:prstGeom>
          <a:solidFill>
            <a:srgbClr val="EBF2FA"/>
          </a:solidFill>
          <a:ln w="12700">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050" b="1">
                <a:solidFill>
                  <a:srgbClr val="193054"/>
                </a:solidFill>
              </a:rPr>
              <a:t>M2 Inference</a:t>
            </a:r>
          </a:p>
        </p:txBody>
      </p:sp>
      <p:cxnSp>
        <p:nvCxnSpPr>
          <p:cNvPr id="36" name="Connector 35"/>
          <p:cNvCxnSpPr/>
          <p:nvPr/>
        </p:nvCxnSpPr>
        <p:spPr>
          <a:xfrm>
            <a:off x="8589264" y="3730752"/>
            <a:ext cx="0" cy="36576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784080" y="2724912"/>
            <a:ext cx="0" cy="36576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241536" y="3090672"/>
            <a:ext cx="1085087" cy="640080"/>
          </a:xfrm>
          <a:prstGeom prst="roundRect">
            <a:avLst>
              <a:gd name="adj" fmla="val 12000"/>
            </a:avLst>
          </a:prstGeom>
          <a:solidFill>
            <a:srgbClr val="EBF2FA"/>
          </a:solidFill>
          <a:ln w="12700">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050" b="1">
                <a:solidFill>
                  <a:srgbClr val="193054"/>
                </a:solidFill>
              </a:rPr>
              <a:t>M4 Data</a:t>
            </a:r>
          </a:p>
        </p:txBody>
      </p:sp>
      <p:cxnSp>
        <p:nvCxnSpPr>
          <p:cNvPr id="39" name="Connector 38"/>
          <p:cNvCxnSpPr/>
          <p:nvPr/>
        </p:nvCxnSpPr>
        <p:spPr>
          <a:xfrm>
            <a:off x="9784080" y="3730752"/>
            <a:ext cx="0" cy="36576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978896" y="2724912"/>
            <a:ext cx="0" cy="36576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0436352" y="3090672"/>
            <a:ext cx="1085087" cy="640080"/>
          </a:xfrm>
          <a:prstGeom prst="roundRect">
            <a:avLst>
              <a:gd name="adj" fmla="val 12000"/>
            </a:avLst>
          </a:prstGeom>
          <a:solidFill>
            <a:srgbClr val="EBF2FA"/>
          </a:solidFill>
          <a:ln w="12700">
            <a:solidFill>
              <a:srgbClr val="7A93B8"/>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050" b="1">
                <a:solidFill>
                  <a:srgbClr val="193054"/>
                </a:solidFill>
              </a:rPr>
              <a:t>M5 Explain</a:t>
            </a:r>
          </a:p>
        </p:txBody>
      </p:sp>
      <p:cxnSp>
        <p:nvCxnSpPr>
          <p:cNvPr id="42" name="Connector 41"/>
          <p:cNvCxnSpPr/>
          <p:nvPr/>
        </p:nvCxnSpPr>
        <p:spPr>
          <a:xfrm>
            <a:off x="10978896" y="3730752"/>
            <a:ext cx="0" cy="365760"/>
          </a:xfrm>
          <a:prstGeom prst="line">
            <a:avLst/>
          </a:prstGeom>
          <a:ln w="19050">
            <a:solidFill>
              <a:srgbClr val="44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8046720" y="4096512"/>
            <a:ext cx="3474720" cy="530352"/>
          </a:xfrm>
          <a:prstGeom prst="roundRect">
            <a:avLst>
              <a:gd name="adj" fmla="val 12000"/>
            </a:avLst>
          </a:prstGeom>
          <a:solidFill>
            <a:srgbClr val="E6EAF0"/>
          </a:solidFill>
          <a:ln w="12700">
            <a:solidFill>
              <a:srgbClr val="9AA9BC"/>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250" b="1">
                <a:solidFill>
                  <a:srgbClr val="193054"/>
                </a:solidFill>
              </a:rPr>
              <a:t>M1 Knowledge</a:t>
            </a:r>
          </a:p>
        </p:txBody>
      </p:sp>
      <p:sp>
        <p:nvSpPr>
          <p:cNvPr id="44" name="TextBox 43"/>
          <p:cNvSpPr txBox="1"/>
          <p:nvPr/>
        </p:nvSpPr>
        <p:spPr>
          <a:xfrm>
            <a:off x="8046720" y="4754880"/>
            <a:ext cx="3474720" cy="1234440"/>
          </a:xfrm>
          <a:prstGeom prst="rect">
            <a:avLst/>
          </a:prstGeom>
          <a:noFill/>
        </p:spPr>
        <p:txBody>
          <a:bodyPr wrap="square" lIns="36576" tIns="36576" rIns="36576" bIns="36576" anchor="t">
            <a:noAutofit/>
          </a:bodyPr>
          <a:lstStyle/>
          <a:p>
            <a:pPr algn="l"/>
            <a:r>
              <a:rPr sz="1100" b="0">
                <a:solidFill>
                  <a:srgbClr val="44505C"/>
                </a:solidFill>
              </a:rPr>
              <a:t>The knowledge base knows nothing else; inference uses its rules; data and explanation use both; the interface sits on top.</a:t>
            </a:r>
          </a:p>
          <a:p>
            <a:pPr algn="l">
              <a:spcBef>
                <a:spcPts val="600"/>
              </a:spcBef>
            </a:pPr>
            <a:r>
              <a:rPr sz="1100" b="1">
                <a:solidFill>
                  <a:srgbClr val="1C8553"/>
                </a:solidFill>
              </a:rPr>
              <a:t>All five modules built and running; all 6 startup checks pass.</a:t>
            </a:r>
          </a:p>
        </p:txBody>
      </p:sp>
    </p:spTree>
    <p:extLst>
      <p:ext uri="{BB962C8B-B14F-4D97-AF65-F5344CB8AC3E}">
        <p14:creationId xmlns:p14="http://schemas.microsoft.com/office/powerpoint/2010/main" val="651015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r>
              <a:rPr lang="en-US" altLang="en-US" sz="3200" b="1" dirty="0">
                <a:solidFill>
                  <a:srgbClr val="FF0000"/>
                </a:solidFill>
              </a:rPr>
              <a:t>Module Description – M1 Knowledge Base</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a:xfrm>
            <a:off x="758952" y="1737360"/>
            <a:ext cx="6858000" cy="4343400"/>
          </a:xfrm>
        </p:spPr>
        <p:txBody>
          <a:bodyPr>
            <a:noAutofit/>
          </a:bodyPr>
          <a:lstStyle/>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1" dirty="0">
                <a:solidFill>
                  <a:srgbClr val="1F2933"/>
                </a:solidFill>
              </a:rPr>
              <a:t>Purpose: </a:t>
            </a:r>
            <a:r>
              <a:rPr lang="en-IN" sz="1550" b="0" dirty="0">
                <a:solidFill>
                  <a:srgbClr val="1F2933"/>
                </a:solidFill>
              </a:rPr>
              <a:t>holds the domain knowledge: predicates, facts and IF–THEN rules that define what a risky payment looks like.</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31 predicates, such as HighAmount(x), NewLocation(x) and UntrustedDevice(x), are either observed from the input or behavioural, derived from the user's baseline.</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32 active rules (rule base v1.0.0) are data: antecedents, consequent, priority, severity, category and version.</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92 rule dependencies link each predicate to the rules that use it; the Knowledge Base page shows them.</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Facts record their source, derivation rule and parent facts, so every fact can be traced.</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No training data and no learned weights: every rule is written down and can be audited.</a:t>
            </a: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14</a:t>
            </a:fld>
            <a:endParaRPr lang="en-IN"/>
          </a:p>
        </p:txBody>
      </p:sp>
      <p:sp>
        <p:nvSpPr>
          <p:cNvPr id="7" name="Rounded Rectangle 6"/>
          <p:cNvSpPr/>
          <p:nvPr/>
        </p:nvSpPr>
        <p:spPr>
          <a:xfrm>
            <a:off x="7909560" y="1783080"/>
            <a:ext cx="3611880" cy="1005840"/>
          </a:xfrm>
          <a:prstGeom prst="roundRect">
            <a:avLst>
              <a:gd name="adj" fmla="val 12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noAutofit/>
          </a:bodyPr>
          <a:lstStyle/>
          <a:p>
            <a:pPr algn="l"/>
            <a:r>
              <a:rPr sz="1000" b="1">
                <a:solidFill>
                  <a:srgbClr val="CC0000"/>
                </a:solidFill>
              </a:rPr>
              <a:t>INPUT</a:t>
            </a:r>
          </a:p>
          <a:p>
            <a:pPr algn="l">
              <a:spcBef>
                <a:spcPts val="200"/>
              </a:spcBef>
            </a:pPr>
            <a:r>
              <a:rPr sz="1150" b="0">
                <a:solidFill>
                  <a:srgbClr val="1F2933"/>
                </a:solidFill>
              </a:rPr>
              <a:t>Seven core inputs plus the user's behavioural baseline</a:t>
            </a:r>
          </a:p>
        </p:txBody>
      </p:sp>
      <p:cxnSp>
        <p:nvCxnSpPr>
          <p:cNvPr id="8" name="Connector 7"/>
          <p:cNvCxnSpPr/>
          <p:nvPr/>
        </p:nvCxnSpPr>
        <p:spPr>
          <a:xfrm>
            <a:off x="9715500" y="2788920"/>
            <a:ext cx="0" cy="27432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09560" y="3063240"/>
            <a:ext cx="3611880" cy="502920"/>
          </a:xfrm>
          <a:prstGeom prst="roundRect">
            <a:avLst>
              <a:gd name="adj" fmla="val 12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1">
                <a:solidFill>
                  <a:srgbClr val="FFFFFF"/>
                </a:solidFill>
              </a:rPr>
              <a:t>M1 · Knowledge Base</a:t>
            </a:r>
          </a:p>
        </p:txBody>
      </p:sp>
      <p:cxnSp>
        <p:nvCxnSpPr>
          <p:cNvPr id="10" name="Connector 9"/>
          <p:cNvCxnSpPr/>
          <p:nvPr/>
        </p:nvCxnSpPr>
        <p:spPr>
          <a:xfrm>
            <a:off x="9715500" y="3566160"/>
            <a:ext cx="0" cy="27432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909560" y="3840480"/>
            <a:ext cx="3611880" cy="1005840"/>
          </a:xfrm>
          <a:prstGeom prst="roundRect">
            <a:avLst>
              <a:gd name="adj" fmla="val 12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noAutofit/>
          </a:bodyPr>
          <a:lstStyle/>
          <a:p>
            <a:pPr algn="l"/>
            <a:r>
              <a:rPr sz="1000" b="1">
                <a:solidFill>
                  <a:srgbClr val="CC0000"/>
                </a:solidFill>
              </a:rPr>
              <a:t>OUTPUT</a:t>
            </a:r>
          </a:p>
          <a:p>
            <a:pPr algn="l">
              <a:spcBef>
                <a:spcPts val="200"/>
              </a:spcBef>
            </a:pPr>
            <a:r>
              <a:rPr sz="1150" b="0">
                <a:solidFill>
                  <a:srgbClr val="1F2933"/>
                </a:solidFill>
              </a:rPr>
              <a:t>Predicate vocabulary, rule set and structured facts</a:t>
            </a:r>
          </a:p>
        </p:txBody>
      </p:sp>
      <p:sp>
        <p:nvSpPr>
          <p:cNvPr id="12" name="Rounded Rectangle 11"/>
          <p:cNvSpPr/>
          <p:nvPr/>
        </p:nvSpPr>
        <p:spPr>
          <a:xfrm>
            <a:off x="7909560" y="4983480"/>
            <a:ext cx="2331720" cy="1005840"/>
          </a:xfrm>
          <a:prstGeom prst="roundRect">
            <a:avLst>
              <a:gd name="adj" fmla="val 12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t">
            <a:noAutofit/>
          </a:bodyPr>
          <a:lstStyle/>
          <a:p>
            <a:pPr algn="l"/>
            <a:r>
              <a:rPr sz="1000" b="1">
                <a:solidFill>
                  <a:srgbClr val="CC0000"/>
                </a:solidFill>
              </a:rPr>
              <a:t>STACK</a:t>
            </a:r>
          </a:p>
          <a:p>
            <a:pPr algn="l">
              <a:spcBef>
                <a:spcPts val="200"/>
              </a:spcBef>
            </a:pPr>
            <a:r>
              <a:rPr sz="1050" b="0">
                <a:solidFill>
                  <a:srgbClr val="1F2933"/>
                </a:solidFill>
              </a:rPr>
              <a:t>Python · rule base v1.0.0</a:t>
            </a:r>
          </a:p>
        </p:txBody>
      </p:sp>
      <p:sp>
        <p:nvSpPr>
          <p:cNvPr id="13" name="Rounded Rectangle 12"/>
          <p:cNvSpPr/>
          <p:nvPr/>
        </p:nvSpPr>
        <p:spPr>
          <a:xfrm>
            <a:off x="10351008" y="4983480"/>
            <a:ext cx="1170432" cy="1005840"/>
          </a:xfrm>
          <a:prstGeom prst="roundRect">
            <a:avLst>
              <a:gd name="adj" fmla="val 12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2400" b="1">
                <a:solidFill>
                  <a:srgbClr val="1C8553"/>
                </a:solidFill>
              </a:rPr>
              <a:t>32</a:t>
            </a:r>
          </a:p>
          <a:p>
            <a:pPr algn="ctr"/>
            <a:r>
              <a:rPr sz="1000" b="0">
                <a:solidFill>
                  <a:srgbClr val="44505C"/>
                </a:solidFill>
              </a:rPr>
              <a:t>active rules</a:t>
            </a:r>
          </a:p>
        </p:txBody>
      </p:sp>
    </p:spTree>
    <p:extLst>
      <p:ext uri="{BB962C8B-B14F-4D97-AF65-F5344CB8AC3E}">
        <p14:creationId xmlns:p14="http://schemas.microsoft.com/office/powerpoint/2010/main" val="517529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r>
              <a:rPr lang="en-US" altLang="en-US" sz="3200" b="1" dirty="0">
                <a:solidFill>
                  <a:srgbClr val="FF0000"/>
                </a:solidFill>
              </a:rPr>
              <a:t>Module Description – M2 Inference Engine</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a:xfrm>
            <a:off x="758952" y="1737360"/>
            <a:ext cx="6858000" cy="4343400"/>
          </a:xfrm>
        </p:spPr>
        <p:txBody>
          <a:bodyPr>
            <a:noAutofit/>
          </a:bodyPr>
          <a:lstStyle/>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1" dirty="0">
                <a:solidFill>
                  <a:srgbClr val="1F2933"/>
                </a:solidFill>
              </a:rPr>
              <a:t>Purpose: </a:t>
            </a:r>
            <a:r>
              <a:rPr lang="en-IN" sz="1550" b="0" dirty="0">
                <a:solidFill>
                  <a:srgbClr val="1F2933"/>
                </a:solidFill>
              </a:rPr>
              <a:t>the AI core: matches rules to facts, forward chains to a conclusion and resolves conflicts.</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Rule matching: antecedents are matched against the facts by unification, giving rule instantiations.</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Forward chaining: each instantiation fires once and may add derived facts; the loop stops at a fixpoint.</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Conflict resolution is deterministic: priority, then specificity, then severity, then rule id.</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Risk classification: the fired rules set the tier (LOW, MEDIUM, HIGH or CRITICAL) and a 0–100 severity index.</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The recommendation follows the tier: Approve, Request MFA, Temporarily block, or Flag for analyst review.</a:t>
            </a: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15</a:t>
            </a:fld>
            <a:endParaRPr lang="en-IN"/>
          </a:p>
        </p:txBody>
      </p:sp>
      <p:sp>
        <p:nvSpPr>
          <p:cNvPr id="7" name="Rounded Rectangle 6"/>
          <p:cNvSpPr/>
          <p:nvPr/>
        </p:nvSpPr>
        <p:spPr>
          <a:xfrm>
            <a:off x="7909560" y="1783080"/>
            <a:ext cx="3611880" cy="1005840"/>
          </a:xfrm>
          <a:prstGeom prst="roundRect">
            <a:avLst>
              <a:gd name="adj" fmla="val 12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noAutofit/>
          </a:bodyPr>
          <a:lstStyle/>
          <a:p>
            <a:pPr algn="l"/>
            <a:r>
              <a:rPr sz="1000" b="1">
                <a:solidFill>
                  <a:srgbClr val="CC0000"/>
                </a:solidFill>
              </a:rPr>
              <a:t>INPUT</a:t>
            </a:r>
          </a:p>
          <a:p>
            <a:pPr algn="l">
              <a:spcBef>
                <a:spcPts val="200"/>
              </a:spcBef>
            </a:pPr>
            <a:r>
              <a:rPr sz="1150" b="0">
                <a:solidFill>
                  <a:srgbClr val="1F2933"/>
                </a:solidFill>
              </a:rPr>
              <a:t>Transaction facts and the active rule set</a:t>
            </a:r>
          </a:p>
        </p:txBody>
      </p:sp>
      <p:cxnSp>
        <p:nvCxnSpPr>
          <p:cNvPr id="8" name="Connector 7"/>
          <p:cNvCxnSpPr/>
          <p:nvPr/>
        </p:nvCxnSpPr>
        <p:spPr>
          <a:xfrm>
            <a:off x="9715500" y="2788920"/>
            <a:ext cx="0" cy="27432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09560" y="3063240"/>
            <a:ext cx="3611880" cy="502920"/>
          </a:xfrm>
          <a:prstGeom prst="roundRect">
            <a:avLst>
              <a:gd name="adj" fmla="val 12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1">
                <a:solidFill>
                  <a:srgbClr val="FFFFFF"/>
                </a:solidFill>
              </a:rPr>
              <a:t>M2 · Inference Engine</a:t>
            </a:r>
          </a:p>
        </p:txBody>
      </p:sp>
      <p:cxnSp>
        <p:nvCxnSpPr>
          <p:cNvPr id="10" name="Connector 9"/>
          <p:cNvCxnSpPr/>
          <p:nvPr/>
        </p:nvCxnSpPr>
        <p:spPr>
          <a:xfrm>
            <a:off x="9715500" y="3566160"/>
            <a:ext cx="0" cy="27432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909560" y="3840480"/>
            <a:ext cx="3611880" cy="1005840"/>
          </a:xfrm>
          <a:prstGeom prst="roundRect">
            <a:avLst>
              <a:gd name="adj" fmla="val 12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noAutofit/>
          </a:bodyPr>
          <a:lstStyle/>
          <a:p>
            <a:pPr algn="l"/>
            <a:r>
              <a:rPr sz="1000" b="1">
                <a:solidFill>
                  <a:srgbClr val="CC0000"/>
                </a:solidFill>
              </a:rPr>
              <a:t>OUTPUT</a:t>
            </a:r>
          </a:p>
          <a:p>
            <a:pPr algn="l">
              <a:spcBef>
                <a:spcPts val="200"/>
              </a:spcBef>
            </a:pPr>
            <a:r>
              <a:rPr sz="1150" b="0">
                <a:solidFill>
                  <a:srgbClr val="1F2933"/>
                </a:solidFill>
              </a:rPr>
              <a:t>Tier, severity index, recommendation and fired rules</a:t>
            </a:r>
          </a:p>
        </p:txBody>
      </p:sp>
      <p:sp>
        <p:nvSpPr>
          <p:cNvPr id="12" name="Rounded Rectangle 11"/>
          <p:cNvSpPr/>
          <p:nvPr/>
        </p:nvSpPr>
        <p:spPr>
          <a:xfrm>
            <a:off x="7909560" y="4983480"/>
            <a:ext cx="2331720" cy="1005840"/>
          </a:xfrm>
          <a:prstGeom prst="roundRect">
            <a:avLst>
              <a:gd name="adj" fmla="val 12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t">
            <a:noAutofit/>
          </a:bodyPr>
          <a:lstStyle/>
          <a:p>
            <a:pPr algn="l"/>
            <a:r>
              <a:rPr sz="1000" b="1">
                <a:solidFill>
                  <a:srgbClr val="CC0000"/>
                </a:solidFill>
              </a:rPr>
              <a:t>STACK</a:t>
            </a:r>
          </a:p>
          <a:p>
            <a:pPr algn="l">
              <a:spcBef>
                <a:spcPts val="200"/>
              </a:spcBef>
            </a:pPr>
            <a:r>
              <a:rPr sz="1050" b="0">
                <a:solidFill>
                  <a:srgbClr val="1F2933"/>
                </a:solidFill>
              </a:rPr>
              <a:t>Pure Python; no ML in the core</a:t>
            </a:r>
          </a:p>
        </p:txBody>
      </p:sp>
      <p:sp>
        <p:nvSpPr>
          <p:cNvPr id="13" name="Rounded Rectangle 12"/>
          <p:cNvSpPr/>
          <p:nvPr/>
        </p:nvSpPr>
        <p:spPr>
          <a:xfrm>
            <a:off x="10351008" y="4983480"/>
            <a:ext cx="1170432" cy="1005840"/>
          </a:xfrm>
          <a:prstGeom prst="roundRect">
            <a:avLst>
              <a:gd name="adj" fmla="val 12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2400" b="1">
                <a:solidFill>
                  <a:srgbClr val="1C8553"/>
                </a:solidFill>
              </a:rPr>
              <a:t>1.83</a:t>
            </a:r>
          </a:p>
          <a:p>
            <a:pPr algn="ctr"/>
            <a:r>
              <a:rPr sz="1000" b="0">
                <a:solidFill>
                  <a:srgbClr val="44505C"/>
                </a:solidFill>
              </a:rPr>
              <a:t>ms avg time</a:t>
            </a:r>
          </a:p>
        </p:txBody>
      </p:sp>
    </p:spTree>
    <p:extLst>
      <p:ext uri="{BB962C8B-B14F-4D97-AF65-F5344CB8AC3E}">
        <p14:creationId xmlns:p14="http://schemas.microsoft.com/office/powerpoint/2010/main" val="4168195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r>
              <a:rPr lang="en-US" altLang="en-US" sz="3200" b="1" dirty="0">
                <a:solidFill>
                  <a:srgbClr val="FF0000"/>
                </a:solidFill>
              </a:rPr>
              <a:t>Module Description – M3 Interface</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a:xfrm>
            <a:off x="758952" y="1737360"/>
            <a:ext cx="6858000" cy="4343400"/>
          </a:xfrm>
        </p:spPr>
        <p:txBody>
          <a:bodyPr>
            <a:noAutofit/>
          </a:bodyPr>
          <a:lstStyle/>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1" dirty="0">
                <a:solidFill>
                  <a:srgbClr val="1F2933"/>
                </a:solidFill>
              </a:rPr>
              <a:t>Purpose: </a:t>
            </a:r>
            <a:r>
              <a:rPr lang="en-IN" sz="1550" b="0" dirty="0">
                <a:solidFill>
                  <a:srgbClr val="1F2933"/>
                </a:solidFill>
              </a:rPr>
              <a:t>everything the analyst sees, plus the API that connects the console to the engine.</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FastAPI service accepts a transaction, runs the 12-stage evaluation and returns tier, recommendation and explanation.</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Pydantic validates every request; the form asks for the seven parameters before analysis.</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React + TypeScript console (Vite, Tailwind): Dashboard, Analysis, History, Analytics, Rule Explorer, Knowledge Base, Reports, Audit Logs, Settings, About.</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Quick scenarios fill the form; the risk level always comes from the rule engine, never from the form.</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run.bat starts the system on Windows 10/11; Docker is optional.</a:t>
            </a: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16</a:t>
            </a:fld>
            <a:endParaRPr lang="en-IN"/>
          </a:p>
        </p:txBody>
      </p:sp>
      <p:sp>
        <p:nvSpPr>
          <p:cNvPr id="7" name="Rounded Rectangle 6"/>
          <p:cNvSpPr/>
          <p:nvPr/>
        </p:nvSpPr>
        <p:spPr>
          <a:xfrm>
            <a:off x="7909560" y="1783080"/>
            <a:ext cx="3611880" cy="1005840"/>
          </a:xfrm>
          <a:prstGeom prst="roundRect">
            <a:avLst>
              <a:gd name="adj" fmla="val 12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noAutofit/>
          </a:bodyPr>
          <a:lstStyle/>
          <a:p>
            <a:pPr algn="l"/>
            <a:r>
              <a:rPr sz="1000" b="1">
                <a:solidFill>
                  <a:srgbClr val="CC0000"/>
                </a:solidFill>
              </a:rPr>
              <a:t>INPUT</a:t>
            </a:r>
          </a:p>
          <a:p>
            <a:pPr algn="l">
              <a:spcBef>
                <a:spcPts val="200"/>
              </a:spcBef>
            </a:pPr>
            <a:r>
              <a:rPr sz="1150" b="0">
                <a:solidFill>
                  <a:srgbClr val="1F2933"/>
                </a:solidFill>
              </a:rPr>
              <a:t>Seven parameters from the form, filters, report requests</a:t>
            </a:r>
          </a:p>
        </p:txBody>
      </p:sp>
      <p:cxnSp>
        <p:nvCxnSpPr>
          <p:cNvPr id="8" name="Connector 7"/>
          <p:cNvCxnSpPr/>
          <p:nvPr/>
        </p:nvCxnSpPr>
        <p:spPr>
          <a:xfrm>
            <a:off x="9715500" y="2788920"/>
            <a:ext cx="0" cy="27432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09560" y="3063240"/>
            <a:ext cx="3611880" cy="502920"/>
          </a:xfrm>
          <a:prstGeom prst="roundRect">
            <a:avLst>
              <a:gd name="adj" fmla="val 12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1">
                <a:solidFill>
                  <a:srgbClr val="FFFFFF"/>
                </a:solidFill>
              </a:rPr>
              <a:t>M3 · Interface</a:t>
            </a:r>
          </a:p>
        </p:txBody>
      </p:sp>
      <p:cxnSp>
        <p:nvCxnSpPr>
          <p:cNvPr id="10" name="Connector 9"/>
          <p:cNvCxnSpPr/>
          <p:nvPr/>
        </p:nvCxnSpPr>
        <p:spPr>
          <a:xfrm>
            <a:off x="9715500" y="3566160"/>
            <a:ext cx="0" cy="27432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909560" y="3840480"/>
            <a:ext cx="3611880" cy="1005840"/>
          </a:xfrm>
          <a:prstGeom prst="roundRect">
            <a:avLst>
              <a:gd name="adj" fmla="val 12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noAutofit/>
          </a:bodyPr>
          <a:lstStyle/>
          <a:p>
            <a:pPr algn="l"/>
            <a:r>
              <a:rPr sz="1000" b="1">
                <a:solidFill>
                  <a:srgbClr val="CC0000"/>
                </a:solidFill>
              </a:rPr>
              <a:t>OUTPUT</a:t>
            </a:r>
          </a:p>
          <a:p>
            <a:pPr algn="l">
              <a:spcBef>
                <a:spcPts val="200"/>
              </a:spcBef>
            </a:pPr>
            <a:r>
              <a:rPr sz="1150" b="0">
                <a:solidFill>
                  <a:srgbClr val="1F2933"/>
                </a:solidFill>
              </a:rPr>
              <a:t>Tier badge, explanation, charts, history, PDF reports</a:t>
            </a:r>
          </a:p>
        </p:txBody>
      </p:sp>
      <p:sp>
        <p:nvSpPr>
          <p:cNvPr id="12" name="Rounded Rectangle 11"/>
          <p:cNvSpPr/>
          <p:nvPr/>
        </p:nvSpPr>
        <p:spPr>
          <a:xfrm>
            <a:off x="7909560" y="4983480"/>
            <a:ext cx="2331720" cy="1005840"/>
          </a:xfrm>
          <a:prstGeom prst="roundRect">
            <a:avLst>
              <a:gd name="adj" fmla="val 12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t">
            <a:noAutofit/>
          </a:bodyPr>
          <a:lstStyle/>
          <a:p>
            <a:pPr algn="l"/>
            <a:r>
              <a:rPr sz="1000" b="1">
                <a:solidFill>
                  <a:srgbClr val="CC0000"/>
                </a:solidFill>
              </a:rPr>
              <a:t>STACK</a:t>
            </a:r>
          </a:p>
          <a:p>
            <a:pPr algn="l">
              <a:spcBef>
                <a:spcPts val="200"/>
              </a:spcBef>
            </a:pPr>
            <a:r>
              <a:rPr sz="1050" b="0">
                <a:solidFill>
                  <a:srgbClr val="1F2933"/>
                </a:solidFill>
              </a:rPr>
              <a:t>FastAPI · React · Vite · Tailwind</a:t>
            </a:r>
          </a:p>
        </p:txBody>
      </p:sp>
      <p:sp>
        <p:nvSpPr>
          <p:cNvPr id="13" name="Rounded Rectangle 12"/>
          <p:cNvSpPr/>
          <p:nvPr/>
        </p:nvSpPr>
        <p:spPr>
          <a:xfrm>
            <a:off x="10351008" y="4983480"/>
            <a:ext cx="1170432" cy="1005840"/>
          </a:xfrm>
          <a:prstGeom prst="roundRect">
            <a:avLst>
              <a:gd name="adj" fmla="val 12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2400" b="1">
                <a:solidFill>
                  <a:srgbClr val="1C8553"/>
                </a:solidFill>
              </a:rPr>
              <a:t>10</a:t>
            </a:r>
          </a:p>
          <a:p>
            <a:pPr algn="ctr"/>
            <a:r>
              <a:rPr sz="1000" b="0">
                <a:solidFill>
                  <a:srgbClr val="44505C"/>
                </a:solidFill>
              </a:rPr>
              <a:t>pages</a:t>
            </a:r>
          </a:p>
        </p:txBody>
      </p:sp>
    </p:spTree>
    <p:extLst>
      <p:ext uri="{BB962C8B-B14F-4D97-AF65-F5344CB8AC3E}">
        <p14:creationId xmlns:p14="http://schemas.microsoft.com/office/powerpoint/2010/main" val="517529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r>
              <a:rPr lang="en-US" altLang="en-US" sz="3200" b="1" dirty="0">
                <a:solidFill>
                  <a:srgbClr val="FF0000"/>
                </a:solidFill>
              </a:rPr>
              <a:t>Module Description – M4 Data</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a:xfrm>
            <a:off x="758952" y="1737360"/>
            <a:ext cx="6858000" cy="4343400"/>
          </a:xfrm>
        </p:spPr>
        <p:txBody>
          <a:bodyPr>
            <a:noAutofit/>
          </a:bodyPr>
          <a:lstStyle/>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1" dirty="0">
                <a:solidFill>
                  <a:srgbClr val="1F2933"/>
                </a:solidFill>
              </a:rPr>
              <a:t>Purpose: </a:t>
            </a:r>
            <a:r>
              <a:rPr lang="en-IN" sz="1550" b="0" dirty="0">
                <a:solidFill>
                  <a:srgbClr val="1F2933"/>
                </a:solidFill>
              </a:rPr>
              <a:t>stores evaluations, reports and audit events so every decision can be reviewed later.</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SQLAlchemy models map to a SQLite database (fraudshield.db, schema v1); no database server is needed.</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Synthetic demonstration data is seeded and clearly labelled: 74 of the 76 stored evaluations.</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Audit Logs keep a record of analyses, recommendations, alerts and reports.</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Transaction History searches by user, location, device trust, rule fired, decision status and date.</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Settings can export a database snapshot and re-seed the demo data.</a:t>
            </a: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17</a:t>
            </a:fld>
            <a:endParaRPr lang="en-IN"/>
          </a:p>
        </p:txBody>
      </p:sp>
      <p:sp>
        <p:nvSpPr>
          <p:cNvPr id="7" name="Rounded Rectangle 6"/>
          <p:cNvSpPr/>
          <p:nvPr/>
        </p:nvSpPr>
        <p:spPr>
          <a:xfrm>
            <a:off x="7909560" y="1783080"/>
            <a:ext cx="3611880" cy="1005840"/>
          </a:xfrm>
          <a:prstGeom prst="roundRect">
            <a:avLst>
              <a:gd name="adj" fmla="val 12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noAutofit/>
          </a:bodyPr>
          <a:lstStyle/>
          <a:p>
            <a:pPr algn="l"/>
            <a:r>
              <a:rPr sz="1000" b="1">
                <a:solidFill>
                  <a:srgbClr val="CC0000"/>
                </a:solidFill>
              </a:rPr>
              <a:t>INPUT</a:t>
            </a:r>
          </a:p>
          <a:p>
            <a:pPr algn="l">
              <a:spcBef>
                <a:spcPts val="200"/>
              </a:spcBef>
            </a:pPr>
            <a:r>
              <a:rPr sz="1150" b="0">
                <a:solidFill>
                  <a:srgbClr val="1F2933"/>
                </a:solidFill>
              </a:rPr>
              <a:t>Evaluated transaction, fired rules, report requests</a:t>
            </a:r>
          </a:p>
        </p:txBody>
      </p:sp>
      <p:cxnSp>
        <p:nvCxnSpPr>
          <p:cNvPr id="8" name="Connector 7"/>
          <p:cNvCxnSpPr/>
          <p:nvPr/>
        </p:nvCxnSpPr>
        <p:spPr>
          <a:xfrm>
            <a:off x="9715500" y="2788920"/>
            <a:ext cx="0" cy="27432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09560" y="3063240"/>
            <a:ext cx="3611880" cy="502920"/>
          </a:xfrm>
          <a:prstGeom prst="roundRect">
            <a:avLst>
              <a:gd name="adj" fmla="val 12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1">
                <a:solidFill>
                  <a:srgbClr val="FFFFFF"/>
                </a:solidFill>
              </a:rPr>
              <a:t>M4 · Data</a:t>
            </a:r>
          </a:p>
        </p:txBody>
      </p:sp>
      <p:cxnSp>
        <p:nvCxnSpPr>
          <p:cNvPr id="10" name="Connector 9"/>
          <p:cNvCxnSpPr/>
          <p:nvPr/>
        </p:nvCxnSpPr>
        <p:spPr>
          <a:xfrm>
            <a:off x="9715500" y="3566160"/>
            <a:ext cx="0" cy="27432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909560" y="3840480"/>
            <a:ext cx="3611880" cy="1005840"/>
          </a:xfrm>
          <a:prstGeom prst="roundRect">
            <a:avLst>
              <a:gd name="adj" fmla="val 12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noAutofit/>
          </a:bodyPr>
          <a:lstStyle/>
          <a:p>
            <a:pPr algn="l"/>
            <a:r>
              <a:rPr sz="1000" b="1">
                <a:solidFill>
                  <a:srgbClr val="CC0000"/>
                </a:solidFill>
              </a:rPr>
              <a:t>OUTPUT</a:t>
            </a:r>
          </a:p>
          <a:p>
            <a:pPr algn="l">
              <a:spcBef>
                <a:spcPts val="200"/>
              </a:spcBef>
            </a:pPr>
            <a:r>
              <a:rPr sz="1150" b="0">
                <a:solidFill>
                  <a:srgbClr val="1F2933"/>
                </a:solidFill>
              </a:rPr>
              <a:t>Stored records, history, analytics data, audit events</a:t>
            </a:r>
          </a:p>
        </p:txBody>
      </p:sp>
      <p:sp>
        <p:nvSpPr>
          <p:cNvPr id="12" name="Rounded Rectangle 11"/>
          <p:cNvSpPr/>
          <p:nvPr/>
        </p:nvSpPr>
        <p:spPr>
          <a:xfrm>
            <a:off x="7909560" y="4983480"/>
            <a:ext cx="2331720" cy="1005840"/>
          </a:xfrm>
          <a:prstGeom prst="roundRect">
            <a:avLst>
              <a:gd name="adj" fmla="val 12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t">
            <a:noAutofit/>
          </a:bodyPr>
          <a:lstStyle/>
          <a:p>
            <a:pPr algn="l"/>
            <a:r>
              <a:rPr sz="1000" b="1">
                <a:solidFill>
                  <a:srgbClr val="CC0000"/>
                </a:solidFill>
              </a:rPr>
              <a:t>STACK</a:t>
            </a:r>
          </a:p>
          <a:p>
            <a:pPr algn="l">
              <a:spcBef>
                <a:spcPts val="200"/>
              </a:spcBef>
            </a:pPr>
            <a:r>
              <a:rPr sz="1050" b="0">
                <a:solidFill>
                  <a:srgbClr val="1F2933"/>
                </a:solidFill>
              </a:rPr>
              <a:t>SQLAlchemy · SQLite</a:t>
            </a:r>
          </a:p>
        </p:txBody>
      </p:sp>
      <p:sp>
        <p:nvSpPr>
          <p:cNvPr id="13" name="Rounded Rectangle 12"/>
          <p:cNvSpPr/>
          <p:nvPr/>
        </p:nvSpPr>
        <p:spPr>
          <a:xfrm>
            <a:off x="10351008" y="4983480"/>
            <a:ext cx="1170432" cy="1005840"/>
          </a:xfrm>
          <a:prstGeom prst="roundRect">
            <a:avLst>
              <a:gd name="adj" fmla="val 12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2400" b="1">
                <a:solidFill>
                  <a:srgbClr val="1C8553"/>
                </a:solidFill>
              </a:rPr>
              <a:t>76</a:t>
            </a:r>
          </a:p>
          <a:p>
            <a:pPr algn="ctr"/>
            <a:r>
              <a:rPr sz="1000" b="0">
                <a:solidFill>
                  <a:srgbClr val="44505C"/>
                </a:solidFill>
              </a:rPr>
              <a:t>evaluations</a:t>
            </a:r>
          </a:p>
        </p:txBody>
      </p:sp>
    </p:spTree>
    <p:extLst>
      <p:ext uri="{BB962C8B-B14F-4D97-AF65-F5344CB8AC3E}">
        <p14:creationId xmlns:p14="http://schemas.microsoft.com/office/powerpoint/2010/main" val="517529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r>
              <a:rPr lang="en-US" altLang="en-US" sz="3200" b="1" dirty="0">
                <a:solidFill>
                  <a:srgbClr val="FF0000"/>
                </a:solidFill>
              </a:rPr>
              <a:t>Module Description – M5 Explanation</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a:xfrm>
            <a:off x="758952" y="1737360"/>
            <a:ext cx="6858000" cy="4343400"/>
          </a:xfrm>
        </p:spPr>
        <p:txBody>
          <a:bodyPr>
            <a:noAutofit/>
          </a:bodyPr>
          <a:lstStyle/>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1" dirty="0">
                <a:solidFill>
                  <a:srgbClr val="1F2933"/>
                </a:solidFill>
              </a:rPr>
              <a:t>Purpose: </a:t>
            </a:r>
            <a:r>
              <a:rPr lang="en-IN" sz="1550" b="0" dirty="0">
                <a:solidFill>
                  <a:srgbClr val="1F2933"/>
                </a:solidFill>
              </a:rPr>
              <a:t>makes every decision explainable: why this tier, and which rules and facts caused it.</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The reasoning chain separates observed evidence, derived evidence, logical inference and the final decision.</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Facts carry their source, derivation rule and parent facts, so the chain is exposed as a graph.</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Nothing is approximated afterwards: unlike post-hoc tools such as LIME, the explanation is the decision path itself.</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Reports page: a PDF report with executive summary, decision, input parameters and reasoning for any transaction.</a:t>
            </a:r>
          </a:p>
          <a:p>
            <a:pPr marL="469900" marR="0" lvl="0" indent="-469900" algn="l" defTabSz="914400" rtl="0" eaLnBrk="0" fontAlgn="base" latinLnBrk="0" hangingPunct="0">
              <a:spcBef>
                <a:spcPts val="900"/>
              </a:spcBef>
              <a:spcAft>
                <a:spcPct val="0"/>
              </a:spcAft>
              <a:buClr>
                <a:srgbClr val="CC0000"/>
              </a:buClr>
              <a:buSzTx/>
              <a:buFont typeface="Wingdings" panose="05000000000000000000" pitchFamily="2" charset="2"/>
              <a:buChar char="o"/>
            </a:pPr>
            <a:r>
              <a:rPr lang="en-IN" sz="1550" b="0" dirty="0">
                <a:solidFill>
                  <a:srgbClr val="1F2933"/>
                </a:solidFill>
              </a:rPr>
              <a:t>The Rule Explorer and Knowledge Base pages expose the rules and predicates behind a decision.</a:t>
            </a: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18</a:t>
            </a:fld>
            <a:endParaRPr lang="en-IN"/>
          </a:p>
        </p:txBody>
      </p:sp>
      <p:sp>
        <p:nvSpPr>
          <p:cNvPr id="7" name="Rounded Rectangle 6"/>
          <p:cNvSpPr/>
          <p:nvPr/>
        </p:nvSpPr>
        <p:spPr>
          <a:xfrm>
            <a:off x="7909560" y="1783080"/>
            <a:ext cx="3611880" cy="1005840"/>
          </a:xfrm>
          <a:prstGeom prst="roundRect">
            <a:avLst>
              <a:gd name="adj" fmla="val 12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noAutofit/>
          </a:bodyPr>
          <a:lstStyle/>
          <a:p>
            <a:pPr algn="l"/>
            <a:r>
              <a:rPr sz="1000" b="1">
                <a:solidFill>
                  <a:srgbClr val="CC0000"/>
                </a:solidFill>
              </a:rPr>
              <a:t>INPUT</a:t>
            </a:r>
          </a:p>
          <a:p>
            <a:pPr algn="l">
              <a:spcBef>
                <a:spcPts val="200"/>
              </a:spcBef>
            </a:pPr>
            <a:r>
              <a:rPr sz="1150" b="0">
                <a:solidFill>
                  <a:srgbClr val="1F2933"/>
                </a:solidFill>
              </a:rPr>
              <a:t>Fired rules, facts and final tier</a:t>
            </a:r>
          </a:p>
        </p:txBody>
      </p:sp>
      <p:cxnSp>
        <p:nvCxnSpPr>
          <p:cNvPr id="8" name="Connector 7"/>
          <p:cNvCxnSpPr/>
          <p:nvPr/>
        </p:nvCxnSpPr>
        <p:spPr>
          <a:xfrm>
            <a:off x="9715500" y="2788920"/>
            <a:ext cx="0" cy="27432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09560" y="3063240"/>
            <a:ext cx="3611880" cy="502920"/>
          </a:xfrm>
          <a:prstGeom prst="roundRect">
            <a:avLst>
              <a:gd name="adj" fmla="val 12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1400" b="1">
                <a:solidFill>
                  <a:srgbClr val="FFFFFF"/>
                </a:solidFill>
              </a:rPr>
              <a:t>M5 · Explanation</a:t>
            </a:r>
          </a:p>
        </p:txBody>
      </p:sp>
      <p:cxnSp>
        <p:nvCxnSpPr>
          <p:cNvPr id="10" name="Connector 9"/>
          <p:cNvCxnSpPr/>
          <p:nvPr/>
        </p:nvCxnSpPr>
        <p:spPr>
          <a:xfrm>
            <a:off x="9715500" y="3566160"/>
            <a:ext cx="0" cy="274320"/>
          </a:xfrm>
          <a:prstGeom prst="line">
            <a:avLst/>
          </a:prstGeom>
          <a:ln w="25400">
            <a:solidFill>
              <a:srgbClr val="CC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909560" y="3840480"/>
            <a:ext cx="3611880" cy="1005840"/>
          </a:xfrm>
          <a:prstGeom prst="roundRect">
            <a:avLst>
              <a:gd name="adj" fmla="val 12000"/>
            </a:avLst>
          </a:prstGeom>
          <a:solidFill>
            <a:srgbClr val="F7F9FC"/>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28016" bIns="54864" rtlCol="0" anchor="t">
            <a:noAutofit/>
          </a:bodyPr>
          <a:lstStyle/>
          <a:p>
            <a:pPr algn="l"/>
            <a:r>
              <a:rPr sz="1000" b="1">
                <a:solidFill>
                  <a:srgbClr val="CC0000"/>
                </a:solidFill>
              </a:rPr>
              <a:t>OUTPUT</a:t>
            </a:r>
          </a:p>
          <a:p>
            <a:pPr algn="l">
              <a:spcBef>
                <a:spcPts val="200"/>
              </a:spcBef>
            </a:pPr>
            <a:r>
              <a:rPr sz="1150" b="0">
                <a:solidFill>
                  <a:srgbClr val="1F2933"/>
                </a:solidFill>
              </a:rPr>
              <a:t>Reasoning chain, PDF report, plain-language summary</a:t>
            </a:r>
          </a:p>
        </p:txBody>
      </p:sp>
      <p:sp>
        <p:nvSpPr>
          <p:cNvPr id="12" name="Rounded Rectangle 11"/>
          <p:cNvSpPr/>
          <p:nvPr/>
        </p:nvSpPr>
        <p:spPr>
          <a:xfrm>
            <a:off x="7909560" y="4983480"/>
            <a:ext cx="2331720" cy="1005840"/>
          </a:xfrm>
          <a:prstGeom prst="roundRect">
            <a:avLst>
              <a:gd name="adj" fmla="val 12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t">
            <a:noAutofit/>
          </a:bodyPr>
          <a:lstStyle/>
          <a:p>
            <a:pPr algn="l"/>
            <a:r>
              <a:rPr sz="1000" b="1">
                <a:solidFill>
                  <a:srgbClr val="CC0000"/>
                </a:solidFill>
              </a:rPr>
              <a:t>STACK</a:t>
            </a:r>
          </a:p>
          <a:p>
            <a:pPr algn="l">
              <a:spcBef>
                <a:spcPts val="200"/>
              </a:spcBef>
            </a:pPr>
            <a:r>
              <a:rPr sz="1050" b="0">
                <a:solidFill>
                  <a:srgbClr val="1F2933"/>
                </a:solidFill>
              </a:rPr>
              <a:t>Python · React · PDF export</a:t>
            </a:r>
          </a:p>
        </p:txBody>
      </p:sp>
      <p:sp>
        <p:nvSpPr>
          <p:cNvPr id="13" name="Rounded Rectangle 12"/>
          <p:cNvSpPr/>
          <p:nvPr/>
        </p:nvSpPr>
        <p:spPr>
          <a:xfrm>
            <a:off x="10351008" y="4983480"/>
            <a:ext cx="1170432" cy="1005840"/>
          </a:xfrm>
          <a:prstGeom prst="roundRect">
            <a:avLst>
              <a:gd name="adj" fmla="val 12000"/>
            </a:avLst>
          </a:prstGeom>
          <a:solidFill>
            <a:srgbClr val="EBF2FA"/>
          </a:solidFill>
          <a:ln w="12700">
            <a:solidFill>
              <a:srgbClr val="CDDAEB"/>
            </a:solid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noAutofit/>
          </a:bodyPr>
          <a:lstStyle/>
          <a:p>
            <a:pPr algn="ctr"/>
            <a:r>
              <a:rPr sz="2400" b="1">
                <a:solidFill>
                  <a:srgbClr val="1C8553"/>
                </a:solidFill>
              </a:rPr>
              <a:t>PDF</a:t>
            </a:r>
          </a:p>
          <a:p>
            <a:pPr algn="ctr"/>
            <a:r>
              <a:rPr sz="1000" b="0">
                <a:solidFill>
                  <a:srgbClr val="44505C"/>
                </a:solidFill>
              </a:rPr>
              <a:t>reports</a:t>
            </a:r>
          </a:p>
        </p:txBody>
      </p:sp>
    </p:spTree>
    <p:extLst>
      <p:ext uri="{BB962C8B-B14F-4D97-AF65-F5344CB8AC3E}">
        <p14:creationId xmlns:p14="http://schemas.microsoft.com/office/powerpoint/2010/main" val="517529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r>
              <a:rPr lang="en-US" altLang="en-US" sz="3200" b="1" dirty="0">
                <a:solidFill>
                  <a:srgbClr val="FF0000"/>
                </a:solidFill>
              </a:rPr>
              <a:t>Results &amp; Discussion</a:t>
            </a:r>
            <a:endParaRPr lang="en-IN" sz="2800" dirty="0"/>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19</a:t>
            </a:fld>
            <a:endParaRPr lang="en-IN"/>
          </a:p>
        </p:txBody>
      </p:sp>
      <p:graphicFrame>
        <p:nvGraphicFramePr>
          <p:cNvPr id="7" name="Table 6"/>
          <p:cNvGraphicFramePr>
            <a:graphicFrameLocks noGrp="1"/>
          </p:cNvGraphicFramePr>
          <p:nvPr/>
        </p:nvGraphicFramePr>
        <p:xfrm>
          <a:off x="758952" y="1783080"/>
          <a:ext cx="6309360" cy="2103120"/>
        </p:xfrm>
        <a:graphic>
          <a:graphicData uri="http://schemas.openxmlformats.org/drawingml/2006/table">
            <a:tbl>
              <a:tblPr firstRow="1" bandRow="1">
                <a:tableStyleId>{5C22544A-7EE6-4342-B048-85BDC9FD1C3A}</a:tableStyleId>
              </a:tblPr>
              <a:tblGrid>
                <a:gridCol w="1188720"/>
                <a:gridCol w="3200400"/>
                <a:gridCol w="1188720"/>
              </a:tblGrid>
              <a:tr h="566928">
                <a:tc>
                  <a:txBody>
                    <a:bodyPr/>
                    <a:lstStyle/>
                    <a:p>
                      <a:pPr algn="l"/>
                      <a:r>
                        <a:rPr sz="1100" b="1">
                          <a:solidFill>
                            <a:srgbClr val="FFFFFF"/>
                          </a:solidFill>
                        </a:rPr>
                        <a:t>Risk tier</a:t>
                      </a:r>
                    </a:p>
                  </a:txBody>
                  <a:tcPr marL="64008" marR="64008" marT="27432" marB="27432" anchor="ctr">
                    <a:solidFill>
                      <a:srgbClr val="2A67B0"/>
                    </a:solidFill>
                  </a:tcPr>
                </a:tc>
                <a:tc>
                  <a:txBody>
                    <a:bodyPr/>
                    <a:lstStyle/>
                    <a:p>
                      <a:pPr algn="l"/>
                      <a:r>
                        <a:rPr sz="1100" b="1">
                          <a:solidFill>
                            <a:srgbClr val="FFFFFF"/>
                          </a:solidFill>
                        </a:rPr>
                        <a:t>Recommended action</a:t>
                      </a:r>
                    </a:p>
                  </a:txBody>
                  <a:tcPr marL="64008" marR="64008" marT="27432" marB="27432" anchor="ctr">
                    <a:solidFill>
                      <a:srgbClr val="2A67B0"/>
                    </a:solidFill>
                  </a:tcPr>
                </a:tc>
                <a:tc>
                  <a:txBody>
                    <a:bodyPr/>
                    <a:lstStyle/>
                    <a:p>
                      <a:pPr algn="l"/>
                      <a:r>
                        <a:rPr sz="1100" b="1">
                          <a:solidFill>
                            <a:srgbClr val="FFFFFF"/>
                          </a:solidFill>
                        </a:rPr>
                        <a:t>Evaluations</a:t>
                      </a:r>
                    </a:p>
                  </a:txBody>
                  <a:tcPr marL="64008" marR="64008" marT="27432" marB="27432" anchor="ctr">
                    <a:solidFill>
                      <a:srgbClr val="2A67B0"/>
                    </a:solidFill>
                  </a:tcPr>
                </a:tc>
              </a:tr>
              <a:tr h="384048">
                <a:tc>
                  <a:txBody>
                    <a:bodyPr/>
                    <a:lstStyle/>
                    <a:p>
                      <a:pPr algn="l"/>
                      <a:r>
                        <a:rPr sz="1200" b="1">
                          <a:solidFill>
                            <a:srgbClr val="1F2933"/>
                          </a:solidFill>
                        </a:rPr>
                        <a:t>LOW</a:t>
                      </a:r>
                    </a:p>
                  </a:txBody>
                  <a:tcPr marL="64008" marR="64008" marT="27432" marB="27432" anchor="ctr">
                    <a:solidFill>
                      <a:srgbClr val="FFFFFF"/>
                    </a:solidFill>
                  </a:tcPr>
                </a:tc>
                <a:tc>
                  <a:txBody>
                    <a:bodyPr/>
                    <a:lstStyle/>
                    <a:p>
                      <a:pPr algn="l"/>
                      <a:r>
                        <a:rPr sz="1200" b="0">
                          <a:solidFill>
                            <a:srgbClr val="1F2933"/>
                          </a:solidFill>
                        </a:rPr>
                        <a:t>Approve</a:t>
                      </a:r>
                    </a:p>
                  </a:txBody>
                  <a:tcPr marL="64008" marR="64008" marT="27432" marB="27432" anchor="ctr">
                    <a:solidFill>
                      <a:srgbClr val="FFFFFF"/>
                    </a:solidFill>
                  </a:tcPr>
                </a:tc>
                <a:tc>
                  <a:txBody>
                    <a:bodyPr/>
                    <a:lstStyle/>
                    <a:p>
                      <a:pPr algn="l"/>
                      <a:r>
                        <a:rPr sz="1200" b="0">
                          <a:solidFill>
                            <a:srgbClr val="1F2933"/>
                          </a:solidFill>
                        </a:rPr>
                        <a:t>40 (53%)</a:t>
                      </a:r>
                    </a:p>
                  </a:txBody>
                  <a:tcPr marL="64008" marR="64008" marT="27432" marB="27432" anchor="ctr">
                    <a:solidFill>
                      <a:srgbClr val="FFFFFF"/>
                    </a:solidFill>
                  </a:tcPr>
                </a:tc>
              </a:tr>
              <a:tr h="384048">
                <a:tc>
                  <a:txBody>
                    <a:bodyPr/>
                    <a:lstStyle/>
                    <a:p>
                      <a:pPr algn="l"/>
                      <a:r>
                        <a:rPr sz="1200" b="1">
                          <a:solidFill>
                            <a:srgbClr val="1F2933"/>
                          </a:solidFill>
                        </a:rPr>
                        <a:t>MEDIUM</a:t>
                      </a:r>
                    </a:p>
                  </a:txBody>
                  <a:tcPr marL="64008" marR="64008" marT="27432" marB="27432" anchor="ctr">
                    <a:solidFill>
                      <a:srgbClr val="EEF3FA"/>
                    </a:solidFill>
                  </a:tcPr>
                </a:tc>
                <a:tc>
                  <a:txBody>
                    <a:bodyPr/>
                    <a:lstStyle/>
                    <a:p>
                      <a:pPr algn="l"/>
                      <a:r>
                        <a:rPr sz="1200" b="0">
                          <a:solidFill>
                            <a:srgbClr val="1F2933"/>
                          </a:solidFill>
                        </a:rPr>
                        <a:t>Request additional identity verification (MFA)</a:t>
                      </a:r>
                    </a:p>
                  </a:txBody>
                  <a:tcPr marL="64008" marR="64008" marT="27432" marB="27432" anchor="ctr">
                    <a:solidFill>
                      <a:srgbClr val="EEF3FA"/>
                    </a:solidFill>
                  </a:tcPr>
                </a:tc>
                <a:tc>
                  <a:txBody>
                    <a:bodyPr/>
                    <a:lstStyle/>
                    <a:p>
                      <a:pPr algn="l"/>
                      <a:r>
                        <a:rPr sz="1200" b="0">
                          <a:solidFill>
                            <a:srgbClr val="1F2933"/>
                          </a:solidFill>
                        </a:rPr>
                        <a:t>16 (21%)</a:t>
                      </a:r>
                    </a:p>
                  </a:txBody>
                  <a:tcPr marL="64008" marR="64008" marT="27432" marB="27432" anchor="ctr">
                    <a:solidFill>
                      <a:srgbClr val="EEF3FA"/>
                    </a:solidFill>
                  </a:tcPr>
                </a:tc>
              </a:tr>
              <a:tr h="384048">
                <a:tc>
                  <a:txBody>
                    <a:bodyPr/>
                    <a:lstStyle/>
                    <a:p>
                      <a:pPr algn="l"/>
                      <a:r>
                        <a:rPr sz="1200" b="1">
                          <a:solidFill>
                            <a:srgbClr val="1F2933"/>
                          </a:solidFill>
                        </a:rPr>
                        <a:t>HIGH</a:t>
                      </a:r>
                    </a:p>
                  </a:txBody>
                  <a:tcPr marL="64008" marR="64008" marT="27432" marB="27432" anchor="ctr">
                    <a:solidFill>
                      <a:srgbClr val="FFFFFF"/>
                    </a:solidFill>
                  </a:tcPr>
                </a:tc>
                <a:tc>
                  <a:txBody>
                    <a:bodyPr/>
                    <a:lstStyle/>
                    <a:p>
                      <a:pPr algn="l"/>
                      <a:r>
                        <a:rPr sz="1200" b="0">
                          <a:solidFill>
                            <a:srgbClr val="1F2933"/>
                          </a:solidFill>
                        </a:rPr>
                        <a:t>Temporarily block</a:t>
                      </a:r>
                    </a:p>
                  </a:txBody>
                  <a:tcPr marL="64008" marR="64008" marT="27432" marB="27432" anchor="ctr">
                    <a:solidFill>
                      <a:srgbClr val="FFFFFF"/>
                    </a:solidFill>
                  </a:tcPr>
                </a:tc>
                <a:tc>
                  <a:txBody>
                    <a:bodyPr/>
                    <a:lstStyle/>
                    <a:p>
                      <a:pPr algn="l"/>
                      <a:r>
                        <a:rPr sz="1200" b="0">
                          <a:solidFill>
                            <a:srgbClr val="1F2933"/>
                          </a:solidFill>
                        </a:rPr>
                        <a:t>11 (14%)</a:t>
                      </a:r>
                    </a:p>
                  </a:txBody>
                  <a:tcPr marL="64008" marR="64008" marT="27432" marB="27432" anchor="ctr">
                    <a:solidFill>
                      <a:srgbClr val="FFFFFF"/>
                    </a:solidFill>
                  </a:tcPr>
                </a:tc>
              </a:tr>
              <a:tr h="384048">
                <a:tc>
                  <a:txBody>
                    <a:bodyPr/>
                    <a:lstStyle/>
                    <a:p>
                      <a:pPr algn="l"/>
                      <a:r>
                        <a:rPr sz="1200" b="1">
                          <a:solidFill>
                            <a:srgbClr val="1F2933"/>
                          </a:solidFill>
                        </a:rPr>
                        <a:t>CRITICAL</a:t>
                      </a:r>
                    </a:p>
                  </a:txBody>
                  <a:tcPr marL="64008" marR="64008" marT="27432" marB="27432" anchor="ctr">
                    <a:solidFill>
                      <a:srgbClr val="EEF3FA"/>
                    </a:solidFill>
                  </a:tcPr>
                </a:tc>
                <a:tc>
                  <a:txBody>
                    <a:bodyPr/>
                    <a:lstStyle/>
                    <a:p>
                      <a:pPr algn="l"/>
                      <a:r>
                        <a:rPr sz="1200" b="0">
                          <a:solidFill>
                            <a:srgbClr val="1F2933"/>
                          </a:solidFill>
                        </a:rPr>
                        <a:t>Flag for cyber analyst review</a:t>
                      </a:r>
                    </a:p>
                  </a:txBody>
                  <a:tcPr marL="64008" marR="64008" marT="27432" marB="27432" anchor="ctr">
                    <a:solidFill>
                      <a:srgbClr val="EEF3FA"/>
                    </a:solidFill>
                  </a:tcPr>
                </a:tc>
                <a:tc>
                  <a:txBody>
                    <a:bodyPr/>
                    <a:lstStyle/>
                    <a:p>
                      <a:pPr algn="l"/>
                      <a:r>
                        <a:rPr sz="1200" b="0">
                          <a:solidFill>
                            <a:srgbClr val="1F2933"/>
                          </a:solidFill>
                        </a:rPr>
                        <a:t>9 (12%)</a:t>
                      </a:r>
                    </a:p>
                  </a:txBody>
                  <a:tcPr marL="64008" marR="64008" marT="27432" marB="27432" anchor="ctr">
                    <a:solidFill>
                      <a:srgbClr val="EEF3FA"/>
                    </a:solidFill>
                  </a:tcPr>
                </a:tc>
              </a:tr>
            </a:tbl>
          </a:graphicData>
        </a:graphic>
      </p:graphicFrame>
      <p:sp>
        <p:nvSpPr>
          <p:cNvPr id="8" name="TextBox 7"/>
          <p:cNvSpPr txBox="1"/>
          <p:nvPr/>
        </p:nvSpPr>
        <p:spPr>
          <a:xfrm>
            <a:off x="758952" y="4206240"/>
            <a:ext cx="6309360" cy="1920240"/>
          </a:xfrm>
          <a:prstGeom prst="rect">
            <a:avLst/>
          </a:prstGeom>
          <a:noFill/>
        </p:spPr>
        <p:txBody>
          <a:bodyPr wrap="square" lIns="36576" tIns="36576" rIns="36576" bIns="36576" anchor="t">
            <a:noAutofit/>
          </a:bodyPr>
          <a:lstStyle/>
          <a:p>
            <a:pPr algn="l"/>
            <a:r>
              <a:rPr sz="1250" b="1">
                <a:solidFill>
                  <a:srgbClr val="1F2933"/>
                </a:solidFill>
              </a:rPr>
              <a:t>Four tiers, four actions. </a:t>
            </a:r>
            <a:r>
              <a:rPr sz="1250" b="0">
                <a:solidFill>
                  <a:srgbClr val="1F2933"/>
                </a:solidFill>
              </a:rPr>
              <a:t>Each tier maps to one recommendation, from Approve to Flag for analyst review.</a:t>
            </a:r>
          </a:p>
          <a:p>
            <a:pPr algn="l">
              <a:spcBef>
                <a:spcPts val="700"/>
              </a:spcBef>
            </a:pPr>
            <a:r>
              <a:rPr sz="1250" b="1">
                <a:solidFill>
                  <a:srgbClr val="1F2933"/>
                </a:solidFill>
              </a:rPr>
              <a:t>Most traffic is normal. </a:t>
            </a:r>
            <a:r>
              <a:rPr sz="1250" b="0">
                <a:solidFill>
                  <a:srgbClr val="1F2933"/>
                </a:solidFill>
              </a:rPr>
              <a:t>40 of 76 evaluations (53%) are LOW; 20 (26.3%) are HIGH or CRITICAL and blocked or flagged.</a:t>
            </a:r>
          </a:p>
          <a:p>
            <a:pPr algn="l">
              <a:spcBef>
                <a:spcPts val="700"/>
              </a:spcBef>
            </a:pPr>
            <a:r>
              <a:rPr sz="1250" b="1">
                <a:solidFill>
                  <a:srgbClr val="1F2933"/>
                </a:solidFill>
              </a:rPr>
              <a:t>Fast. </a:t>
            </a:r>
            <a:r>
              <a:rPr sz="1250" b="0">
                <a:solidFill>
                  <a:srgbClr val="1F2933"/>
                </a:solidFill>
              </a:rPr>
              <a:t>Average evaluation time is 1.83 ms; average severity index 21.1 (rule-based, not a probability).</a:t>
            </a:r>
          </a:p>
          <a:p>
            <a:pPr algn="l">
              <a:spcBef>
                <a:spcPts val="900"/>
              </a:spcBef>
            </a:pPr>
            <a:r>
              <a:rPr sz="1000" b="0">
                <a:solidFill>
                  <a:srgbClr val="6F7B85"/>
                </a:solidFill>
              </a:rPr>
              <a:t>Source: Analytics page, 76 stored evaluations, 74 of them synthetic demonstration records.</a:t>
            </a:r>
          </a:p>
        </p:txBody>
      </p:sp>
      <p:graphicFrame>
        <p:nvGraphicFramePr>
          <p:cNvPr id="9" name="Chart 8"/>
          <p:cNvGraphicFramePr>
            <a:graphicFrameLocks noGrp="1"/>
          </p:cNvGraphicFramePr>
          <p:nvPr/>
        </p:nvGraphicFramePr>
        <p:xfrm>
          <a:off x="7315200" y="1737360"/>
          <a:ext cx="4297680" cy="42062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09638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r>
              <a:rPr lang="en-US" altLang="en-US" sz="3200" b="1" dirty="0">
                <a:solidFill>
                  <a:srgbClr val="FF0000"/>
                </a:solidFill>
              </a:rPr>
              <a:t>Results &amp; Discussion</a:t>
            </a:r>
            <a:endParaRPr lang="en-IN" sz="2800" dirty="0"/>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20</a:t>
            </a:fld>
            <a:endParaRPr lang="en-IN"/>
          </a:p>
        </p:txBody>
      </p:sp>
      <p:sp>
        <p:nvSpPr>
          <p:cNvPr id="7" name="TextBox 6"/>
          <p:cNvSpPr txBox="1"/>
          <p:nvPr/>
        </p:nvSpPr>
        <p:spPr>
          <a:xfrm>
            <a:off x="758952" y="1664208"/>
            <a:ext cx="6675120" cy="329184"/>
          </a:xfrm>
          <a:prstGeom prst="rect">
            <a:avLst/>
          </a:prstGeom>
          <a:noFill/>
        </p:spPr>
        <p:txBody>
          <a:bodyPr wrap="square" lIns="36576" tIns="36576" rIns="36576" bIns="36576" anchor="t">
            <a:noAutofit/>
          </a:bodyPr>
          <a:lstStyle/>
          <a:p>
            <a:pPr algn="l"/>
            <a:r>
              <a:rPr sz="1300" b="1">
                <a:solidFill>
                  <a:srgbClr val="193054"/>
                </a:solidFill>
              </a:rPr>
              <a:t>Sample transactions TXN001 and TXN002 (from Transaction History)</a:t>
            </a:r>
          </a:p>
        </p:txBody>
      </p:sp>
      <p:graphicFrame>
        <p:nvGraphicFramePr>
          <p:cNvPr id="8" name="Table 7"/>
          <p:cNvGraphicFramePr>
            <a:graphicFrameLocks noGrp="1"/>
          </p:cNvGraphicFramePr>
          <p:nvPr/>
        </p:nvGraphicFramePr>
        <p:xfrm>
          <a:off x="758952" y="2011680"/>
          <a:ext cx="6766560" cy="3675888"/>
        </p:xfrm>
        <a:graphic>
          <a:graphicData uri="http://schemas.openxmlformats.org/drawingml/2006/table">
            <a:tbl>
              <a:tblPr firstRow="1" bandRow="1">
                <a:tableStyleId>{5C22544A-7EE6-4342-B048-85BDC9FD1C3A}</a:tableStyleId>
              </a:tblPr>
              <a:tblGrid>
                <a:gridCol w="1737360"/>
                <a:gridCol w="2560320"/>
                <a:gridCol w="2468880"/>
              </a:tblGrid>
              <a:tr h="384048">
                <a:tc>
                  <a:txBody>
                    <a:bodyPr/>
                    <a:lstStyle/>
                    <a:p>
                      <a:pPr algn="l"/>
                      <a:r>
                        <a:rPr sz="1100" b="1">
                          <a:solidFill>
                            <a:srgbClr val="FFFFFF"/>
                          </a:solidFill>
                        </a:rPr>
                        <a:t>Item</a:t>
                      </a:r>
                    </a:p>
                  </a:txBody>
                  <a:tcPr marL="64008" marR="64008" marT="27432" marB="27432" anchor="ctr">
                    <a:solidFill>
                      <a:srgbClr val="2A67B0"/>
                    </a:solidFill>
                  </a:tcPr>
                </a:tc>
                <a:tc>
                  <a:txBody>
                    <a:bodyPr/>
                    <a:lstStyle/>
                    <a:p>
                      <a:pPr algn="l"/>
                      <a:r>
                        <a:rPr sz="1100" b="1">
                          <a:solidFill>
                            <a:srgbClr val="FFFFFF"/>
                          </a:solidFill>
                        </a:rPr>
                        <a:t>TXN001</a:t>
                      </a:r>
                    </a:p>
                  </a:txBody>
                  <a:tcPr marL="64008" marR="64008" marT="27432" marB="27432" anchor="ctr">
                    <a:solidFill>
                      <a:srgbClr val="2A67B0"/>
                    </a:solidFill>
                  </a:tcPr>
                </a:tc>
                <a:tc>
                  <a:txBody>
                    <a:bodyPr/>
                    <a:lstStyle/>
                    <a:p>
                      <a:pPr algn="l"/>
                      <a:r>
                        <a:rPr sz="1100" b="1">
                          <a:solidFill>
                            <a:srgbClr val="FFFFFF"/>
                          </a:solidFill>
                        </a:rPr>
                        <a:t>TXN002</a:t>
                      </a:r>
                    </a:p>
                  </a:txBody>
                  <a:tcPr marL="64008" marR="64008" marT="27432" marB="27432" anchor="ctr">
                    <a:solidFill>
                      <a:srgbClr val="2A67B0"/>
                    </a:solidFill>
                  </a:tcPr>
                </a:tc>
              </a:tr>
              <a:tr h="365760">
                <a:tc>
                  <a:txBody>
                    <a:bodyPr/>
                    <a:lstStyle/>
                    <a:p>
                      <a:pPr algn="l"/>
                      <a:r>
                        <a:rPr sz="1150" b="1">
                          <a:solidFill>
                            <a:srgbClr val="1F2933"/>
                          </a:solidFill>
                        </a:rPr>
                        <a:t>User</a:t>
                      </a:r>
                    </a:p>
                  </a:txBody>
                  <a:tcPr marL="64008" marR="64008" marT="27432" marB="27432" anchor="ctr">
                    <a:solidFill>
                      <a:srgbClr val="FFFFFF"/>
                    </a:solidFill>
                  </a:tcPr>
                </a:tc>
                <a:tc>
                  <a:txBody>
                    <a:bodyPr/>
                    <a:lstStyle/>
                    <a:p>
                      <a:pPr algn="l"/>
                      <a:r>
                        <a:rPr sz="1150" b="0">
                          <a:solidFill>
                            <a:srgbClr val="1F2933"/>
                          </a:solidFill>
                        </a:rPr>
                        <a:t>USER001</a:t>
                      </a:r>
                    </a:p>
                  </a:txBody>
                  <a:tcPr marL="64008" marR="64008" marT="27432" marB="27432" anchor="ctr">
                    <a:solidFill>
                      <a:srgbClr val="FFFFFF"/>
                    </a:solidFill>
                  </a:tcPr>
                </a:tc>
                <a:tc>
                  <a:txBody>
                    <a:bodyPr/>
                    <a:lstStyle/>
                    <a:p>
                      <a:pPr algn="l"/>
                      <a:r>
                        <a:rPr sz="1150" b="0">
                          <a:solidFill>
                            <a:srgbClr val="1F2933"/>
                          </a:solidFill>
                        </a:rPr>
                        <a:t>USER002</a:t>
                      </a:r>
                    </a:p>
                  </a:txBody>
                  <a:tcPr marL="64008" marR="64008" marT="27432" marB="27432" anchor="ctr">
                    <a:solidFill>
                      <a:srgbClr val="FFFFFF"/>
                    </a:solidFill>
                  </a:tcPr>
                </a:tc>
              </a:tr>
              <a:tr h="365760">
                <a:tc>
                  <a:txBody>
                    <a:bodyPr/>
                    <a:lstStyle/>
                    <a:p>
                      <a:pPr algn="l"/>
                      <a:r>
                        <a:rPr sz="1150" b="1">
                          <a:solidFill>
                            <a:srgbClr val="1F2933"/>
                          </a:solidFill>
                        </a:rPr>
                        <a:t>Amount</a:t>
                      </a:r>
                    </a:p>
                  </a:txBody>
                  <a:tcPr marL="64008" marR="64008" marT="27432" marB="27432" anchor="ctr">
                    <a:solidFill>
                      <a:srgbClr val="EEF3FA"/>
                    </a:solidFill>
                  </a:tcPr>
                </a:tc>
                <a:tc>
                  <a:txBody>
                    <a:bodyPr/>
                    <a:lstStyle/>
                    <a:p>
                      <a:pPr algn="l"/>
                      <a:r>
                        <a:rPr sz="1150" b="0">
                          <a:solidFill>
                            <a:srgbClr val="1F2933"/>
                          </a:solidFill>
                        </a:rPr>
                        <a:t>₹85,000</a:t>
                      </a:r>
                    </a:p>
                  </a:txBody>
                  <a:tcPr marL="64008" marR="64008" marT="27432" marB="27432" anchor="ctr">
                    <a:solidFill>
                      <a:srgbClr val="EEF3FA"/>
                    </a:solidFill>
                  </a:tcPr>
                </a:tc>
                <a:tc>
                  <a:txBody>
                    <a:bodyPr/>
                    <a:lstStyle/>
                    <a:p>
                      <a:pPr algn="l"/>
                      <a:r>
                        <a:rPr sz="1150" b="0">
                          <a:solidFill>
                            <a:srgbClr val="1F2933"/>
                          </a:solidFill>
                        </a:rPr>
                        <a:t>₹2,500</a:t>
                      </a:r>
                    </a:p>
                  </a:txBody>
                  <a:tcPr marL="64008" marR="64008" marT="27432" marB="27432" anchor="ctr">
                    <a:solidFill>
                      <a:srgbClr val="EEF3FA"/>
                    </a:solidFill>
                  </a:tcPr>
                </a:tc>
              </a:tr>
              <a:tr h="365760">
                <a:tc>
                  <a:txBody>
                    <a:bodyPr/>
                    <a:lstStyle/>
                    <a:p>
                      <a:pPr algn="l"/>
                      <a:r>
                        <a:rPr sz="1150" b="1">
                          <a:solidFill>
                            <a:srgbClr val="1F2933"/>
                          </a:solidFill>
                        </a:rPr>
                        <a:t>Location</a:t>
                      </a:r>
                    </a:p>
                  </a:txBody>
                  <a:tcPr marL="64008" marR="64008" marT="27432" marB="27432" anchor="ctr">
                    <a:solidFill>
                      <a:srgbClr val="FFFFFF"/>
                    </a:solidFill>
                  </a:tcPr>
                </a:tc>
                <a:tc>
                  <a:txBody>
                    <a:bodyPr/>
                    <a:lstStyle/>
                    <a:p>
                      <a:pPr algn="l"/>
                      <a:r>
                        <a:rPr sz="1150" b="0">
                          <a:solidFill>
                            <a:srgbClr val="1F2933"/>
                          </a:solidFill>
                        </a:rPr>
                        <a:t>Delhi</a:t>
                      </a:r>
                    </a:p>
                  </a:txBody>
                  <a:tcPr marL="64008" marR="64008" marT="27432" marB="27432" anchor="ctr">
                    <a:solidFill>
                      <a:srgbClr val="FFFFFF"/>
                    </a:solidFill>
                  </a:tcPr>
                </a:tc>
                <a:tc>
                  <a:txBody>
                    <a:bodyPr/>
                    <a:lstStyle/>
                    <a:p>
                      <a:pPr algn="l"/>
                      <a:r>
                        <a:rPr sz="1150" b="0">
                          <a:solidFill>
                            <a:srgbClr val="1F2933"/>
                          </a:solidFill>
                        </a:rPr>
                        <a:t>Chennai</a:t>
                      </a:r>
                    </a:p>
                  </a:txBody>
                  <a:tcPr marL="64008" marR="64008" marT="27432" marB="27432" anchor="ctr">
                    <a:solidFill>
                      <a:srgbClr val="FFFFFF"/>
                    </a:solidFill>
                  </a:tcPr>
                </a:tc>
              </a:tr>
              <a:tr h="365760">
                <a:tc>
                  <a:txBody>
                    <a:bodyPr/>
                    <a:lstStyle/>
                    <a:p>
                      <a:pPr algn="l"/>
                      <a:r>
                        <a:rPr sz="1150" b="1">
                          <a:solidFill>
                            <a:srgbClr val="1F2933"/>
                          </a:solidFill>
                        </a:rPr>
                        <a:t>Device trust</a:t>
                      </a:r>
                    </a:p>
                  </a:txBody>
                  <a:tcPr marL="64008" marR="64008" marT="27432" marB="27432" anchor="ctr">
                    <a:solidFill>
                      <a:srgbClr val="EEF3FA"/>
                    </a:solidFill>
                  </a:tcPr>
                </a:tc>
                <a:tc>
                  <a:txBody>
                    <a:bodyPr/>
                    <a:lstStyle/>
                    <a:p>
                      <a:pPr algn="l"/>
                      <a:r>
                        <a:rPr sz="1150" b="0">
                          <a:solidFill>
                            <a:srgbClr val="1F2933"/>
                          </a:solidFill>
                        </a:rPr>
                        <a:t>Untrusted</a:t>
                      </a:r>
                    </a:p>
                  </a:txBody>
                  <a:tcPr marL="64008" marR="64008" marT="27432" marB="27432" anchor="ctr">
                    <a:solidFill>
                      <a:srgbClr val="EEF3FA"/>
                    </a:solidFill>
                  </a:tcPr>
                </a:tc>
                <a:tc>
                  <a:txBody>
                    <a:bodyPr/>
                    <a:lstStyle/>
                    <a:p>
                      <a:pPr algn="l"/>
                      <a:r>
                        <a:rPr sz="1150" b="0">
                          <a:solidFill>
                            <a:srgbClr val="1F2933"/>
                          </a:solidFill>
                        </a:rPr>
                        <a:t>Trusted</a:t>
                      </a:r>
                    </a:p>
                  </a:txBody>
                  <a:tcPr marL="64008" marR="64008" marT="27432" marB="27432" anchor="ctr">
                    <a:solidFill>
                      <a:srgbClr val="EEF3FA"/>
                    </a:solidFill>
                  </a:tcPr>
                </a:tc>
              </a:tr>
              <a:tr h="365760">
                <a:tc>
                  <a:txBody>
                    <a:bodyPr/>
                    <a:lstStyle/>
                    <a:p>
                      <a:pPr algn="l"/>
                      <a:r>
                        <a:rPr sz="1150" b="1">
                          <a:solidFill>
                            <a:srgbClr val="1F2933"/>
                          </a:solidFill>
                        </a:rPr>
                        <a:t>Primary indicators</a:t>
                      </a:r>
                    </a:p>
                  </a:txBody>
                  <a:tcPr marL="64008" marR="64008" marT="27432" marB="27432" anchor="ctr">
                    <a:solidFill>
                      <a:srgbClr val="FFFFFF"/>
                    </a:solidFill>
                  </a:tcPr>
                </a:tc>
                <a:tc>
                  <a:txBody>
                    <a:bodyPr/>
                    <a:lstStyle/>
                    <a:p>
                      <a:pPr algn="l"/>
                      <a:r>
                        <a:rPr sz="1150" b="0">
                          <a:solidFill>
                            <a:srgbClr val="1F2933"/>
                          </a:solidFill>
                        </a:rPr>
                        <a:t>Suspicious login; high-value transaction</a:t>
                      </a:r>
                    </a:p>
                  </a:txBody>
                  <a:tcPr marL="64008" marR="64008" marT="27432" marB="27432" anchor="ctr">
                    <a:solidFill>
                      <a:srgbClr val="FFFFFF"/>
                    </a:solidFill>
                  </a:tcPr>
                </a:tc>
                <a:tc>
                  <a:txBody>
                    <a:bodyPr/>
                    <a:lstStyle/>
                    <a:p>
                      <a:pPr algn="l"/>
                      <a:r>
                        <a:rPr sz="1150" b="0">
                          <a:solidFill>
                            <a:srgbClr val="1F2933"/>
                          </a:solidFill>
                        </a:rPr>
                        <a:t>Trusted device, familiar location</a:t>
                      </a:r>
                    </a:p>
                  </a:txBody>
                  <a:tcPr marL="64008" marR="64008" marT="27432" marB="27432" anchor="ctr">
                    <a:solidFill>
                      <a:srgbClr val="FFFFFF"/>
                    </a:solidFill>
                  </a:tcPr>
                </a:tc>
              </a:tr>
              <a:tr h="365760">
                <a:tc>
                  <a:txBody>
                    <a:bodyPr/>
                    <a:lstStyle/>
                    <a:p>
                      <a:pPr algn="l"/>
                      <a:r>
                        <a:rPr sz="1150" b="1">
                          <a:solidFill>
                            <a:srgbClr val="1F2933"/>
                          </a:solidFill>
                        </a:rPr>
                        <a:t>Rule firings*</a:t>
                      </a:r>
                    </a:p>
                  </a:txBody>
                  <a:tcPr marL="64008" marR="64008" marT="27432" marB="27432" anchor="ctr">
                    <a:solidFill>
                      <a:srgbClr val="EEF3FA"/>
                    </a:solidFill>
                  </a:tcPr>
                </a:tc>
                <a:tc>
                  <a:txBody>
                    <a:bodyPr/>
                    <a:lstStyle/>
                    <a:p>
                      <a:pPr algn="l"/>
                      <a:r>
                        <a:rPr sz="1150" b="0">
                          <a:solidFill>
                            <a:srgbClr val="1F2933"/>
                          </a:solidFill>
                        </a:rPr>
                        <a:t>21 (R40 raises the alert)</a:t>
                      </a:r>
                    </a:p>
                  </a:txBody>
                  <a:tcPr marL="64008" marR="64008" marT="27432" marB="27432" anchor="ctr">
                    <a:solidFill>
                      <a:srgbClr val="EEF3FA"/>
                    </a:solidFill>
                  </a:tcPr>
                </a:tc>
                <a:tc>
                  <a:txBody>
                    <a:bodyPr/>
                    <a:lstStyle/>
                    <a:p>
                      <a:pPr algn="l"/>
                      <a:r>
                        <a:rPr sz="1150" b="0">
                          <a:solidFill>
                            <a:srgbClr val="1F2933"/>
                          </a:solidFill>
                        </a:rPr>
                        <a:t>1 (R50)</a:t>
                      </a:r>
                    </a:p>
                  </a:txBody>
                  <a:tcPr marL="64008" marR="64008" marT="27432" marB="27432" anchor="ctr">
                    <a:solidFill>
                      <a:srgbClr val="EEF3FA"/>
                    </a:solidFill>
                  </a:tcPr>
                </a:tc>
              </a:tr>
              <a:tr h="365760">
                <a:tc>
                  <a:txBody>
                    <a:bodyPr/>
                    <a:lstStyle/>
                    <a:p>
                      <a:pPr algn="l"/>
                      <a:r>
                        <a:rPr sz="1150" b="1">
                          <a:solidFill>
                            <a:srgbClr val="1F2933"/>
                          </a:solidFill>
                        </a:rPr>
                        <a:t>Severity index</a:t>
                      </a:r>
                    </a:p>
                  </a:txBody>
                  <a:tcPr marL="64008" marR="64008" marT="27432" marB="27432" anchor="ctr">
                    <a:solidFill>
                      <a:srgbClr val="FFFFFF"/>
                    </a:solidFill>
                  </a:tcPr>
                </a:tc>
                <a:tc>
                  <a:txBody>
                    <a:bodyPr/>
                    <a:lstStyle/>
                    <a:p>
                      <a:pPr algn="l"/>
                      <a:r>
                        <a:rPr sz="1150" b="0">
                          <a:solidFill>
                            <a:srgbClr val="1F2933"/>
                          </a:solidFill>
                        </a:rPr>
                        <a:t>100 / 100</a:t>
                      </a:r>
                    </a:p>
                  </a:txBody>
                  <a:tcPr marL="64008" marR="64008" marT="27432" marB="27432" anchor="ctr">
                    <a:solidFill>
                      <a:srgbClr val="FFFFFF"/>
                    </a:solidFill>
                  </a:tcPr>
                </a:tc>
                <a:tc>
                  <a:txBody>
                    <a:bodyPr/>
                    <a:lstStyle/>
                    <a:p>
                      <a:pPr algn="l"/>
                      <a:r>
                        <a:rPr sz="1150" b="0">
                          <a:solidFill>
                            <a:srgbClr val="1F2933"/>
                          </a:solidFill>
                        </a:rPr>
                        <a:t>0 / 100</a:t>
                      </a:r>
                    </a:p>
                  </a:txBody>
                  <a:tcPr marL="64008" marR="64008" marT="27432" marB="27432" anchor="ctr">
                    <a:solidFill>
                      <a:srgbClr val="FFFFFF"/>
                    </a:solidFill>
                  </a:tcPr>
                </a:tc>
              </a:tr>
              <a:tr h="365760">
                <a:tc>
                  <a:txBody>
                    <a:bodyPr/>
                    <a:lstStyle/>
                    <a:p>
                      <a:pPr algn="l"/>
                      <a:r>
                        <a:rPr sz="1150" b="1">
                          <a:solidFill>
                            <a:srgbClr val="1F2933"/>
                          </a:solidFill>
                        </a:rPr>
                        <a:t>Risk tier</a:t>
                      </a:r>
                    </a:p>
                  </a:txBody>
                  <a:tcPr marL="64008" marR="64008" marT="27432" marB="27432" anchor="ctr">
                    <a:solidFill>
                      <a:srgbClr val="EEF3FA"/>
                    </a:solidFill>
                  </a:tcPr>
                </a:tc>
                <a:tc>
                  <a:txBody>
                    <a:bodyPr/>
                    <a:lstStyle/>
                    <a:p>
                      <a:pPr algn="l"/>
                      <a:r>
                        <a:rPr sz="1150" b="0">
                          <a:solidFill>
                            <a:srgbClr val="1F2933"/>
                          </a:solidFill>
                        </a:rPr>
                        <a:t>CRITICAL</a:t>
                      </a:r>
                    </a:p>
                  </a:txBody>
                  <a:tcPr marL="64008" marR="64008" marT="27432" marB="27432" anchor="ctr">
                    <a:solidFill>
                      <a:srgbClr val="EEF3FA"/>
                    </a:solidFill>
                  </a:tcPr>
                </a:tc>
                <a:tc>
                  <a:txBody>
                    <a:bodyPr/>
                    <a:lstStyle/>
                    <a:p>
                      <a:pPr algn="l"/>
                      <a:r>
                        <a:rPr sz="1150" b="0">
                          <a:solidFill>
                            <a:srgbClr val="1F2933"/>
                          </a:solidFill>
                        </a:rPr>
                        <a:t>LOW</a:t>
                      </a:r>
                    </a:p>
                  </a:txBody>
                  <a:tcPr marL="64008" marR="64008" marT="27432" marB="27432" anchor="ctr">
                    <a:solidFill>
                      <a:srgbClr val="EEF3FA"/>
                    </a:solidFill>
                  </a:tcPr>
                </a:tc>
              </a:tr>
              <a:tr h="365760">
                <a:tc>
                  <a:txBody>
                    <a:bodyPr/>
                    <a:lstStyle/>
                    <a:p>
                      <a:pPr algn="l"/>
                      <a:r>
                        <a:rPr sz="1150" b="1">
                          <a:solidFill>
                            <a:srgbClr val="1F2933"/>
                          </a:solidFill>
                        </a:rPr>
                        <a:t>Recommendation</a:t>
                      </a:r>
                    </a:p>
                  </a:txBody>
                  <a:tcPr marL="64008" marR="64008" marT="27432" marB="27432" anchor="ctr">
                    <a:solidFill>
                      <a:srgbClr val="FFFFFF"/>
                    </a:solidFill>
                  </a:tcPr>
                </a:tc>
                <a:tc>
                  <a:txBody>
                    <a:bodyPr/>
                    <a:lstStyle/>
                    <a:p>
                      <a:pPr algn="l"/>
                      <a:r>
                        <a:rPr sz="1150" b="0">
                          <a:solidFill>
                            <a:srgbClr val="1F2933"/>
                          </a:solidFill>
                        </a:rPr>
                        <a:t>Flag for analyst review</a:t>
                      </a:r>
                    </a:p>
                  </a:txBody>
                  <a:tcPr marL="64008" marR="64008" marT="27432" marB="27432" anchor="ctr">
                    <a:solidFill>
                      <a:srgbClr val="FFFFFF"/>
                    </a:solidFill>
                  </a:tcPr>
                </a:tc>
                <a:tc>
                  <a:txBody>
                    <a:bodyPr/>
                    <a:lstStyle/>
                    <a:p>
                      <a:pPr algn="l"/>
                      <a:r>
                        <a:rPr sz="1150" b="0">
                          <a:solidFill>
                            <a:srgbClr val="1F2933"/>
                          </a:solidFill>
                        </a:rPr>
                        <a:t>Approve</a:t>
                      </a:r>
                    </a:p>
                  </a:txBody>
                  <a:tcPr marL="64008" marR="64008" marT="27432" marB="27432" anchor="ctr">
                    <a:solidFill>
                      <a:srgbClr val="FFFFFF"/>
                    </a:solidFill>
                  </a:tcPr>
                </a:tc>
              </a:tr>
            </a:tbl>
          </a:graphicData>
        </a:graphic>
      </p:graphicFrame>
      <p:sp>
        <p:nvSpPr>
          <p:cNvPr id="9" name="TextBox 8"/>
          <p:cNvSpPr txBox="1"/>
          <p:nvPr/>
        </p:nvSpPr>
        <p:spPr>
          <a:xfrm>
            <a:off x="8001000" y="1664208"/>
            <a:ext cx="3520440" cy="4389120"/>
          </a:xfrm>
          <a:prstGeom prst="rect">
            <a:avLst/>
          </a:prstGeom>
          <a:noFill/>
        </p:spPr>
        <p:txBody>
          <a:bodyPr wrap="square" lIns="36576" tIns="36576" rIns="36576" bIns="36576" anchor="t">
            <a:noAutofit/>
          </a:bodyPr>
          <a:lstStyle/>
          <a:p>
            <a:pPr algn="l"/>
            <a:r>
              <a:rPr sz="1400" b="1">
                <a:solidFill>
                  <a:srgbClr val="CC0000"/>
                </a:solidFill>
              </a:rPr>
              <a:t>What the results show</a:t>
            </a:r>
          </a:p>
          <a:p>
            <a:pPr algn="l">
              <a:spcBef>
                <a:spcPts val="600"/>
              </a:spcBef>
            </a:pPr>
            <a:r>
              <a:rPr sz="1200" b="1">
                <a:solidFill>
                  <a:srgbClr val="1F2933"/>
                </a:solidFill>
              </a:rPr>
              <a:t>Evidence, not a guess: </a:t>
            </a:r>
            <a:r>
              <a:rPr sz="1200" b="0">
                <a:solidFill>
                  <a:srgbClr val="1F2933"/>
                </a:solidFill>
              </a:rPr>
              <a:t>TXN001 is flagged for a high-value amount and suspicious login behaviour on an untrusted device.</a:t>
            </a:r>
          </a:p>
          <a:p>
            <a:pPr algn="l">
              <a:spcBef>
                <a:spcPts val="600"/>
              </a:spcBef>
            </a:pPr>
            <a:r>
              <a:rPr sz="1200" b="1">
                <a:solidFill>
                  <a:srgbClr val="1F2933"/>
                </a:solidFill>
              </a:rPr>
              <a:t>Many rules agree: </a:t>
            </a:r>
            <a:r>
              <a:rPr sz="1200" b="0">
                <a:solidFill>
                  <a:srgbClr val="1F2933"/>
                </a:solidFill>
              </a:rPr>
              <a:t>re-running TXN001's inputs fired 21 rules; R40 raises the critical alert.</a:t>
            </a:r>
          </a:p>
          <a:p>
            <a:pPr algn="l">
              <a:spcBef>
                <a:spcPts val="600"/>
              </a:spcBef>
            </a:pPr>
            <a:r>
              <a:rPr sz="1200" b="1">
                <a:solidFill>
                  <a:srgbClr val="1F2933"/>
                </a:solidFill>
              </a:rPr>
              <a:t>Normal stays quiet: </a:t>
            </a:r>
            <a:r>
              <a:rPr sz="1200" b="0">
                <a:solidFill>
                  <a:srgbClr val="1F2933"/>
                </a:solidFill>
              </a:rPr>
              <a:t>TXN002's inputs fire one rule, R50 (trusted device in familiar location), so the tier is LOW.</a:t>
            </a:r>
          </a:p>
          <a:p>
            <a:pPr algn="l">
              <a:spcBef>
                <a:spcPts val="600"/>
              </a:spcBef>
            </a:pPr>
            <a:r>
              <a:rPr sz="1200" b="1">
                <a:solidFill>
                  <a:srgbClr val="1F2933"/>
                </a:solidFill>
              </a:rPr>
              <a:t>Severity index: </a:t>
            </a:r>
            <a:r>
              <a:rPr sz="1200" b="0">
                <a:solidFill>
                  <a:srgbClr val="1F2933"/>
                </a:solidFill>
              </a:rPr>
              <a:t>a 0–100 weighted count of fired rules; transparent, not a probability.</a:t>
            </a:r>
          </a:p>
          <a:p>
            <a:pPr algn="l">
              <a:spcBef>
                <a:spcPts val="600"/>
              </a:spcBef>
            </a:pPr>
            <a:r>
              <a:rPr sz="1200" b="1">
                <a:solidFill>
                  <a:srgbClr val="1F2933"/>
                </a:solidFill>
              </a:rPr>
              <a:t>Explained: </a:t>
            </a:r>
            <a:r>
              <a:rPr sz="1200" b="0">
                <a:solidFill>
                  <a:srgbClr val="1F2933"/>
                </a:solidFill>
              </a:rPr>
              <a:t>each result opens to its rule trail and a PDF report.</a:t>
            </a:r>
          </a:p>
          <a:p>
            <a:pPr algn="l">
              <a:spcBef>
                <a:spcPts val="800"/>
              </a:spcBef>
            </a:pPr>
            <a:r>
              <a:rPr sz="1000" b="0">
                <a:solidFill>
                  <a:srgbClr val="6F7B85"/>
                </a:solidFill>
              </a:rPr>
              <a:t>*Rule firings come from analyst re-runs with identical inputs (TXNV6NOY4Y, TXNV6NPSZ0). Data is synthetic.</a:t>
            </a:r>
          </a:p>
        </p:txBody>
      </p:sp>
    </p:spTree>
    <p:extLst>
      <p:ext uri="{BB962C8B-B14F-4D97-AF65-F5344CB8AC3E}">
        <p14:creationId xmlns:p14="http://schemas.microsoft.com/office/powerpoint/2010/main" val="4109638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2664CE-7311-4C5B-AA2E-45ABB90DD588}"/>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sp>
        <p:nvSpPr>
          <p:cNvPr id="4" name="Date Placeholder 3">
            <a:extLst>
              <a:ext uri="{FF2B5EF4-FFF2-40B4-BE49-F238E27FC236}">
                <a16:creationId xmlns:a16="http://schemas.microsoft.com/office/drawing/2014/main" xmlns="" id="{26FBE2C3-AC88-4E92-99FF-8D9C75D3439B}"/>
              </a:ext>
            </a:extLst>
          </p:cNvPr>
          <p:cNvSpPr>
            <a:spLocks noGrp="1"/>
          </p:cNvSpPr>
          <p:nvPr>
            <p:ph type="dt" sz="half" idx="10"/>
          </p:nvPr>
        </p:nvSpPr>
        <p:spPr/>
        <p:txBody>
          <a:bodyPr/>
          <a:lstStyle/>
          <a:p>
            <a:pPr>
              <a:defRPr/>
            </a:pPr>
            <a:r>
              <a:rPr lang="en-US"/>
              <a:t>Model Review</a:t>
            </a:r>
          </a:p>
        </p:txBody>
      </p:sp>
      <p:sp>
        <p:nvSpPr>
          <p:cNvPr id="5" name="Footer Placeholder 4">
            <a:extLst>
              <a:ext uri="{FF2B5EF4-FFF2-40B4-BE49-F238E27FC236}">
                <a16:creationId xmlns:a16="http://schemas.microsoft.com/office/drawing/2014/main" xmlns="" id="{2454BBD9-F4E8-4A60-9A83-C40083E30873}"/>
              </a:ext>
            </a:extLst>
          </p:cNvPr>
          <p:cNvSpPr>
            <a:spLocks noGrp="1"/>
          </p:cNvSpPr>
          <p:nvPr>
            <p:ph type="ftr" sz="quarter" idx="11"/>
          </p:nvPr>
        </p:nvSpPr>
        <p:spPr>
          <a:xfrm>
            <a:off x="3383280" y="6245352"/>
            <a:ext cx="5394960" cy="475488"/>
          </a:xfrm>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xmlns="" id="{3306318D-05CC-4803-9541-7064C44F7DE0}"/>
              </a:ext>
            </a:extLst>
          </p:cNvPr>
          <p:cNvSpPr>
            <a:spLocks noGrp="1"/>
          </p:cNvSpPr>
          <p:nvPr>
            <p:ph type="sldNum" sz="quarter" idx="12"/>
          </p:nvPr>
        </p:nvSpPr>
        <p:spPr/>
        <p:txBody>
          <a:bodyPr/>
          <a:lstStyle/>
          <a:p>
            <a:pPr>
              <a:defRPr/>
            </a:pPr>
            <a:fld id="{BDC2143B-610F-499C-A392-DFFBE135A7B2}" type="slidenum">
              <a:rPr lang="en-US" altLang="en-US" smtClean="0"/>
              <a:pPr>
                <a:defRPr/>
              </a:pPr>
              <a:t>21</a:t>
            </a:fld>
            <a:endParaRPr lang="en-US" altLang="en-US"/>
          </a:p>
        </p:txBody>
      </p:sp>
      <p:sp>
        <p:nvSpPr>
          <p:cNvPr id="8" name="TextBox 7"/>
          <p:cNvSpPr txBox="1"/>
          <p:nvPr/>
        </p:nvSpPr>
        <p:spPr>
          <a:xfrm>
            <a:off x="731520" y="5037995"/>
            <a:ext cx="5212080" cy="914400"/>
          </a:xfrm>
          <a:prstGeom prst="rect">
            <a:avLst/>
          </a:prstGeom>
          <a:noFill/>
        </p:spPr>
        <p:txBody>
          <a:bodyPr wrap="square" lIns="18288" tIns="18288" rIns="18288" bIns="18288" anchor="t">
            <a:noAutofit/>
          </a:bodyPr>
          <a:lstStyle/>
          <a:p>
            <a:pPr algn="l"/>
            <a:r>
              <a:rPr sz="1200" b="1">
                <a:solidFill>
                  <a:srgbClr val="193054"/>
                </a:solidFill>
              </a:rPr>
              <a:t>Dashboard – </a:t>
            </a:r>
            <a:r>
              <a:rPr sz="1200" b="0">
                <a:solidFill>
                  <a:srgbClr val="1F2933"/>
                </a:solidFill>
              </a:rPr>
              <a:t>evaluations, risk distribution, daily trend, recent critical and high-risk alerts, system status and top triggered rules.</a:t>
            </a:r>
          </a:p>
        </p:txBody>
      </p:sp>
      <p:sp>
        <p:nvSpPr>
          <p:cNvPr id="10" name="TextBox 9"/>
          <p:cNvSpPr txBox="1"/>
          <p:nvPr/>
        </p:nvSpPr>
        <p:spPr>
          <a:xfrm>
            <a:off x="6217920" y="5032033"/>
            <a:ext cx="5212080" cy="914400"/>
          </a:xfrm>
          <a:prstGeom prst="rect">
            <a:avLst/>
          </a:prstGeom>
          <a:noFill/>
        </p:spPr>
        <p:txBody>
          <a:bodyPr wrap="square" lIns="18288" tIns="18288" rIns="18288" bIns="18288" anchor="t">
            <a:noAutofit/>
          </a:bodyPr>
          <a:lstStyle/>
          <a:p>
            <a:pPr algn="l"/>
            <a:r>
              <a:rPr sz="1200" b="1">
                <a:solidFill>
                  <a:srgbClr val="193054"/>
                </a:solidFill>
              </a:rPr>
              <a:t>Transaction Analysis – </a:t>
            </a:r>
            <a:r>
              <a:rPr sz="1200" b="0">
                <a:solidFill>
                  <a:srgbClr val="1F2933"/>
                </a:solidFill>
              </a:rPr>
              <a:t>the seven security parameters are submitted; quick scenarios fill the form and the rule engine alone decides the risk level.</a:t>
            </a:r>
          </a:p>
        </p:txBody>
      </p:sp>
      <p:pic>
        <p:nvPicPr>
          <p:cNvPr id="11" name="Picture 10" descr="9b2f2baa-image.png"/>
          <p:cNvPicPr>
            <a:picLocks noChangeAspect="1"/>
          </p:cNvPicPr>
          <p:nvPr/>
        </p:nvPicPr>
        <p:blipFill>
          <a:blip r:embed="rId2"/>
          <a:stretch>
            <a:fillRect/>
          </a:stretch>
        </p:blipFill>
        <p:spPr>
          <a:xfrm>
            <a:off x="731520" y="2377440"/>
            <a:ext cx="5212080" cy="2550827"/>
          </a:xfrm>
          <a:prstGeom prst="rect">
            <a:avLst/>
          </a:prstGeom>
          <a:ln w="9525">
            <a:solidFill>
              <a:srgbClr val="B8C0C8"/>
            </a:solidFill>
          </a:ln>
        </p:spPr>
      </p:pic>
      <p:pic>
        <p:nvPicPr>
          <p:cNvPr id="12" name="Picture 11" descr="539d6544-image.png"/>
          <p:cNvPicPr>
            <a:picLocks noChangeAspect="1"/>
          </p:cNvPicPr>
          <p:nvPr/>
        </p:nvPicPr>
        <p:blipFill>
          <a:blip r:embed="rId3"/>
          <a:stretch>
            <a:fillRect/>
          </a:stretch>
        </p:blipFill>
        <p:spPr>
          <a:xfrm>
            <a:off x="6217920" y="2377440"/>
            <a:ext cx="5212080" cy="2544865"/>
          </a:xfrm>
          <a:prstGeom prst="rect">
            <a:avLst/>
          </a:prstGeom>
          <a:ln w="9525">
            <a:solidFill>
              <a:srgbClr val="B8C0C8"/>
            </a:solidFill>
          </a:ln>
        </p:spPr>
      </p:pic>
    </p:spTree>
    <p:extLst>
      <p:ext uri="{BB962C8B-B14F-4D97-AF65-F5344CB8AC3E}">
        <p14:creationId xmlns:p14="http://schemas.microsoft.com/office/powerpoint/2010/main" val="2257265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2664CE-7311-4C5B-AA2E-45ABB90DD588}"/>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sp>
        <p:nvSpPr>
          <p:cNvPr id="4" name="Date Placeholder 3">
            <a:extLst>
              <a:ext uri="{FF2B5EF4-FFF2-40B4-BE49-F238E27FC236}">
                <a16:creationId xmlns:a16="http://schemas.microsoft.com/office/drawing/2014/main" xmlns="" id="{26FBE2C3-AC88-4E92-99FF-8D9C75D3439B}"/>
              </a:ext>
            </a:extLst>
          </p:cNvPr>
          <p:cNvSpPr>
            <a:spLocks noGrp="1"/>
          </p:cNvSpPr>
          <p:nvPr>
            <p:ph type="dt" sz="half" idx="10"/>
          </p:nvPr>
        </p:nvSpPr>
        <p:spPr/>
        <p:txBody>
          <a:bodyPr/>
          <a:lstStyle/>
          <a:p>
            <a:pPr>
              <a:defRPr/>
            </a:pPr>
            <a:r>
              <a:rPr lang="en-US"/>
              <a:t>Model Review</a:t>
            </a:r>
          </a:p>
        </p:txBody>
      </p:sp>
      <p:sp>
        <p:nvSpPr>
          <p:cNvPr id="5" name="Footer Placeholder 4">
            <a:extLst>
              <a:ext uri="{FF2B5EF4-FFF2-40B4-BE49-F238E27FC236}">
                <a16:creationId xmlns:a16="http://schemas.microsoft.com/office/drawing/2014/main" xmlns="" id="{2454BBD9-F4E8-4A60-9A83-C40083E30873}"/>
              </a:ext>
            </a:extLst>
          </p:cNvPr>
          <p:cNvSpPr>
            <a:spLocks noGrp="1"/>
          </p:cNvSpPr>
          <p:nvPr>
            <p:ph type="ftr" sz="quarter" idx="11"/>
          </p:nvPr>
        </p:nvSpPr>
        <p:spPr>
          <a:xfrm>
            <a:off x="3383280" y="6245352"/>
            <a:ext cx="5394960" cy="475488"/>
          </a:xfrm>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xmlns="" id="{3306318D-05CC-4803-9541-7064C44F7DE0}"/>
              </a:ext>
            </a:extLst>
          </p:cNvPr>
          <p:cNvSpPr>
            <a:spLocks noGrp="1"/>
          </p:cNvSpPr>
          <p:nvPr>
            <p:ph type="sldNum" sz="quarter" idx="12"/>
          </p:nvPr>
        </p:nvSpPr>
        <p:spPr/>
        <p:txBody>
          <a:bodyPr/>
          <a:lstStyle/>
          <a:p>
            <a:pPr>
              <a:defRPr/>
            </a:pPr>
            <a:fld id="{BDC2143B-610F-499C-A392-DFFBE135A7B2}" type="slidenum">
              <a:rPr lang="en-US" altLang="en-US" smtClean="0"/>
              <a:pPr>
                <a:defRPr/>
              </a:pPr>
              <a:t>22</a:t>
            </a:fld>
            <a:endParaRPr lang="en-US" altLang="en-US"/>
          </a:p>
        </p:txBody>
      </p:sp>
      <p:sp>
        <p:nvSpPr>
          <p:cNvPr id="8" name="TextBox 7"/>
          <p:cNvSpPr txBox="1"/>
          <p:nvPr/>
        </p:nvSpPr>
        <p:spPr>
          <a:xfrm>
            <a:off x="731520" y="5075254"/>
            <a:ext cx="5212080" cy="914400"/>
          </a:xfrm>
          <a:prstGeom prst="rect">
            <a:avLst/>
          </a:prstGeom>
          <a:noFill/>
        </p:spPr>
        <p:txBody>
          <a:bodyPr wrap="square" lIns="18288" tIns="18288" rIns="18288" bIns="18288" anchor="t">
            <a:noAutofit/>
          </a:bodyPr>
          <a:lstStyle/>
          <a:p>
            <a:pPr algn="l"/>
            <a:r>
              <a:rPr sz="1200" b="1">
                <a:solidFill>
                  <a:srgbClr val="193054"/>
                </a:solidFill>
              </a:rPr>
              <a:t>Transaction History – </a:t>
            </a:r>
            <a:r>
              <a:rPr sz="1200" b="0">
                <a:solidFill>
                  <a:srgbClr val="1F2933"/>
                </a:solidFill>
              </a:rPr>
              <a:t>search and filter by user, location, device trust, rule fired, decision status and date; each row shows risk and recommendation.</a:t>
            </a:r>
          </a:p>
        </p:txBody>
      </p:sp>
      <p:sp>
        <p:nvSpPr>
          <p:cNvPr id="10" name="TextBox 9"/>
          <p:cNvSpPr txBox="1"/>
          <p:nvPr/>
        </p:nvSpPr>
        <p:spPr>
          <a:xfrm>
            <a:off x="6217920" y="5001165"/>
            <a:ext cx="5212080" cy="914400"/>
          </a:xfrm>
          <a:prstGeom prst="rect">
            <a:avLst/>
          </a:prstGeom>
          <a:noFill/>
        </p:spPr>
        <p:txBody>
          <a:bodyPr wrap="square" lIns="18288" tIns="18288" rIns="18288" bIns="18288" anchor="t">
            <a:noAutofit/>
          </a:bodyPr>
          <a:lstStyle/>
          <a:p>
            <a:pPr algn="l"/>
            <a:r>
              <a:rPr sz="1200" b="1">
                <a:solidFill>
                  <a:srgbClr val="193054"/>
                </a:solidFill>
              </a:rPr>
              <a:t>Analytics – </a:t>
            </a:r>
            <a:r>
              <a:rPr sz="1200" b="0">
                <a:solidFill>
                  <a:srgbClr val="1F2933"/>
                </a:solidFill>
              </a:rPr>
              <a:t>risk distribution, recommendation distribution and the daily risk trend, computed from stored evaluations.</a:t>
            </a:r>
          </a:p>
        </p:txBody>
      </p:sp>
      <p:pic>
        <p:nvPicPr>
          <p:cNvPr id="11" name="Picture 10" descr="bed9a424-image.png"/>
          <p:cNvPicPr>
            <a:picLocks noChangeAspect="1"/>
          </p:cNvPicPr>
          <p:nvPr/>
        </p:nvPicPr>
        <p:blipFill>
          <a:blip r:embed="rId2"/>
          <a:stretch>
            <a:fillRect/>
          </a:stretch>
        </p:blipFill>
        <p:spPr>
          <a:xfrm>
            <a:off x="731520" y="2377440"/>
            <a:ext cx="5212080" cy="2588086"/>
          </a:xfrm>
          <a:prstGeom prst="rect">
            <a:avLst/>
          </a:prstGeom>
          <a:ln w="9525">
            <a:solidFill>
              <a:srgbClr val="B8C0C8"/>
            </a:solidFill>
          </a:ln>
        </p:spPr>
      </p:pic>
      <p:pic>
        <p:nvPicPr>
          <p:cNvPr id="12" name="Picture 11" descr="acc8bc00-image.png"/>
          <p:cNvPicPr>
            <a:picLocks noChangeAspect="1"/>
          </p:cNvPicPr>
          <p:nvPr/>
        </p:nvPicPr>
        <p:blipFill>
          <a:blip r:embed="rId3"/>
          <a:stretch>
            <a:fillRect/>
          </a:stretch>
        </p:blipFill>
        <p:spPr>
          <a:xfrm>
            <a:off x="6217920" y="2377440"/>
            <a:ext cx="5212080" cy="2513997"/>
          </a:xfrm>
          <a:prstGeom prst="rect">
            <a:avLst/>
          </a:prstGeom>
          <a:ln w="9525">
            <a:solidFill>
              <a:srgbClr val="B8C0C8"/>
            </a:solidFill>
          </a:ln>
        </p:spPr>
      </p:pic>
    </p:spTree>
    <p:extLst>
      <p:ext uri="{BB962C8B-B14F-4D97-AF65-F5344CB8AC3E}">
        <p14:creationId xmlns:p14="http://schemas.microsoft.com/office/powerpoint/2010/main" val="2257265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2664CE-7311-4C5B-AA2E-45ABB90DD588}"/>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sp>
        <p:nvSpPr>
          <p:cNvPr id="4" name="Date Placeholder 3">
            <a:extLst>
              <a:ext uri="{FF2B5EF4-FFF2-40B4-BE49-F238E27FC236}">
                <a16:creationId xmlns:a16="http://schemas.microsoft.com/office/drawing/2014/main" xmlns="" id="{26FBE2C3-AC88-4E92-99FF-8D9C75D3439B}"/>
              </a:ext>
            </a:extLst>
          </p:cNvPr>
          <p:cNvSpPr>
            <a:spLocks noGrp="1"/>
          </p:cNvSpPr>
          <p:nvPr>
            <p:ph type="dt" sz="half" idx="10"/>
          </p:nvPr>
        </p:nvSpPr>
        <p:spPr/>
        <p:txBody>
          <a:bodyPr/>
          <a:lstStyle/>
          <a:p>
            <a:pPr>
              <a:defRPr/>
            </a:pPr>
            <a:r>
              <a:rPr lang="en-US"/>
              <a:t>Model Review</a:t>
            </a:r>
          </a:p>
        </p:txBody>
      </p:sp>
      <p:sp>
        <p:nvSpPr>
          <p:cNvPr id="5" name="Footer Placeholder 4">
            <a:extLst>
              <a:ext uri="{FF2B5EF4-FFF2-40B4-BE49-F238E27FC236}">
                <a16:creationId xmlns:a16="http://schemas.microsoft.com/office/drawing/2014/main" xmlns="" id="{2454BBD9-F4E8-4A60-9A83-C40083E30873}"/>
              </a:ext>
            </a:extLst>
          </p:cNvPr>
          <p:cNvSpPr>
            <a:spLocks noGrp="1"/>
          </p:cNvSpPr>
          <p:nvPr>
            <p:ph type="ftr" sz="quarter" idx="11"/>
          </p:nvPr>
        </p:nvSpPr>
        <p:spPr>
          <a:xfrm>
            <a:off x="3383280" y="6245352"/>
            <a:ext cx="5394960" cy="475488"/>
          </a:xfrm>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xmlns="" id="{3306318D-05CC-4803-9541-7064C44F7DE0}"/>
              </a:ext>
            </a:extLst>
          </p:cNvPr>
          <p:cNvSpPr>
            <a:spLocks noGrp="1"/>
          </p:cNvSpPr>
          <p:nvPr>
            <p:ph type="sldNum" sz="quarter" idx="12"/>
          </p:nvPr>
        </p:nvSpPr>
        <p:spPr/>
        <p:txBody>
          <a:bodyPr/>
          <a:lstStyle/>
          <a:p>
            <a:pPr>
              <a:defRPr/>
            </a:pPr>
            <a:fld id="{BDC2143B-610F-499C-A392-DFFBE135A7B2}" type="slidenum">
              <a:rPr lang="en-US" altLang="en-US" smtClean="0"/>
              <a:pPr>
                <a:defRPr/>
              </a:pPr>
              <a:t>23</a:t>
            </a:fld>
            <a:endParaRPr lang="en-US" altLang="en-US"/>
          </a:p>
        </p:txBody>
      </p:sp>
      <p:sp>
        <p:nvSpPr>
          <p:cNvPr id="8" name="TextBox 7"/>
          <p:cNvSpPr txBox="1"/>
          <p:nvPr/>
        </p:nvSpPr>
        <p:spPr>
          <a:xfrm>
            <a:off x="731520" y="5069755"/>
            <a:ext cx="5212080" cy="914400"/>
          </a:xfrm>
          <a:prstGeom prst="rect">
            <a:avLst/>
          </a:prstGeom>
          <a:noFill/>
        </p:spPr>
        <p:txBody>
          <a:bodyPr wrap="square" lIns="18288" tIns="18288" rIns="18288" bIns="18288" anchor="t">
            <a:noAutofit/>
          </a:bodyPr>
          <a:lstStyle/>
          <a:p>
            <a:pPr algn="l"/>
            <a:r>
              <a:rPr sz="1200" b="1">
                <a:solidFill>
                  <a:srgbClr val="193054"/>
                </a:solidFill>
              </a:rPr>
              <a:t>Knowledge Base – </a:t>
            </a:r>
            <a:r>
              <a:rPr sz="1200" b="0">
                <a:solidFill>
                  <a:srgbClr val="1F2933"/>
                </a:solidFill>
              </a:rPr>
              <a:t>predicate vocabulary (observed and behavioural), the rules that use each predicate, and fact inspection for a transaction.</a:t>
            </a:r>
          </a:p>
        </p:txBody>
      </p:sp>
      <p:sp>
        <p:nvSpPr>
          <p:cNvPr id="10" name="TextBox 9"/>
          <p:cNvSpPr txBox="1"/>
          <p:nvPr/>
        </p:nvSpPr>
        <p:spPr>
          <a:xfrm>
            <a:off x="6217920" y="5045176"/>
            <a:ext cx="5212080" cy="914400"/>
          </a:xfrm>
          <a:prstGeom prst="rect">
            <a:avLst/>
          </a:prstGeom>
          <a:noFill/>
        </p:spPr>
        <p:txBody>
          <a:bodyPr wrap="square" lIns="18288" tIns="18288" rIns="18288" bIns="18288" anchor="t">
            <a:noAutofit/>
          </a:bodyPr>
          <a:lstStyle/>
          <a:p>
            <a:pPr algn="l"/>
            <a:r>
              <a:rPr sz="1200" b="1">
                <a:solidFill>
                  <a:srgbClr val="193054"/>
                </a:solidFill>
              </a:rPr>
              <a:t>Reports – </a:t>
            </a:r>
            <a:r>
              <a:rPr sz="1200" b="0">
                <a:solidFill>
                  <a:srgbClr val="1F2933"/>
                </a:solidFill>
              </a:rPr>
              <a:t>generate and export a PDF risk report with executive summary, decision, input parameters and reasoning.</a:t>
            </a:r>
          </a:p>
        </p:txBody>
      </p:sp>
      <p:pic>
        <p:nvPicPr>
          <p:cNvPr id="11" name="Picture 10" descr="84804941-image.png"/>
          <p:cNvPicPr>
            <a:picLocks noChangeAspect="1"/>
          </p:cNvPicPr>
          <p:nvPr/>
        </p:nvPicPr>
        <p:blipFill>
          <a:blip r:embed="rId2"/>
          <a:stretch>
            <a:fillRect/>
          </a:stretch>
        </p:blipFill>
        <p:spPr>
          <a:xfrm>
            <a:off x="731520" y="2377440"/>
            <a:ext cx="5212080" cy="2582587"/>
          </a:xfrm>
          <a:prstGeom prst="rect">
            <a:avLst/>
          </a:prstGeom>
          <a:ln w="9525">
            <a:solidFill>
              <a:srgbClr val="B8C0C8"/>
            </a:solidFill>
          </a:ln>
        </p:spPr>
      </p:pic>
      <p:pic>
        <p:nvPicPr>
          <p:cNvPr id="12" name="Picture 11" descr="f37621d1-image.png"/>
          <p:cNvPicPr>
            <a:picLocks noChangeAspect="1"/>
          </p:cNvPicPr>
          <p:nvPr/>
        </p:nvPicPr>
        <p:blipFill>
          <a:blip r:embed="rId3"/>
          <a:stretch>
            <a:fillRect/>
          </a:stretch>
        </p:blipFill>
        <p:spPr>
          <a:xfrm>
            <a:off x="6217920" y="2377440"/>
            <a:ext cx="5212080" cy="2558009"/>
          </a:xfrm>
          <a:prstGeom prst="rect">
            <a:avLst/>
          </a:prstGeom>
          <a:ln w="9525">
            <a:solidFill>
              <a:srgbClr val="B8C0C8"/>
            </a:solidFill>
          </a:ln>
        </p:spPr>
      </p:pic>
    </p:spTree>
    <p:extLst>
      <p:ext uri="{BB962C8B-B14F-4D97-AF65-F5344CB8AC3E}">
        <p14:creationId xmlns:p14="http://schemas.microsoft.com/office/powerpoint/2010/main" val="2257265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2664CE-7311-4C5B-AA2E-45ABB90DD588}"/>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sp>
        <p:nvSpPr>
          <p:cNvPr id="4" name="Date Placeholder 3">
            <a:extLst>
              <a:ext uri="{FF2B5EF4-FFF2-40B4-BE49-F238E27FC236}">
                <a16:creationId xmlns:a16="http://schemas.microsoft.com/office/drawing/2014/main" xmlns="" id="{26FBE2C3-AC88-4E92-99FF-8D9C75D3439B}"/>
              </a:ext>
            </a:extLst>
          </p:cNvPr>
          <p:cNvSpPr>
            <a:spLocks noGrp="1"/>
          </p:cNvSpPr>
          <p:nvPr>
            <p:ph type="dt" sz="half" idx="10"/>
          </p:nvPr>
        </p:nvSpPr>
        <p:spPr/>
        <p:txBody>
          <a:bodyPr/>
          <a:lstStyle/>
          <a:p>
            <a:pPr>
              <a:defRPr/>
            </a:pPr>
            <a:r>
              <a:rPr lang="en-US"/>
              <a:t>Model Review</a:t>
            </a:r>
          </a:p>
        </p:txBody>
      </p:sp>
      <p:sp>
        <p:nvSpPr>
          <p:cNvPr id="5" name="Footer Placeholder 4">
            <a:extLst>
              <a:ext uri="{FF2B5EF4-FFF2-40B4-BE49-F238E27FC236}">
                <a16:creationId xmlns:a16="http://schemas.microsoft.com/office/drawing/2014/main" xmlns="" id="{2454BBD9-F4E8-4A60-9A83-C40083E30873}"/>
              </a:ext>
            </a:extLst>
          </p:cNvPr>
          <p:cNvSpPr>
            <a:spLocks noGrp="1"/>
          </p:cNvSpPr>
          <p:nvPr>
            <p:ph type="ftr" sz="quarter" idx="11"/>
          </p:nvPr>
        </p:nvSpPr>
        <p:spPr>
          <a:xfrm>
            <a:off x="3383280" y="6245352"/>
            <a:ext cx="5394960" cy="475488"/>
          </a:xfrm>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xmlns="" id="{3306318D-05CC-4803-9541-7064C44F7DE0}"/>
              </a:ext>
            </a:extLst>
          </p:cNvPr>
          <p:cNvSpPr>
            <a:spLocks noGrp="1"/>
          </p:cNvSpPr>
          <p:nvPr>
            <p:ph type="sldNum" sz="quarter" idx="12"/>
          </p:nvPr>
        </p:nvSpPr>
        <p:spPr/>
        <p:txBody>
          <a:bodyPr/>
          <a:lstStyle/>
          <a:p>
            <a:pPr>
              <a:defRPr/>
            </a:pPr>
            <a:fld id="{BDC2143B-610F-499C-A392-DFFBE135A7B2}" type="slidenum">
              <a:rPr lang="en-US" altLang="en-US" smtClean="0"/>
              <a:pPr>
                <a:defRPr/>
              </a:pPr>
              <a:t>24</a:t>
            </a:fld>
            <a:endParaRPr lang="en-US" altLang="en-US"/>
          </a:p>
        </p:txBody>
      </p:sp>
      <p:sp>
        <p:nvSpPr>
          <p:cNvPr id="8" name="TextBox 7"/>
          <p:cNvSpPr txBox="1"/>
          <p:nvPr/>
        </p:nvSpPr>
        <p:spPr>
          <a:xfrm>
            <a:off x="731520" y="5063064"/>
            <a:ext cx="5212080" cy="914400"/>
          </a:xfrm>
          <a:prstGeom prst="rect">
            <a:avLst/>
          </a:prstGeom>
          <a:noFill/>
        </p:spPr>
        <p:txBody>
          <a:bodyPr wrap="square" lIns="18288" tIns="18288" rIns="18288" bIns="18288" anchor="t">
            <a:noAutofit/>
          </a:bodyPr>
          <a:lstStyle/>
          <a:p>
            <a:pPr algn="l"/>
            <a:r>
              <a:rPr sz="1200" b="1">
                <a:solidFill>
                  <a:srgbClr val="193054"/>
                </a:solidFill>
              </a:rPr>
              <a:t>Audit Logs – </a:t>
            </a:r>
            <a:r>
              <a:rPr sz="1200" b="0">
                <a:solidFill>
                  <a:srgbClr val="1F2933"/>
                </a:solidFill>
              </a:rPr>
              <a:t>record of analyses, rule firings, recommendations, alerts and reports for traceability.</a:t>
            </a:r>
          </a:p>
        </p:txBody>
      </p:sp>
      <p:sp>
        <p:nvSpPr>
          <p:cNvPr id="10" name="TextBox 9"/>
          <p:cNvSpPr txBox="1"/>
          <p:nvPr/>
        </p:nvSpPr>
        <p:spPr>
          <a:xfrm>
            <a:off x="6217920" y="5087675"/>
            <a:ext cx="5212080" cy="914400"/>
          </a:xfrm>
          <a:prstGeom prst="rect">
            <a:avLst/>
          </a:prstGeom>
          <a:noFill/>
        </p:spPr>
        <p:txBody>
          <a:bodyPr wrap="square" lIns="18288" tIns="18288" rIns="18288" bIns="18288" anchor="t">
            <a:noAutofit/>
          </a:bodyPr>
          <a:lstStyle/>
          <a:p>
            <a:pPr algn="l"/>
            <a:r>
              <a:rPr sz="1200" b="1">
                <a:solidFill>
                  <a:srgbClr val="193054"/>
                </a:solidFill>
              </a:rPr>
              <a:t>System Settings – </a:t>
            </a:r>
            <a:r>
              <a:rPr sz="1200" b="0">
                <a:solidFill>
                  <a:srgbClr val="1F2933"/>
                </a:solidFill>
              </a:rPr>
              <a:t>versions, startup validation checks, read-only configuration and inference thresholds.</a:t>
            </a:r>
          </a:p>
        </p:txBody>
      </p:sp>
      <p:pic>
        <p:nvPicPr>
          <p:cNvPr id="11" name="Picture 10" descr="94703f35-image.png"/>
          <p:cNvPicPr>
            <a:picLocks noChangeAspect="1"/>
          </p:cNvPicPr>
          <p:nvPr/>
        </p:nvPicPr>
        <p:blipFill>
          <a:blip r:embed="rId2"/>
          <a:stretch>
            <a:fillRect/>
          </a:stretch>
        </p:blipFill>
        <p:spPr>
          <a:xfrm>
            <a:off x="731520" y="2377440"/>
            <a:ext cx="5212080" cy="2575897"/>
          </a:xfrm>
          <a:prstGeom prst="rect">
            <a:avLst/>
          </a:prstGeom>
          <a:ln w="9525">
            <a:solidFill>
              <a:srgbClr val="B8C0C8"/>
            </a:solidFill>
          </a:ln>
        </p:spPr>
      </p:pic>
      <p:pic>
        <p:nvPicPr>
          <p:cNvPr id="12" name="Picture 11" descr="1c5a6dab-image.png"/>
          <p:cNvPicPr>
            <a:picLocks noChangeAspect="1"/>
          </p:cNvPicPr>
          <p:nvPr/>
        </p:nvPicPr>
        <p:blipFill>
          <a:blip r:embed="rId3"/>
          <a:stretch>
            <a:fillRect/>
          </a:stretch>
        </p:blipFill>
        <p:spPr>
          <a:xfrm>
            <a:off x="6217920" y="2377440"/>
            <a:ext cx="5212080" cy="2600507"/>
          </a:xfrm>
          <a:prstGeom prst="rect">
            <a:avLst/>
          </a:prstGeom>
          <a:ln w="9525">
            <a:solidFill>
              <a:srgbClr val="B8C0C8"/>
            </a:solidFill>
          </a:ln>
        </p:spPr>
      </p:pic>
    </p:spTree>
    <p:extLst>
      <p:ext uri="{BB962C8B-B14F-4D97-AF65-F5344CB8AC3E}">
        <p14:creationId xmlns:p14="http://schemas.microsoft.com/office/powerpoint/2010/main" val="2257265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2664CE-7311-4C5B-AA2E-45ABB90DD588}"/>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sp>
        <p:nvSpPr>
          <p:cNvPr id="4" name="Date Placeholder 3">
            <a:extLst>
              <a:ext uri="{FF2B5EF4-FFF2-40B4-BE49-F238E27FC236}">
                <a16:creationId xmlns:a16="http://schemas.microsoft.com/office/drawing/2014/main" xmlns="" id="{26FBE2C3-AC88-4E92-99FF-8D9C75D3439B}"/>
              </a:ext>
            </a:extLst>
          </p:cNvPr>
          <p:cNvSpPr>
            <a:spLocks noGrp="1"/>
          </p:cNvSpPr>
          <p:nvPr>
            <p:ph type="dt" sz="half" idx="10"/>
          </p:nvPr>
        </p:nvSpPr>
        <p:spPr/>
        <p:txBody>
          <a:bodyPr/>
          <a:lstStyle/>
          <a:p>
            <a:pPr>
              <a:defRPr/>
            </a:pPr>
            <a:r>
              <a:rPr lang="en-US"/>
              <a:t>Model Review</a:t>
            </a:r>
          </a:p>
        </p:txBody>
      </p:sp>
      <p:sp>
        <p:nvSpPr>
          <p:cNvPr id="5" name="Footer Placeholder 4">
            <a:extLst>
              <a:ext uri="{FF2B5EF4-FFF2-40B4-BE49-F238E27FC236}">
                <a16:creationId xmlns:a16="http://schemas.microsoft.com/office/drawing/2014/main" xmlns="" id="{2454BBD9-F4E8-4A60-9A83-C40083E30873}"/>
              </a:ext>
            </a:extLst>
          </p:cNvPr>
          <p:cNvSpPr>
            <a:spLocks noGrp="1"/>
          </p:cNvSpPr>
          <p:nvPr>
            <p:ph type="ftr" sz="quarter" idx="11"/>
          </p:nvPr>
        </p:nvSpPr>
        <p:spPr>
          <a:xfrm>
            <a:off x="3383280" y="6245352"/>
            <a:ext cx="5394960" cy="475488"/>
          </a:xfrm>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xmlns="" id="{3306318D-05CC-4803-9541-7064C44F7DE0}"/>
              </a:ext>
            </a:extLst>
          </p:cNvPr>
          <p:cNvSpPr>
            <a:spLocks noGrp="1"/>
          </p:cNvSpPr>
          <p:nvPr>
            <p:ph type="sldNum" sz="quarter" idx="12"/>
          </p:nvPr>
        </p:nvSpPr>
        <p:spPr/>
        <p:txBody>
          <a:bodyPr/>
          <a:lstStyle/>
          <a:p>
            <a:pPr>
              <a:defRPr/>
            </a:pPr>
            <a:fld id="{BDC2143B-610F-499C-A392-DFFBE135A7B2}" type="slidenum">
              <a:rPr lang="en-US" altLang="en-US" smtClean="0"/>
              <a:pPr>
                <a:defRPr/>
              </a:pPr>
              <a:t>25</a:t>
            </a:fld>
            <a:endParaRPr lang="en-US" altLang="en-US"/>
          </a:p>
        </p:txBody>
      </p:sp>
      <p:sp>
        <p:nvSpPr>
          <p:cNvPr id="8" name="TextBox 7"/>
          <p:cNvSpPr txBox="1"/>
          <p:nvPr/>
        </p:nvSpPr>
        <p:spPr>
          <a:xfrm>
            <a:off x="2624328" y="5312951"/>
            <a:ext cx="6949440" cy="914400"/>
          </a:xfrm>
          <a:prstGeom prst="rect">
            <a:avLst/>
          </a:prstGeom>
          <a:noFill/>
        </p:spPr>
        <p:txBody>
          <a:bodyPr wrap="square" lIns="18288" tIns="18288" rIns="18288" bIns="18288" anchor="t">
            <a:noAutofit/>
          </a:bodyPr>
          <a:lstStyle/>
          <a:p>
            <a:pPr algn="l"/>
            <a:r>
              <a:rPr sz="1200" b="1">
                <a:solidFill>
                  <a:srgbClr val="193054"/>
                </a:solidFill>
              </a:rPr>
              <a:t>About – </a:t>
            </a:r>
            <a:r>
              <a:rPr sz="1200" b="0">
                <a:solidFill>
                  <a:srgbClr val="1F2933"/>
                </a:solidFill>
              </a:rPr>
              <a:t>reasoning architecture from transaction to audit, risk levels with recommended actions, and stated limitations.</a:t>
            </a:r>
          </a:p>
        </p:txBody>
      </p:sp>
      <p:pic>
        <p:nvPicPr>
          <p:cNvPr id="9" name="Picture 8" descr="26f4b43f-image.png"/>
          <p:cNvPicPr>
            <a:picLocks noChangeAspect="1"/>
          </p:cNvPicPr>
          <p:nvPr/>
        </p:nvPicPr>
        <p:blipFill>
          <a:blip r:embed="rId2"/>
          <a:stretch>
            <a:fillRect/>
          </a:stretch>
        </p:blipFill>
        <p:spPr>
          <a:xfrm>
            <a:off x="2624328" y="1783080"/>
            <a:ext cx="6949440" cy="3420143"/>
          </a:xfrm>
          <a:prstGeom prst="rect">
            <a:avLst/>
          </a:prstGeom>
          <a:ln w="9525">
            <a:solidFill>
              <a:srgbClr val="B8C0C8"/>
            </a:solidFill>
          </a:ln>
        </p:spPr>
      </p:pic>
    </p:spTree>
    <p:extLst>
      <p:ext uri="{BB962C8B-B14F-4D97-AF65-F5344CB8AC3E}">
        <p14:creationId xmlns:p14="http://schemas.microsoft.com/office/powerpoint/2010/main" val="2257265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altLang="en-US" sz="3200" b="1" dirty="0">
                <a:solidFill>
                  <a:srgbClr val="FF0000"/>
                </a:solidFill>
              </a:rPr>
              <a:t>Conclusion</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noAutofit/>
          </a:bodyPr>
          <a:lstStyle/>
          <a:p>
            <a:pPr marL="469900" marR="0" lvl="0" indent="-469900" algn="l" defTabSz="914400" rtl="0" eaLnBrk="0" fontAlgn="base" latinLnBrk="0" hangingPunct="0">
              <a:spcBef>
                <a:spcPts val="1400"/>
              </a:spcBef>
              <a:spcAft>
                <a:spcPct val="0"/>
              </a:spcAft>
              <a:buClr>
                <a:srgbClr val="CC0000"/>
              </a:buClr>
              <a:buSzTx/>
              <a:buFont typeface="Wingdings" panose="05000000000000000000" pitchFamily="2" charset="2"/>
              <a:buChar char="o"/>
            </a:pPr>
            <a:r>
              <a:rPr lang="en-IN" sz="2100" b="0" dirty="0">
                <a:solidFill>
                  <a:srgbClr val="1F2933"/>
                </a:solidFill>
              </a:rPr>
              <a:t>FraudShield AI shows that a transparent expert system can assess digital payment risk from seven core inputs without any training data.</a:t>
            </a:r>
          </a:p>
          <a:p>
            <a:pPr marL="469900" marR="0" lvl="0" indent="-469900" algn="l" defTabSz="914400" rtl="0" eaLnBrk="0" fontAlgn="base" latinLnBrk="0" hangingPunct="0">
              <a:spcBef>
                <a:spcPts val="1400"/>
              </a:spcBef>
              <a:spcAft>
                <a:spcPct val="0"/>
              </a:spcAft>
              <a:buClr>
                <a:srgbClr val="CC0000"/>
              </a:buClr>
              <a:buSzTx/>
              <a:buFont typeface="Wingdings" panose="05000000000000000000" pitchFamily="2" charset="2"/>
              <a:buChar char="o"/>
            </a:pPr>
            <a:r>
              <a:rPr lang="en-IN" sz="2100" b="0" dirty="0">
                <a:solidFill>
                  <a:srgbClr val="1F2933"/>
                </a:solidFill>
              </a:rPr>
              <a:t>A versioned base of 32 rules over 31 predicates, run by forward chaining with deterministic conflict resolution, classifies each payment as LOW, MEDIUM, HIGH or CRITICAL.</a:t>
            </a:r>
          </a:p>
          <a:p>
            <a:pPr marL="469900" marR="0" lvl="0" indent="-469900" algn="l" defTabSz="914400" rtl="0" eaLnBrk="0" fontAlgn="base" latinLnBrk="0" hangingPunct="0">
              <a:spcBef>
                <a:spcPts val="1400"/>
              </a:spcBef>
              <a:spcAft>
                <a:spcPct val="0"/>
              </a:spcAft>
              <a:buClr>
                <a:srgbClr val="CC0000"/>
              </a:buClr>
              <a:buSzTx/>
              <a:buFont typeface="Wingdings" panose="05000000000000000000" pitchFamily="2" charset="2"/>
              <a:buChar char="o"/>
            </a:pPr>
            <a:r>
              <a:rPr lang="en-IN" sz="2100" b="0" dirty="0">
                <a:solidFill>
                  <a:srgbClr val="1F2933"/>
                </a:solidFill>
              </a:rPr>
              <a:t>Every decision is explainable and auditable through the rule trail, a PDF report and the audit log: TXN001 is CRITICAL and TXN002 is LOW.</a:t>
            </a:r>
          </a:p>
          <a:p>
            <a:pPr marL="469900" marR="0" lvl="0" indent="-469900" algn="l" defTabSz="914400" rtl="0" eaLnBrk="0" fontAlgn="base" latinLnBrk="0" hangingPunct="0">
              <a:spcBef>
                <a:spcPts val="1400"/>
              </a:spcBef>
              <a:spcAft>
                <a:spcPct val="0"/>
              </a:spcAft>
              <a:buClr>
                <a:srgbClr val="CC0000"/>
              </a:buClr>
              <a:buSzTx/>
              <a:buFont typeface="Wingdings" panose="05000000000000000000" pitchFamily="2" charset="2"/>
              <a:buChar char="o"/>
            </a:pPr>
            <a:r>
              <a:rPr lang="en-IN" sz="2100" b="0" dirty="0">
                <a:solidFill>
                  <a:srgbClr val="1F2933"/>
                </a:solidFill>
              </a:rPr>
              <a:t>On 76 stored evaluations (74 synthetic) the average evaluation time is 1.83 ms; rules and thresholds are illustrative, not calibrated on real fraud data.</a:t>
            </a: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26</a:t>
            </a:fld>
            <a:endParaRPr lang="en-IN"/>
          </a:p>
        </p:txBody>
      </p:sp>
    </p:spTree>
    <p:extLst>
      <p:ext uri="{BB962C8B-B14F-4D97-AF65-F5344CB8AC3E}">
        <p14:creationId xmlns:p14="http://schemas.microsoft.com/office/powerpoint/2010/main" val="2369166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Future Work</a:t>
            </a:r>
            <a:endParaRPr lang="en-IN" sz="3200" b="1" dirty="0">
              <a:solidFill>
                <a:srgbClr val="FF0000"/>
              </a:solidFill>
            </a:endParaRPr>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noAutofit/>
          </a:bodyPr>
          <a:lstStyle/>
          <a:p>
            <a:pPr marL="469900" marR="0" lvl="0" indent="-469900" algn="l" defTabSz="914400" rtl="0" eaLnBrk="0" fontAlgn="base" latinLnBrk="0" hangingPunct="0">
              <a:spcBef>
                <a:spcPts val="1400"/>
              </a:spcBef>
              <a:spcAft>
                <a:spcPct val="0"/>
              </a:spcAft>
              <a:buClr>
                <a:srgbClr val="CC0000"/>
              </a:buClr>
              <a:buSzTx/>
              <a:buFont typeface="Wingdings" panose="05000000000000000000" pitchFamily="2" charset="2"/>
              <a:buChar char="o"/>
            </a:pPr>
            <a:r>
              <a:rPr lang="en-IN" sz="2100" b="1" dirty="0">
                <a:solidFill>
                  <a:srgbClr val="1F2933"/>
                </a:solidFill>
              </a:rPr>
              <a:t>Calibration: </a:t>
            </a:r>
            <a:r>
              <a:rPr lang="en-IN" sz="2100" b="0" dirty="0">
                <a:solidFill>
                  <a:srgbClr val="1F2933"/>
                </a:solidFill>
              </a:rPr>
              <a:t>tune rule thresholds and priorities on real, labelled fraud data with analyst feedback.</a:t>
            </a:r>
          </a:p>
          <a:p>
            <a:pPr marL="469900" marR="0" lvl="0" indent="-469900" algn="l" defTabSz="914400" rtl="0" eaLnBrk="0" fontAlgn="base" latinLnBrk="0" hangingPunct="0">
              <a:spcBef>
                <a:spcPts val="1400"/>
              </a:spcBef>
              <a:spcAft>
                <a:spcPct val="0"/>
              </a:spcAft>
              <a:buClr>
                <a:srgbClr val="CC0000"/>
              </a:buClr>
              <a:buSzTx/>
              <a:buFont typeface="Wingdings" panose="05000000000000000000" pitchFamily="2" charset="2"/>
              <a:buChar char="o"/>
            </a:pPr>
            <a:r>
              <a:rPr lang="en-IN" sz="2100" b="1" dirty="0">
                <a:solidFill>
                  <a:srgbClr val="1F2933"/>
                </a:solidFill>
              </a:rPr>
              <a:t>Richer inputs: </a:t>
            </a:r>
            <a:r>
              <a:rPr lang="en-IN" sz="2100" b="0" dirty="0">
                <a:solidFill>
                  <a:srgbClr val="1F2933"/>
                </a:solidFill>
              </a:rPr>
              <a:t>add merchant, beneficiary and device-history facts to the knowledge base.</a:t>
            </a:r>
          </a:p>
          <a:p>
            <a:pPr marL="469900" marR="0" lvl="0" indent="-469900" algn="l" defTabSz="914400" rtl="0" eaLnBrk="0" fontAlgn="base" latinLnBrk="0" hangingPunct="0">
              <a:spcBef>
                <a:spcPts val="1400"/>
              </a:spcBef>
              <a:spcAft>
                <a:spcPct val="0"/>
              </a:spcAft>
              <a:buClr>
                <a:srgbClr val="CC0000"/>
              </a:buClr>
              <a:buSzTx/>
              <a:buFont typeface="Wingdings" panose="05000000000000000000" pitchFamily="2" charset="2"/>
              <a:buChar char="o"/>
            </a:pPr>
            <a:r>
              <a:rPr lang="en-IN" sz="2100" b="1" dirty="0">
                <a:solidFill>
                  <a:srgbClr val="1F2933"/>
                </a:solidFill>
              </a:rPr>
              <a:t>Rule editor: </a:t>
            </a:r>
            <a:r>
              <a:rPr lang="en-IN" sz="2100" b="0" dirty="0">
                <a:solidFill>
                  <a:srgbClr val="1F2933"/>
                </a:solidFill>
              </a:rPr>
              <a:t>let analysts add, version and test rules from the web interface.</a:t>
            </a:r>
          </a:p>
          <a:p>
            <a:pPr marL="469900" marR="0" lvl="0" indent="-469900" algn="l" defTabSz="914400" rtl="0" eaLnBrk="0" fontAlgn="base" latinLnBrk="0" hangingPunct="0">
              <a:spcBef>
                <a:spcPts val="1400"/>
              </a:spcBef>
              <a:spcAft>
                <a:spcPct val="0"/>
              </a:spcAft>
              <a:buClr>
                <a:srgbClr val="CC0000"/>
              </a:buClr>
              <a:buSzTx/>
              <a:buFont typeface="Wingdings" panose="05000000000000000000" pitchFamily="2" charset="2"/>
              <a:buChar char="o"/>
            </a:pPr>
            <a:r>
              <a:rPr lang="en-IN" sz="2100" b="1" dirty="0">
                <a:solidFill>
                  <a:srgbClr val="1F2933"/>
                </a:solidFill>
              </a:rPr>
              <a:t>Machine learning as extra facts: </a:t>
            </a:r>
            <a:r>
              <a:rPr lang="en-IN" sz="2100" b="0" dirty="0">
                <a:solidFill>
                  <a:srgbClr val="1F2933"/>
                </a:solidFill>
              </a:rPr>
              <a:t>a learned score can become one more fact while the symbolic core keeps the final decision.</a:t>
            </a:r>
          </a:p>
          <a:p>
            <a:pPr marL="469900" marR="0" lvl="0" indent="-469900" algn="l" defTabSz="914400" rtl="0" eaLnBrk="0" fontAlgn="base" latinLnBrk="0" hangingPunct="0">
              <a:spcBef>
                <a:spcPts val="1400"/>
              </a:spcBef>
              <a:spcAft>
                <a:spcPct val="0"/>
              </a:spcAft>
              <a:buClr>
                <a:srgbClr val="CC0000"/>
              </a:buClr>
              <a:buSzTx/>
              <a:buFont typeface="Wingdings" panose="05000000000000000000" pitchFamily="2" charset="2"/>
              <a:buChar char="o"/>
            </a:pPr>
            <a:r>
              <a:rPr lang="en-IN" sz="2100" b="1" dirty="0">
                <a:solidFill>
                  <a:srgbClr val="1F2933"/>
                </a:solidFill>
              </a:rPr>
              <a:t>Deployment: </a:t>
            </a:r>
            <a:r>
              <a:rPr lang="en-IN" sz="2100" b="0" dirty="0">
                <a:solidFill>
                  <a:srgbClr val="1F2933"/>
                </a:solidFill>
              </a:rPr>
              <a:t>authentication, Docker packaging and a production database.</a:t>
            </a: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27</a:t>
            </a:fld>
            <a:endParaRPr lang="en-IN"/>
          </a:p>
        </p:txBody>
      </p:sp>
    </p:spTree>
    <p:extLst>
      <p:ext uri="{BB962C8B-B14F-4D97-AF65-F5344CB8AC3E}">
        <p14:creationId xmlns:p14="http://schemas.microsoft.com/office/powerpoint/2010/main" val="1530162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References</a:t>
            </a:r>
            <a:endParaRPr lang="en-IN" sz="3200" b="1" dirty="0">
              <a:solidFill>
                <a:srgbClr val="FF0000"/>
              </a:solidFill>
            </a:endParaRPr>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a:xfrm>
            <a:off x="758952" y="1691640"/>
            <a:ext cx="10789920" cy="4434840"/>
          </a:xfrm>
        </p:spPr>
        <p:txBody>
          <a:bodyPr>
            <a:noAutofit/>
          </a:bodyPr>
          <a:lstStyle/>
          <a:p>
            <a:pPr marL="0" marR="0" lvl="0" indent="0" algn="l" defTabSz="914400" rtl="0" eaLnBrk="0" fontAlgn="base" latinLnBrk="0" hangingPunct="0">
              <a:spcBef>
                <a:spcPts val="700"/>
              </a:spcBef>
              <a:spcAft>
                <a:spcPct val="0"/>
              </a:spcAft>
              <a:buNone/>
            </a:pPr>
            <a:r>
              <a:rPr lang="en-IN" sz="1400" b="1" dirty="0">
                <a:solidFill>
                  <a:srgbClr val="1F2933"/>
                </a:solidFill>
              </a:rPr>
              <a:t>[1]  </a:t>
            </a:r>
            <a:r>
              <a:rPr lang="en-IN" sz="1400" b="0" dirty="0">
                <a:solidFill>
                  <a:srgbClr val="1F2933"/>
                </a:solidFill>
              </a:rPr>
              <a:t>C. L. Forgy, “Rete: A fast algorithm for the many pattern/many object pattern match problem,” Artificial Intelligence, vol. 19, no. 1, pp. 17–37, 1982.</a:t>
            </a:r>
          </a:p>
          <a:p>
            <a:pPr marL="0" marR="0" lvl="0" indent="0" algn="l" defTabSz="914400" rtl="0" eaLnBrk="0" fontAlgn="base" latinLnBrk="0" hangingPunct="0">
              <a:spcBef>
                <a:spcPts val="700"/>
              </a:spcBef>
              <a:spcAft>
                <a:spcPct val="0"/>
              </a:spcAft>
              <a:buNone/>
            </a:pPr>
            <a:r>
              <a:rPr lang="en-IN" sz="1400" b="1" dirty="0">
                <a:solidFill>
                  <a:srgbClr val="1F2933"/>
                </a:solidFill>
              </a:rPr>
              <a:t>[2]  </a:t>
            </a:r>
            <a:r>
              <a:rPr lang="en-IN" sz="1400" b="0" dirty="0">
                <a:solidFill>
                  <a:srgbClr val="1F2933"/>
                </a:solidFill>
              </a:rPr>
              <a:t>B. G. Buchanan and E. H. Shortliffe, Rule-Based Expert Systems: The MYCIN Experiments of the Stanford Heuristic Programming Project. Addison-Wesley, 1984.</a:t>
            </a:r>
          </a:p>
          <a:p>
            <a:pPr marL="0" marR="0" lvl="0" indent="0" algn="l" defTabSz="914400" rtl="0" eaLnBrk="0" fontAlgn="base" latinLnBrk="0" hangingPunct="0">
              <a:spcBef>
                <a:spcPts val="700"/>
              </a:spcBef>
              <a:spcAft>
                <a:spcPct val="0"/>
              </a:spcAft>
              <a:buNone/>
            </a:pPr>
            <a:r>
              <a:rPr lang="en-IN" sz="1400" b="1" dirty="0">
                <a:solidFill>
                  <a:srgbClr val="1F2933"/>
                </a:solidFill>
              </a:rPr>
              <a:t>[3]  </a:t>
            </a:r>
            <a:r>
              <a:rPr lang="en-IN" sz="1400" b="0" dirty="0">
                <a:solidFill>
                  <a:srgbClr val="1F2933"/>
                </a:solidFill>
              </a:rPr>
              <a:t>R. J. Bolton and D. J. Hand, “Statistical fraud detection: A review,” Statistical Science, vol. 17, no. 3, pp. 235–255, 2002.</a:t>
            </a:r>
          </a:p>
          <a:p>
            <a:pPr marL="0" marR="0" lvl="0" indent="0" algn="l" defTabSz="914400" rtl="0" eaLnBrk="0" fontAlgn="base" latinLnBrk="0" hangingPunct="0">
              <a:spcBef>
                <a:spcPts val="700"/>
              </a:spcBef>
              <a:spcAft>
                <a:spcPct val="0"/>
              </a:spcAft>
              <a:buNone/>
            </a:pPr>
            <a:r>
              <a:rPr lang="en-IN" sz="1400" b="1" dirty="0">
                <a:solidFill>
                  <a:srgbClr val="1F2933"/>
                </a:solidFill>
              </a:rPr>
              <a:t>[4]  </a:t>
            </a:r>
            <a:r>
              <a:rPr lang="en-IN" sz="1400" b="0" dirty="0">
                <a:solidFill>
                  <a:srgbClr val="1F2933"/>
                </a:solidFill>
              </a:rPr>
              <a:t>A. Dal Pozzolo, G. Boracchi, O. Caelen, C. Alippi and G. Bontempi, “Credit card fraud detection: A realistic modeling and a novel learning strategy,” IEEE Trans. Neural Networks and Learning Systems, vol. 29, no. 8, pp. 3784–3797, 2018.</a:t>
            </a:r>
          </a:p>
          <a:p>
            <a:pPr marL="0" marR="0" lvl="0" indent="0" algn="l" defTabSz="914400" rtl="0" eaLnBrk="0" fontAlgn="base" latinLnBrk="0" hangingPunct="0">
              <a:spcBef>
                <a:spcPts val="700"/>
              </a:spcBef>
              <a:spcAft>
                <a:spcPct val="0"/>
              </a:spcAft>
              <a:buNone/>
            </a:pPr>
            <a:r>
              <a:rPr lang="en-IN" sz="1400" b="1" dirty="0">
                <a:solidFill>
                  <a:srgbClr val="1F2933"/>
                </a:solidFill>
              </a:rPr>
              <a:t>[5]  </a:t>
            </a:r>
            <a:r>
              <a:rPr lang="en-IN" sz="1400" b="0" dirty="0">
                <a:solidFill>
                  <a:srgbClr val="1F2933"/>
                </a:solidFill>
              </a:rPr>
              <a:t>M. T. Ribeiro, S. Singh and C. Guestrin, “‘Why should I trust you?’: Explaining the predictions of any classifier,” in Proc. ACM SIGKDD (KDD 2016), pp. 1135–1144, 2016.</a:t>
            </a:r>
          </a:p>
          <a:p>
            <a:pPr marL="0" marR="0" lvl="0" indent="0" algn="l" defTabSz="914400" rtl="0" eaLnBrk="0" fontAlgn="base" latinLnBrk="0" hangingPunct="0">
              <a:spcBef>
                <a:spcPts val="700"/>
              </a:spcBef>
              <a:spcAft>
                <a:spcPct val="0"/>
              </a:spcAft>
              <a:buNone/>
            </a:pPr>
            <a:r>
              <a:rPr lang="en-IN" sz="1400" b="1" dirty="0">
                <a:solidFill>
                  <a:srgbClr val="1F2933"/>
                </a:solidFill>
              </a:rPr>
              <a:t>[6]  </a:t>
            </a:r>
            <a:r>
              <a:rPr lang="en-IN" sz="1400" b="0" dirty="0">
                <a:solidFill>
                  <a:srgbClr val="1F2933"/>
                </a:solidFill>
              </a:rPr>
              <a:t>A. Adadi and M. Berrada, “Peeking inside the black-box: A survey on explainable artificial intelligence (XAI),” IEEE Access, vol. 6, pp. 52138–52160, 2018.</a:t>
            </a:r>
          </a:p>
          <a:p>
            <a:pPr marL="0" marR="0" lvl="0" indent="0" algn="l" defTabSz="914400" rtl="0" eaLnBrk="0" fontAlgn="base" latinLnBrk="0" hangingPunct="0">
              <a:spcBef>
                <a:spcPts val="700"/>
              </a:spcBef>
              <a:spcAft>
                <a:spcPct val="0"/>
              </a:spcAft>
              <a:buNone/>
            </a:pPr>
            <a:r>
              <a:rPr lang="en-IN" sz="1400" b="1" dirty="0">
                <a:solidFill>
                  <a:srgbClr val="1F2933"/>
                </a:solidFill>
              </a:rPr>
              <a:t>[7]  </a:t>
            </a:r>
            <a:r>
              <a:rPr lang="en-IN" sz="1400" b="0" dirty="0">
                <a:solidFill>
                  <a:srgbClr val="1F2933"/>
                </a:solidFill>
              </a:rPr>
              <a:t>S. Russell and P. Norvig, Artificial Intelligence: A Modern Approach, 4th ed. Pearson, 2020.</a:t>
            </a:r>
          </a:p>
          <a:p>
            <a:pPr marL="0" marR="0" lvl="0" indent="0" algn="l" defTabSz="914400" rtl="0" eaLnBrk="0" fontAlgn="base" latinLnBrk="0" hangingPunct="0">
              <a:spcBef>
                <a:spcPts val="700"/>
              </a:spcBef>
              <a:spcAft>
                <a:spcPct val="0"/>
              </a:spcAft>
              <a:buNone/>
            </a:pPr>
            <a:r>
              <a:rPr lang="en-IN" sz="1400" b="1" dirty="0">
                <a:solidFill>
                  <a:srgbClr val="1F2933"/>
                </a:solidFill>
              </a:rPr>
              <a:t>[8]  </a:t>
            </a:r>
            <a:r>
              <a:rPr lang="en-IN" sz="1400" b="0" dirty="0">
                <a:solidFill>
                  <a:srgbClr val="1F2933"/>
                </a:solidFill>
              </a:rPr>
              <a:t>FastAPI documentation, https://fastapi.tiangolo.com</a:t>
            </a:r>
          </a:p>
          <a:p>
            <a:pPr marL="0" marR="0" lvl="0" indent="0" algn="l" defTabSz="914400" rtl="0" eaLnBrk="0" fontAlgn="base" latinLnBrk="0" hangingPunct="0">
              <a:spcBef>
                <a:spcPts val="700"/>
              </a:spcBef>
              <a:spcAft>
                <a:spcPct val="0"/>
              </a:spcAft>
              <a:buNone/>
            </a:pPr>
            <a:r>
              <a:rPr lang="en-IN" sz="1400" b="1" dirty="0">
                <a:solidFill>
                  <a:srgbClr val="1F2933"/>
                </a:solidFill>
              </a:rPr>
              <a:t>[9]  </a:t>
            </a:r>
            <a:r>
              <a:rPr lang="en-IN" sz="1400" b="0" dirty="0">
                <a:solidFill>
                  <a:srgbClr val="1F2933"/>
                </a:solidFill>
              </a:rPr>
              <a:t>Deepan S A and Barathraj M, “FraudShield AI” (source code), FraudShield_AI.zip, 2026.</a:t>
            </a: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28</a:t>
            </a:fld>
            <a:endParaRPr lang="en-IN"/>
          </a:p>
        </p:txBody>
      </p:sp>
    </p:spTree>
    <p:extLst>
      <p:ext uri="{BB962C8B-B14F-4D97-AF65-F5344CB8AC3E}">
        <p14:creationId xmlns:p14="http://schemas.microsoft.com/office/powerpoint/2010/main" val="2946422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CC349C-5BE6-7AA1-4EE3-C4AA5A3BB314}"/>
              </a:ext>
            </a:extLst>
          </p:cNvPr>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4" name="Slide Number Placeholder 3">
            <a:extLst>
              <a:ext uri="{FF2B5EF4-FFF2-40B4-BE49-F238E27FC236}">
                <a16:creationId xmlns:a16="http://schemas.microsoft.com/office/drawing/2014/main" xmlns="" id="{CF44F5F3-B604-7034-3991-F0917DEC107F}"/>
              </a:ext>
            </a:extLst>
          </p:cNvPr>
          <p:cNvSpPr>
            <a:spLocks noGrp="1"/>
          </p:cNvSpPr>
          <p:nvPr>
            <p:ph type="sldNum" sz="quarter" idx="12"/>
          </p:nvPr>
        </p:nvSpPr>
        <p:spPr/>
        <p:txBody>
          <a:bodyPr/>
          <a:lstStyle/>
          <a:p>
            <a:pPr>
              <a:defRPr/>
            </a:pPr>
            <a:fld id="{F583B680-F650-469F-A231-392F163461F6}" type="slidenum">
              <a:rPr lang="en-US" altLang="en-US" smtClean="0"/>
              <a:pPr>
                <a:defRPr/>
              </a:pPr>
              <a:t>29</a:t>
            </a:fld>
            <a:endParaRPr lang="en-US" altLang="en-US" dirty="0"/>
          </a:p>
        </p:txBody>
      </p:sp>
    </p:spTree>
    <p:extLst>
      <p:ext uri="{BB962C8B-B14F-4D97-AF65-F5344CB8AC3E}">
        <p14:creationId xmlns:p14="http://schemas.microsoft.com/office/powerpoint/2010/main" val="2273965067"/>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34</TotalTime>
  <Words>3598</Words>
  <Application>Microsoft Office PowerPoint</Application>
  <PresentationFormat>Widescreen</PresentationFormat>
  <Paragraphs>462</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Calibri</vt:lpstr>
      <vt:lpstr>Verdana</vt:lpstr>
      <vt:lpstr>Wingdings</vt:lpstr>
      <vt:lpstr>Profile</vt:lpstr>
      <vt:lpstr>PowerPoint Presentation</vt:lpstr>
      <vt:lpstr>Problem Statement and Motivation</vt:lpstr>
      <vt:lpstr>Objectives</vt:lpstr>
      <vt:lpstr>Abstract</vt:lpstr>
      <vt:lpstr>Literature Survey</vt:lpstr>
      <vt:lpstr>Literature Survey</vt:lpstr>
      <vt:lpstr>Research Gap / Existing System</vt:lpstr>
      <vt:lpstr>Proposed System</vt:lpstr>
      <vt:lpstr>DFD Diagram – Level 0</vt:lpstr>
      <vt:lpstr>DFD Diagram – Level 1</vt:lpstr>
      <vt:lpstr>Methodology / Workflow Diagram</vt:lpstr>
      <vt:lpstr>Tools and Technologies</vt:lpstr>
      <vt:lpstr>List of Modules</vt:lpstr>
      <vt:lpstr>Module Description – M1 Knowledge Base</vt:lpstr>
      <vt:lpstr>Module Description – M2 Inference Engine</vt:lpstr>
      <vt:lpstr>Module Description – M3 Interface</vt:lpstr>
      <vt:lpstr>Module Description – M4 Data</vt:lpstr>
      <vt:lpstr>Module Description – M5 Explanation</vt:lpstr>
      <vt:lpstr>Results &amp; Discussion</vt:lpstr>
      <vt:lpstr>Results &amp; Discussion</vt:lpstr>
      <vt:lpstr>User Interface / Screenshots</vt:lpstr>
      <vt:lpstr>User Interface / Screenshots</vt:lpstr>
      <vt:lpstr>User Interface / Screenshots</vt:lpstr>
      <vt:lpstr>User Interface / Screenshots</vt:lpstr>
      <vt:lpstr>User Interface / Screenshots</vt:lpstr>
      <vt:lpstr>Conclusion</vt:lpstr>
      <vt:lpstr>Future Work</vt:lpstr>
      <vt:lpstr>References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15</cp:revision>
  <dcterms:modified xsi:type="dcterms:W3CDTF">2026-10-15T06:34:41Z</dcterms:modified>
</cp:coreProperties>
</file>