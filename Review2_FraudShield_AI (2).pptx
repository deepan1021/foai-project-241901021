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00AA52-672A-44FE-BA79-C595BD180E5F}">
  <a:tblStyle styleId="{AD00AA52-672A-44FE-BA79-C595BD180E5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/>
          <p:nvPr/>
        </p:nvSpPr>
        <p:spPr>
          <a:xfrm>
            <a:off x="914400" y="2393950"/>
            <a:ext cx="10363200" cy="109538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914400" y="990600"/>
            <a:ext cx="1036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930400" y="3429000"/>
            <a:ext cx="9347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7556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6191251" y="1752600"/>
            <a:ext cx="5232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□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□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■"/>
              <a:defRPr sz="1600"/>
            </a:lvl4pPr>
            <a:lvl5pPr indent="-330200" lvl="4" marL="22860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3956051" y="-1447800"/>
            <a:ext cx="42672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7242176" y="1827742"/>
            <a:ext cx="5715000" cy="26691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1801284" y="-740833"/>
            <a:ext cx="5715000" cy="7806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indent="-342900" lvl="4" marL="22860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spcBef>
                <a:spcPts val="0"/>
              </a:spcBef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8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oto Sans Symbols"/>
              <a:buChar char="□"/>
              <a:defRPr b="0" i="0" sz="3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■"/>
              <a:defRPr b="0" i="0" sz="2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74650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2300"/>
              <a:buFont typeface="Noto Sans Symbols"/>
              <a:buChar char="□"/>
              <a:defRPr b="0" i="0" sz="2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812800" y="1566864"/>
            <a:ext cx="10610851" cy="109537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extrusionOk="0" h="1000" w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812800" y="6172200"/>
            <a:ext cx="105664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/>
        </p:nvSpPr>
        <p:spPr>
          <a:xfrm>
            <a:off x="789712" y="2606040"/>
            <a:ext cx="10515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000"/>
              <a:buFont typeface="Verdana"/>
              <a:buNone/>
            </a:pPr>
            <a:r>
              <a:rPr b="1" lang="en-US" sz="3000">
                <a:solidFill>
                  <a:srgbClr val="7030A0"/>
                </a:solidFill>
                <a:latin typeface="Verdana"/>
                <a:ea typeface="Verdana"/>
                <a:cs typeface="Verdana"/>
                <a:sym typeface="Verdana"/>
              </a:rPr>
              <a:t>FraudShield AI — Intelligent Digital Payment Risk Assessment System — Review 2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914400" y="4526280"/>
            <a:ext cx="45720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Supervisor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2000"/>
              <a:buFont typeface="Noto Sans Symbols"/>
              <a:buNone/>
            </a:pPr>
            <a:r>
              <a:rPr b="1" lang="en-US" sz="20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Dr. S. Bhuvana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1600"/>
              <a:buFont typeface="Noto Sans Symbols"/>
              <a:buNone/>
            </a:pPr>
            <a:r>
              <a:rPr b="0" lang="en-US" sz="16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Assistant Professor (SG)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446520" y="4526280"/>
            <a:ext cx="5120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None/>
            </a:pPr>
            <a:r>
              <a:rPr b="1" lang="en-US" sz="18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Team Members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1700"/>
              <a:buFont typeface="Noto Sans Symbols"/>
              <a:buNone/>
            </a:pPr>
            <a:r>
              <a:rPr b="1" lang="en-US" sz="17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Deepan S A (241901021)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1700"/>
              <a:buFont typeface="Noto Sans Symbols"/>
              <a:buNone/>
            </a:pPr>
            <a:r>
              <a:rPr b="1" lang="en-US" sz="17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Barathraj M (241901015)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54333" y="932688"/>
            <a:ext cx="10515600" cy="722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/>
              <a:buNone/>
            </a:pPr>
            <a:r>
              <a:rPr b="1" lang="en-US" sz="24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Department of Computer Science and Engineering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Verdana"/>
              <a:buNone/>
            </a:pPr>
            <a:r>
              <a:rPr b="1" lang="en-US" sz="24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(Cyber Security)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t/>
            </a:r>
            <a:endParaRPr b="1" sz="2800">
              <a:solidFill>
                <a:srgbClr val="00206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C:\Users\REC\Downloads\REC_Logo_Color_PNG_RGB.png" id="95" name="Google Shape;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/>
          <p:nvPr/>
        </p:nvSpPr>
        <p:spPr>
          <a:xfrm>
            <a:off x="1631504" y="1673352"/>
            <a:ext cx="1011221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0000"/>
                </a:solidFill>
                <a:latin typeface="Verdana"/>
                <a:ea typeface="Verdana"/>
                <a:cs typeface="Verdana"/>
                <a:sym typeface="Verdana"/>
              </a:rPr>
              <a:t>CS23533– Foundations of Artificial Intelligence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4873101" y="2075688"/>
            <a:ext cx="16033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2060"/>
                </a:solidFill>
                <a:latin typeface="Verdana"/>
                <a:ea typeface="Verdana"/>
                <a:cs typeface="Verdana"/>
                <a:sym typeface="Verdana"/>
              </a:rPr>
              <a:t>2026-2027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Problem Statement and Motivation</a:t>
            </a:r>
            <a:endParaRPr sz="2800"/>
          </a:p>
        </p:txBody>
      </p:sp>
      <p:sp>
        <p:nvSpPr>
          <p:cNvPr id="103" name="Google Shape;103;p14"/>
          <p:cNvSpPr txBox="1"/>
          <p:nvPr>
            <p:ph idx="1" type="body"/>
          </p:nvPr>
        </p:nvSpPr>
        <p:spPr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Char char="□"/>
            </a:pPr>
            <a:r>
              <a:rPr b="1" lang="en-US" sz="2400">
                <a:solidFill>
                  <a:srgbClr val="1F2933"/>
                </a:solidFill>
              </a:rPr>
              <a:t>Problem: </a:t>
            </a:r>
            <a:r>
              <a:rPr b="0" lang="en-US" sz="2400">
                <a:solidFill>
                  <a:srgbClr val="1F2933"/>
                </a:solidFill>
              </a:rPr>
              <a:t>classify each digital payment as LOW, MEDIUM, HIGH or CRITICAL risk from seven inputs and explain why.</a:t>
            </a:r>
            <a:endParaRPr/>
          </a:p>
          <a:p>
            <a:pPr indent="-469900" lvl="0" marL="469900" marR="0" rtl="0" algn="l">
              <a:spcBef>
                <a:spcPts val="160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Char char="□"/>
            </a:pPr>
            <a:r>
              <a:rPr b="1" lang="en-US" sz="2400">
                <a:solidFill>
                  <a:srgbClr val="1F2933"/>
                </a:solidFill>
              </a:rPr>
              <a:t>Why it is hard: </a:t>
            </a:r>
            <a:r>
              <a:rPr b="0" lang="en-US" sz="2400">
                <a:solidFill>
                  <a:srgbClr val="1F2933"/>
                </a:solidFill>
              </a:rPr>
              <a:t>no single input proves fraud; the seven inputs matter in combination, and black-box scores give no reasons.</a:t>
            </a:r>
            <a:endParaRPr/>
          </a:p>
          <a:p>
            <a:pPr indent="-469900" lvl="0" marL="469900" marR="0" rtl="0" algn="l">
              <a:spcBef>
                <a:spcPts val="160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Char char="□"/>
            </a:pPr>
            <a:r>
              <a:rPr b="1" lang="en-US" sz="2400">
                <a:solidFill>
                  <a:srgbClr val="1F2933"/>
                </a:solidFill>
              </a:rPr>
              <a:t>Who is affected: </a:t>
            </a:r>
            <a:r>
              <a:rPr b="0" lang="en-US" sz="2400">
                <a:solidFill>
                  <a:srgbClr val="1F2933"/>
                </a:solidFill>
              </a:rPr>
              <a:t>customers whose genuine payments are blocked, and analysts who must justify every decision.</a:t>
            </a:r>
            <a:endParaRPr/>
          </a:p>
          <a:p>
            <a:pPr indent="-469900" lvl="0" marL="469900" marR="0" rtl="0" algn="l">
              <a:spcBef>
                <a:spcPts val="160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Char char="□"/>
            </a:pPr>
            <a:r>
              <a:rPr b="1" lang="en-US" sz="2400">
                <a:solidFill>
                  <a:srgbClr val="1F2933"/>
                </a:solidFill>
              </a:rPr>
              <a:t>Motivation: </a:t>
            </a:r>
            <a:r>
              <a:rPr b="0" lang="en-US" sz="2400">
                <a:solidFill>
                  <a:srgbClr val="1F2933"/>
                </a:solidFill>
              </a:rPr>
              <a:t>a transparent rule-based expert system: forward chaining over readable rules, every decision explained.</a:t>
            </a:r>
            <a:endParaRPr/>
          </a:p>
        </p:txBody>
      </p:sp>
      <p:sp>
        <p:nvSpPr>
          <p:cNvPr id="104" name="Google Shape;104;p1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Objectives</a:t>
            </a:r>
            <a:endParaRPr sz="2800"/>
          </a:p>
        </p:txBody>
      </p:sp>
      <p:sp>
        <p:nvSpPr>
          <p:cNvPr id="110" name="Google Shape;110;p1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758952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{AD00AA52-672A-44FE-BA79-C595BD180E5F}</a:tableStyleId>
              </a:tblPr>
              <a:tblGrid>
                <a:gridCol w="411475"/>
                <a:gridCol w="4343400"/>
                <a:gridCol w="4434850"/>
                <a:gridCol w="15087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Measurable outcome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1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Model each payment as facts from seven inputs (amount, time, device, location, login, frequency, account)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All seven inputs captured and validated for every transaction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2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Knowledge base: fraud conditions written as predicate-logic if–then rules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Risk conditions are readable rules, kept apart from the web code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3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Forward-chaining inference engine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Fires every matching rule and derives new facts until none apply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4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Conflict resolution and four risk tiers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One decision per transaction: LOW, MEDIUM, HIGH or CRITICAL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5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Explainable AI (XAI): reasons for every decision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Each result lists the rules that fired and why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6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Web application: submit a payment, view risk and explanation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FastAPI + SQLite backend, React web interface, Windows run.bat start-up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7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Testing, final evaluation, report and documentation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F2933"/>
                          </a:solidFill>
                        </a:rPr>
                        <a:t>pytest and Playwright tests; final report and review deck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7791F"/>
                          </a:solidFill>
                        </a:rPr>
                        <a:t>In progress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Project Progress Since Review 1</a:t>
            </a:r>
            <a:endParaRPr sz="2800"/>
          </a:p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758952" y="1737360"/>
            <a:ext cx="672084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Char char="□"/>
            </a:pPr>
            <a:r>
              <a:rPr b="0" lang="en-US" sz="1700">
                <a:solidFill>
                  <a:srgbClr val="1F2933"/>
                </a:solidFill>
              </a:rPr>
              <a:t>All five modules implemented: Python rule engine and API, React web interface, SQLite storage.</a:t>
            </a:r>
            <a:endParaRPr/>
          </a:p>
          <a:p>
            <a:pPr indent="-469900" lvl="0" marL="469900" marR="0" rtl="0" algn="l">
              <a:spcBef>
                <a:spcPts val="9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Char char="□"/>
            </a:pPr>
            <a:r>
              <a:rPr b="0" lang="en-US" sz="1700">
                <a:solidFill>
                  <a:srgbClr val="1F2933"/>
                </a:solidFill>
              </a:rPr>
              <a:t>Forward-chaining inference with conflict resolution assigns one of four risk tiers: LOW, MEDIUM, HIGH, CRITICAL.</a:t>
            </a:r>
            <a:endParaRPr/>
          </a:p>
          <a:p>
            <a:pPr indent="-469900" lvl="0" marL="469900" marR="0" rtl="0" algn="l">
              <a:spcBef>
                <a:spcPts val="9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Char char="□"/>
            </a:pPr>
            <a:r>
              <a:rPr b="0" lang="en-US" sz="1700">
                <a:solidFill>
                  <a:srgbClr val="1F2933"/>
                </a:solidFill>
              </a:rPr>
              <a:t>Explainable output added: every decision lists the rules that fired and the reason for each.</a:t>
            </a:r>
            <a:endParaRPr/>
          </a:p>
          <a:p>
            <a:pPr indent="-469900" lvl="0" marL="469900" marR="0" rtl="0" algn="l">
              <a:spcBef>
                <a:spcPts val="9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Char char="□"/>
            </a:pPr>
            <a:r>
              <a:rPr b="0" lang="en-US" sz="1700">
                <a:solidFill>
                  <a:srgbClr val="1F2933"/>
                </a:solidFill>
              </a:rPr>
              <a:t>Web application built with FastAPI, Pydantic, SQLAlchemy, React, TypeScript, Vite and Tailwind CSS.</a:t>
            </a:r>
            <a:endParaRPr/>
          </a:p>
          <a:p>
            <a:pPr indent="-469900" lvl="0" marL="469900" marR="0" rtl="0" algn="l">
              <a:spcBef>
                <a:spcPts val="9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Char char="□"/>
            </a:pPr>
            <a:r>
              <a:rPr b="0" lang="en-US" sz="1700">
                <a:solidFill>
                  <a:srgbClr val="1F2933"/>
                </a:solidFill>
              </a:rPr>
              <a:t>Sample transactions prepared: TXN001 (critical) and TXN002 (normal).</a:t>
            </a:r>
            <a:endParaRPr/>
          </a:p>
          <a:p>
            <a:pPr indent="-469900" lvl="0" marL="469900" marR="0" rtl="0" algn="l">
              <a:spcBef>
                <a:spcPts val="900"/>
              </a:spcBef>
              <a:spcAft>
                <a:spcPts val="0"/>
              </a:spcAft>
              <a:buClr>
                <a:srgbClr val="CC0000"/>
              </a:buClr>
              <a:buSzPts val="1700"/>
              <a:buFont typeface="Noto Sans Symbols"/>
              <a:buChar char="□"/>
            </a:pPr>
            <a:r>
              <a:rPr b="0" lang="en-US" sz="1700">
                <a:solidFill>
                  <a:srgbClr val="1F2933"/>
                </a:solidFill>
              </a:rPr>
              <a:t>Windows start-up script run.bat and test suites (pytest, Playwright) written; end-to-end run in progress.</a:t>
            </a:r>
            <a:endParaRPr/>
          </a:p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726679" y="1783080"/>
            <a:ext cx="1828800" cy="118872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5 /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modules implemented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9692640" y="1783080"/>
            <a:ext cx="1828800" cy="118872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risk tiers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7726679" y="3108960"/>
            <a:ext cx="1828800" cy="118872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core risk inputs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9692640" y="3108960"/>
            <a:ext cx="1828800" cy="118872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sample transactions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726679" y="4526280"/>
            <a:ext cx="3794760" cy="1463040"/>
          </a:xfrm>
          <a:prstGeom prst="roundRect">
            <a:avLst>
              <a:gd fmla="val 12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16457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Current status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C8553"/>
                </a:solidFill>
                <a:latin typeface="Verdana"/>
                <a:ea typeface="Verdana"/>
                <a:cs typeface="Verdana"/>
                <a:sym typeface="Verdana"/>
              </a:rPr>
              <a:t>Completed: </a:t>
            </a:r>
            <a:r>
              <a:rPr b="0" lang="en-US" sz="12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design, rule base, inference engine, web app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B7791F"/>
                </a:solidFill>
                <a:latin typeface="Verdana"/>
                <a:ea typeface="Verdana"/>
                <a:cs typeface="Verdana"/>
                <a:sym typeface="Verdana"/>
              </a:rPr>
              <a:t>In progress: </a:t>
            </a:r>
            <a:r>
              <a:rPr b="0" lang="en-US" sz="12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end-to-end testing, final evaluation and report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title"/>
          </p:nvPr>
        </p:nvSpPr>
        <p:spPr>
          <a:xfrm>
            <a:off x="766233" y="301752"/>
            <a:ext cx="1066800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Literature Survey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0" name="Google Shape;130;p17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{AD00AA52-672A-44FE-BA79-C595BD180E5F}</a:tableStyleId>
              </a:tblPr>
              <a:tblGrid>
                <a:gridCol w="685800"/>
                <a:gridCol w="2011675"/>
                <a:gridCol w="2697475"/>
                <a:gridCol w="2743200"/>
                <a:gridCol w="28346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S. No.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Author(s) &amp; Year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Paper Title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Methodology / Algorithm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Limitations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C. L. Forgy (1982)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Rete: A Fast Algorithm for the Many Pattern/Many Object Pattern Match Problem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Rete network that shares condition tests between rules and stores partial matches, speeding up forward-chaining production systems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Speeds up matching only; stores partial matches in memory; offers no risk model or explanation of its own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B. G. Buchanan, E. H. Shortliffe (1984)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Rule-Based Expert Systems: The MYCIN Experiments of the Stanford Heuristic Programming Project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If–then rules with certainty factors, plus an explanation of how each conclusion was reached (MYCIN)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Built for medical diagnosis; certainty factors are ad hoc; rules must be hand-written from expert knowledge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3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R. J. Bolton, D. J. Hand (2002)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Statistical Fraud Detection: A Review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Surveys statistical methods for fraud detection, from outlier detection to supervised classification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A survey, not a working system; the scores it discusses give little readable reasoning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766233" y="301752"/>
            <a:ext cx="10668000" cy="1216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Literature Survey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7" name="Google Shape;137;p18"/>
          <p:cNvGraphicFramePr/>
          <p:nvPr/>
        </p:nvGraphicFramePr>
        <p:xfrm>
          <a:off x="548640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{AD00AA52-672A-44FE-BA79-C595BD180E5F}</a:tableStyleId>
              </a:tblPr>
              <a:tblGrid>
                <a:gridCol w="685800"/>
                <a:gridCol w="2011675"/>
                <a:gridCol w="2697475"/>
                <a:gridCol w="2743200"/>
                <a:gridCol w="28346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S. No.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Author(s) &amp; Year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Paper Title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Methodology / Algorithm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Limitations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2A67B0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4</a:t>
                      </a:r>
                      <a:endParaRPr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A. Dal Pozzolo, G. Boracchi, O. Caelen, C. Alippi, G. Bontempi (2018)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Credit Card Fraud Detection: A Realistic Modeling and a Novel Learning Strategy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Machine-learning classifiers on card transactions, handling class imbalance, delayed labels and investigator feedback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Needs a large labelled transaction history; the learned model gives an analyst no rules to read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</a:tr>
              <a:tr h="1097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</a:t>
                      </a:r>
                      <a:endParaRPr sz="1800" u="none" cap="none" strike="noStrike"/>
                    </a:p>
                  </a:txBody>
                  <a:tcPr marT="54875" marB="45725" marR="73150" marL="91450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M. T. Ribeiro, S. Singh, C. Guestrin (2016)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“Why Should I Trust You?”: Explaining the Predictions of Any Classifier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LIME: explains one prediction of any classifier by fitting a simple interpretable model around it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Post-hoc and approximate; explains a black box instead of making the decision itself transparent</a:t>
                      </a:r>
                      <a:endParaRPr/>
                    </a:p>
                  </a:txBody>
                  <a:tcPr marT="54875" marB="45725" marR="73150" marL="91450"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Research Gap and Project Response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9"/>
          <p:cNvSpPr/>
          <p:nvPr>
            <p:ph idx="1" type="body"/>
          </p:nvPr>
        </p:nvSpPr>
        <p:spPr>
          <a:xfrm>
            <a:off x="758952" y="1783080"/>
            <a:ext cx="5257800" cy="1965960"/>
          </a:xfrm>
          <a:prstGeom prst="roundRect">
            <a:avLst>
              <a:gd fmla="val 16667" name="adj"/>
            </a:avLst>
          </a:prstGeom>
          <a:solidFill>
            <a:srgbClr val="EBF2FA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82875" spcFirstLastPara="1" rIns="182875" wrap="square" tIns="12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-US" sz="16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1. Literature findings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300"/>
              <a:buNone/>
            </a:pPr>
            <a:r>
              <a:rPr b="0" lang="en-US" sz="13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Rule-based forward chaining is a proven way to reason from facts [1]; expert systems can explain their conclusions [2]; fraud detection research is mostly statistical or learned [3], [4], [6]; explanations of such models are added afterwards [5].</a:t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245352" y="1783080"/>
            <a:ext cx="5257800" cy="19659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82875" spcFirstLastPara="1" rIns="182875" wrap="square" tIns="12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1600"/>
              <a:buFont typeface="Verdana"/>
              <a:buNone/>
            </a:pPr>
            <a:r>
              <a:rPr b="1" lang="en-US" sz="16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2. Limitations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Verdana"/>
              <a:buNone/>
            </a:pPr>
            <a:r>
              <a:rPr b="0" lang="en-US" sz="13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Learned fraud models need labelled history and give no readable reasoning; classic expert systems were built for other domains and rely on ad hoc certainty factors; post-hoc explanations are only approximations.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758952" y="3931920"/>
            <a:ext cx="5257800" cy="1965960"/>
          </a:xfrm>
          <a:prstGeom prst="roundRect">
            <a:avLst>
              <a:gd fmla="val 16667" name="adj"/>
            </a:avLst>
          </a:prstGeom>
          <a:solidFill>
            <a:srgbClr val="EBF2FA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82875" spcFirstLastPara="1" rIns="182875" wrap="square" tIns="12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1600"/>
              <a:buFont typeface="Verdana"/>
              <a:buNone/>
            </a:pPr>
            <a:r>
              <a:rPr b="1" lang="en-US" sz="16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3. Refined research gap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Verdana"/>
              <a:buNone/>
            </a:pPr>
            <a:r>
              <a:rPr b="0" lang="en-US" sz="13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A compact, transparent expert system for digital payment risk: seven inputs combined by forward-chaining rules, conflicts resolved to one tier, and every decision explained.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245352" y="3931920"/>
            <a:ext cx="5257800" cy="1965960"/>
          </a:xfrm>
          <a:prstGeom prst="roundRect">
            <a:avLst>
              <a:gd fmla="val 16667" name="adj"/>
            </a:avLst>
          </a:prstGeom>
          <a:solidFill>
            <a:srgbClr val="F7F9FC"/>
          </a:solidFill>
          <a:ln cap="flat" cmpd="sng" w="9525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91425" lIns="182875" spcFirstLastPara="1" rIns="182875" wrap="square" tIns="12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3054"/>
              </a:buClr>
              <a:buSzPts val="1600"/>
              <a:buFont typeface="Verdana"/>
              <a:buNone/>
            </a:pPr>
            <a:r>
              <a:rPr b="1" lang="en-US" sz="16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4. Progress toward the solution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Verdana"/>
              <a:buNone/>
            </a:pPr>
            <a:r>
              <a:rPr b="0" lang="en-US" sz="13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Built: rule base over seven inputs; forward-chaining engine with conflict resolution; four risk tiers; an explanation for every decision; FastAPI + React web app with SQLite storage; samples TXN001 and TXN002.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3">
            <a:alphaModFix/>
          </a:blip>
          <a:tile algn="tl" flip="none" tx="0" sx="100000" ty="0" sy="100000"/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System Architecture / Proposed System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758952" y="1783080"/>
            <a:ext cx="6172200" cy="868680"/>
          </a:xfrm>
          <a:prstGeom prst="roundRect">
            <a:avLst>
              <a:gd fmla="val 12000" name="adj"/>
            </a:avLst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Web interface — React · TypeScript · Vite · Tailwind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CE6F2"/>
                </a:solidFill>
                <a:latin typeface="Verdana"/>
                <a:ea typeface="Verdana"/>
                <a:cs typeface="Verdana"/>
                <a:sym typeface="Verdana"/>
              </a:rPr>
              <a:t>transaction entry · risk tier · explanation view</a:t>
            </a:r>
            <a:endParaRPr/>
          </a:p>
        </p:txBody>
      </p:sp>
      <p:cxnSp>
        <p:nvCxnSpPr>
          <p:cNvPr id="155" name="Google Shape;155;p20"/>
          <p:cNvCxnSpPr/>
          <p:nvPr/>
        </p:nvCxnSpPr>
        <p:spPr>
          <a:xfrm>
            <a:off x="2194560" y="2651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6" name="Google Shape;156;p20"/>
          <p:cNvSpPr txBox="1"/>
          <p:nvPr/>
        </p:nvSpPr>
        <p:spPr>
          <a:xfrm>
            <a:off x="2331720" y="2679192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HTTP / JSON requests to the API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758952" y="3017520"/>
            <a:ext cx="6172200" cy="685800"/>
          </a:xfrm>
          <a:prstGeom prst="roundRect">
            <a:avLst>
              <a:gd fmla="val 12000" name="adj"/>
            </a:avLst>
          </a:prstGeom>
          <a:solidFill>
            <a:srgbClr val="EBF2FA"/>
          </a:solidFill>
          <a:ln cap="flat" cmpd="sng" w="12700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API layer — FastAPI + Pydantic  (M3)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request validation · endpoints · JSON responses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758952" y="4069080"/>
            <a:ext cx="1905000" cy="86868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Inference (M2)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forward chaining · conflict resolution</a:t>
            </a:r>
            <a:endParaRPr/>
          </a:p>
        </p:txBody>
      </p:sp>
      <p:cxnSp>
        <p:nvCxnSpPr>
          <p:cNvPr id="159" name="Google Shape;159;p20"/>
          <p:cNvCxnSpPr/>
          <p:nvPr/>
        </p:nvCxnSpPr>
        <p:spPr>
          <a:xfrm>
            <a:off x="1711452" y="370332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0" name="Google Shape;160;p20"/>
          <p:cNvCxnSpPr/>
          <p:nvPr/>
        </p:nvCxnSpPr>
        <p:spPr>
          <a:xfrm>
            <a:off x="1711452" y="493776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1" name="Google Shape;161;p20"/>
          <p:cNvSpPr/>
          <p:nvPr/>
        </p:nvSpPr>
        <p:spPr>
          <a:xfrm>
            <a:off x="2892552" y="4069080"/>
            <a:ext cx="1905000" cy="86868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Data (M4)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SQLAlchemy · SQLite storage</a:t>
            </a:r>
            <a:endParaRPr/>
          </a:p>
        </p:txBody>
      </p:sp>
      <p:cxnSp>
        <p:nvCxnSpPr>
          <p:cNvPr id="162" name="Google Shape;162;p20"/>
          <p:cNvCxnSpPr/>
          <p:nvPr/>
        </p:nvCxnSpPr>
        <p:spPr>
          <a:xfrm>
            <a:off x="3845052" y="370332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3" name="Google Shape;163;p20"/>
          <p:cNvCxnSpPr/>
          <p:nvPr/>
        </p:nvCxnSpPr>
        <p:spPr>
          <a:xfrm>
            <a:off x="3845052" y="493776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4" name="Google Shape;164;p20"/>
          <p:cNvSpPr/>
          <p:nvPr/>
        </p:nvSpPr>
        <p:spPr>
          <a:xfrm>
            <a:off x="5026152" y="4069080"/>
            <a:ext cx="1905000" cy="868680"/>
          </a:xfrm>
          <a:prstGeom prst="roundRect">
            <a:avLst>
              <a:gd fmla="val 12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Explanation (M5)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fired rules · reasons (XAI)</a:t>
            </a:r>
            <a:endParaRPr/>
          </a:p>
        </p:txBody>
      </p:sp>
      <p:cxnSp>
        <p:nvCxnSpPr>
          <p:cNvPr id="165" name="Google Shape;165;p20"/>
          <p:cNvCxnSpPr/>
          <p:nvPr/>
        </p:nvCxnSpPr>
        <p:spPr>
          <a:xfrm>
            <a:off x="5978652" y="370332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66" name="Google Shape;166;p20"/>
          <p:cNvCxnSpPr/>
          <p:nvPr/>
        </p:nvCxnSpPr>
        <p:spPr>
          <a:xfrm>
            <a:off x="5978652" y="4937760"/>
            <a:ext cx="0" cy="3657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67" name="Google Shape;167;p20"/>
          <p:cNvSpPr/>
          <p:nvPr/>
        </p:nvSpPr>
        <p:spPr>
          <a:xfrm>
            <a:off x="758952" y="5303520"/>
            <a:ext cx="6172200" cy="685800"/>
          </a:xfrm>
          <a:prstGeom prst="roundRect">
            <a:avLst>
              <a:gd fmla="val 12000" name="adj"/>
            </a:avLst>
          </a:prstGeom>
          <a:solidFill>
            <a:srgbClr val="E6EAF0"/>
          </a:solidFill>
          <a:ln cap="flat" cmpd="sng" w="12700">
            <a:solidFill>
              <a:srgbClr val="9AA9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Knowledge base (M1)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transaction facts (7 inputs) · predicate-logic rules · risk tiers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269480" y="1737360"/>
            <a:ext cx="429768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How the components interact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The page sends each transaction as a JSON request; the API validates it with Pydantic and returns the risk tier and its explanation.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The inference engine fires every matching rule on the facts until none apply; conflict resolution then fixes the final tier.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The knowledge base is kept apart from the API and the page, so rules can be tested on their own.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Improvements over the existing system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Readable rules instead of a black-box score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Every decision names the rules that fired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Four clear tiers: LOW, MEDIUM, HIGH, CRITICAL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One run.bat starts the whole app on Windows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DFD Diagram – Level 0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74" name="Google Shape;174;p2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758952" y="16459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Level 0 – context diagram: </a:t>
            </a:r>
            <a:r>
              <a:rPr b="0" lang="en-US" sz="15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the whole system as one process and the people who exchange data with it.</a:t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777240" y="3200400"/>
            <a:ext cx="1920240" cy="1097280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Analyst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(user / fraud officer)</a:t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9509760" y="3200400"/>
            <a:ext cx="1920240" cy="1097280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Evaluator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(reviewer / tester)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4572000" y="2606040"/>
            <a:ext cx="3108960" cy="2286000"/>
          </a:xfrm>
          <a:prstGeom prst="ellipse">
            <a:avLst/>
          </a:prstGeom>
          <a:solidFill>
            <a:srgbClr val="EBF2FA"/>
          </a:solidFill>
          <a:ln cap="flat" cmpd="sng" w="19050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228600" spcFirstLastPara="1" rIns="22860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FraudShield AI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rule-based payment risk assessment</a:t>
            </a:r>
            <a:endParaRPr/>
          </a:p>
        </p:txBody>
      </p:sp>
      <p:cxnSp>
        <p:nvCxnSpPr>
          <p:cNvPr id="179" name="Google Shape;179;p21"/>
          <p:cNvCxnSpPr/>
          <p:nvPr/>
        </p:nvCxnSpPr>
        <p:spPr>
          <a:xfrm flipH="1" rot="10800000">
            <a:off x="2697480" y="3291840"/>
            <a:ext cx="2002536" cy="1371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0" name="Google Shape;180;p21"/>
          <p:cNvSpPr txBox="1"/>
          <p:nvPr/>
        </p:nvSpPr>
        <p:spPr>
          <a:xfrm>
            <a:off x="2720340" y="2825496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transaction details (seven inputs)</a:t>
            </a:r>
            <a:endParaRPr/>
          </a:p>
        </p:txBody>
      </p:sp>
      <p:cxnSp>
        <p:nvCxnSpPr>
          <p:cNvPr id="181" name="Google Shape;181;p21"/>
          <p:cNvCxnSpPr/>
          <p:nvPr/>
        </p:nvCxnSpPr>
        <p:spPr>
          <a:xfrm rot="10800000">
            <a:off x="2697480" y="4069080"/>
            <a:ext cx="2002536" cy="1371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2" name="Google Shape;182;p21"/>
          <p:cNvSpPr txBox="1"/>
          <p:nvPr/>
        </p:nvSpPr>
        <p:spPr>
          <a:xfrm>
            <a:off x="2720340" y="4288536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risk tier, rules fired, explanation</a:t>
            </a:r>
            <a:endParaRPr/>
          </a:p>
        </p:txBody>
      </p:sp>
      <p:cxnSp>
        <p:nvCxnSpPr>
          <p:cNvPr id="183" name="Google Shape;183;p21"/>
          <p:cNvCxnSpPr/>
          <p:nvPr/>
        </p:nvCxnSpPr>
        <p:spPr>
          <a:xfrm rot="10800000">
            <a:off x="7552944" y="3291840"/>
            <a:ext cx="1956816" cy="1371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4" name="Google Shape;184;p21"/>
          <p:cNvSpPr txBox="1"/>
          <p:nvPr/>
        </p:nvSpPr>
        <p:spPr>
          <a:xfrm>
            <a:off x="7639812" y="2825496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test request: sample case (e.g. TXN001)</a:t>
            </a:r>
            <a:endParaRPr/>
          </a:p>
        </p:txBody>
      </p:sp>
      <p:cxnSp>
        <p:nvCxnSpPr>
          <p:cNvPr id="185" name="Google Shape;185;p21"/>
          <p:cNvCxnSpPr/>
          <p:nvPr/>
        </p:nvCxnSpPr>
        <p:spPr>
          <a:xfrm flipH="1" rot="10800000">
            <a:off x="7552944" y="4069080"/>
            <a:ext cx="1956816" cy="13716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6" name="Google Shape;186;p21"/>
          <p:cNvSpPr txBox="1"/>
          <p:nvPr/>
        </p:nvSpPr>
        <p:spPr>
          <a:xfrm>
            <a:off x="7639812" y="4288536"/>
            <a:ext cx="1874519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decision and explanation for review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777240" y="5532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Notation:</a:t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1691640" y="5559552"/>
            <a:ext cx="384048" cy="219456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121408" y="55321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external entity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3520440" y="5559552"/>
            <a:ext cx="384048" cy="219456"/>
          </a:xfrm>
          <a:prstGeom prst="roundRect">
            <a:avLst>
              <a:gd fmla="val 12000" name="adj"/>
            </a:avLst>
          </a:prstGeom>
          <a:solidFill>
            <a:srgbClr val="EBF2FA"/>
          </a:solidFill>
          <a:ln cap="flat" cmpd="sng" w="12700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950208" y="55321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process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4800600" y="5559552"/>
            <a:ext cx="502920" cy="219456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193" name="Google Shape;193;p21"/>
          <p:cNvCxnSpPr/>
          <p:nvPr/>
        </p:nvCxnSpPr>
        <p:spPr>
          <a:xfrm>
            <a:off x="4800600" y="5559552"/>
            <a:ext cx="50292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4" name="Google Shape;194;p21"/>
          <p:cNvCxnSpPr/>
          <p:nvPr/>
        </p:nvCxnSpPr>
        <p:spPr>
          <a:xfrm>
            <a:off x="4800600" y="5779008"/>
            <a:ext cx="50292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5" name="Google Shape;195;p21"/>
          <p:cNvCxnSpPr/>
          <p:nvPr/>
        </p:nvCxnSpPr>
        <p:spPr>
          <a:xfrm>
            <a:off x="4800600" y="5559552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96" name="Google Shape;196;p21"/>
          <p:cNvCxnSpPr/>
          <p:nvPr/>
        </p:nvCxnSpPr>
        <p:spPr>
          <a:xfrm>
            <a:off x="4951476" y="555955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7" name="Google Shape;197;p21"/>
          <p:cNvSpPr txBox="1"/>
          <p:nvPr/>
        </p:nvSpPr>
        <p:spPr>
          <a:xfrm>
            <a:off x="4800600" y="5559552"/>
            <a:ext cx="1508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367527" y="55321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data store</a:t>
            </a:r>
            <a:endParaRPr/>
          </a:p>
        </p:txBody>
      </p:sp>
      <p:cxnSp>
        <p:nvCxnSpPr>
          <p:cNvPr id="199" name="Google Shape;199;p21"/>
          <p:cNvCxnSpPr/>
          <p:nvPr/>
        </p:nvCxnSpPr>
        <p:spPr>
          <a:xfrm>
            <a:off x="6355079" y="566928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0" name="Google Shape;200;p21"/>
          <p:cNvSpPr txBox="1"/>
          <p:nvPr/>
        </p:nvSpPr>
        <p:spPr>
          <a:xfrm>
            <a:off x="6858000" y="5532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data flow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DFD Diagram – Level 1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58952" y="164592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Level 1: </a:t>
            </a:r>
            <a:r>
              <a:rPr b="0" lang="en-US" sz="14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process 0 broken into six processes and three data stores.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02920" y="3364991"/>
            <a:ext cx="1280160" cy="768096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Analyst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10149840" y="3364991"/>
            <a:ext cx="1371600" cy="768096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Evaluator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4914900" y="1965960"/>
            <a:ext cx="1874519" cy="822960"/>
          </a:xfrm>
          <a:prstGeom prst="roundRect">
            <a:avLst>
              <a:gd fmla="val 18000" name="adj"/>
            </a:avLst>
          </a:prstGeom>
          <a:solidFill>
            <a:srgbClr val="EBF2FA"/>
          </a:solidFill>
          <a:ln cap="flat" cmpd="sng" w="15875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1.0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Validate Transaction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4914900" y="3337559"/>
            <a:ext cx="1874519" cy="822960"/>
          </a:xfrm>
          <a:prstGeom prst="roundRect">
            <a:avLst>
              <a:gd fmla="val 18000" name="adj"/>
            </a:avLst>
          </a:prstGeom>
          <a:solidFill>
            <a:srgbClr val="EBF2FA"/>
          </a:solidFill>
          <a:ln cap="flat" cmpd="sng" w="15875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2.0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Fire Rules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7475219" y="3337559"/>
            <a:ext cx="1874519" cy="822960"/>
          </a:xfrm>
          <a:prstGeom prst="roundRect">
            <a:avLst>
              <a:gd fmla="val 18000" name="adj"/>
            </a:avLst>
          </a:prstGeom>
          <a:solidFill>
            <a:srgbClr val="EBF2FA"/>
          </a:solidFill>
          <a:ln cap="flat" cmpd="sng" w="15875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3.0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Resolve Conflicts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4914900" y="4709159"/>
            <a:ext cx="1874519" cy="822960"/>
          </a:xfrm>
          <a:prstGeom prst="roundRect">
            <a:avLst>
              <a:gd fmla="val 18000" name="adj"/>
            </a:avLst>
          </a:prstGeom>
          <a:solidFill>
            <a:srgbClr val="EBF2FA"/>
          </a:solidFill>
          <a:ln cap="flat" cmpd="sng" w="15875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4.0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Assign Tier &amp; Explain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7475219" y="4709159"/>
            <a:ext cx="1874519" cy="822960"/>
          </a:xfrm>
          <a:prstGeom prst="roundRect">
            <a:avLst>
              <a:gd fmla="val 18000" name="adj"/>
            </a:avLst>
          </a:prstGeom>
          <a:solidFill>
            <a:srgbClr val="EBF2FA"/>
          </a:solidFill>
          <a:ln cap="flat" cmpd="sng" w="15875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5.0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Review &amp; Report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2354580" y="4709159"/>
            <a:ext cx="1874519" cy="822960"/>
          </a:xfrm>
          <a:prstGeom prst="roundRect">
            <a:avLst>
              <a:gd fmla="val 18000" name="adj"/>
            </a:avLst>
          </a:prstGeom>
          <a:solidFill>
            <a:srgbClr val="EBF2FA"/>
          </a:solidFill>
          <a:ln cap="flat" cmpd="sng" w="15875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6.0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Display Result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2286000" y="2148840"/>
            <a:ext cx="2011680" cy="457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17" name="Google Shape;217;p22"/>
          <p:cNvCxnSpPr/>
          <p:nvPr/>
        </p:nvCxnSpPr>
        <p:spPr>
          <a:xfrm>
            <a:off x="2286000" y="2148840"/>
            <a:ext cx="201168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8" name="Google Shape;218;p22"/>
          <p:cNvCxnSpPr/>
          <p:nvPr/>
        </p:nvCxnSpPr>
        <p:spPr>
          <a:xfrm>
            <a:off x="2286000" y="2606040"/>
            <a:ext cx="201168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9" name="Google Shape;219;p22"/>
          <p:cNvCxnSpPr/>
          <p:nvPr/>
        </p:nvCxnSpPr>
        <p:spPr>
          <a:xfrm>
            <a:off x="2286000" y="2148840"/>
            <a:ext cx="0" cy="45720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0" name="Google Shape;220;p22"/>
          <p:cNvCxnSpPr/>
          <p:nvPr/>
        </p:nvCxnSpPr>
        <p:spPr>
          <a:xfrm>
            <a:off x="2670048" y="214884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1" name="Google Shape;221;p22"/>
          <p:cNvSpPr txBox="1"/>
          <p:nvPr/>
        </p:nvSpPr>
        <p:spPr>
          <a:xfrm>
            <a:off x="2286000" y="214884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D2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2715768" y="214884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Rule Base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9966960" y="2148840"/>
            <a:ext cx="1737360" cy="457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24" name="Google Shape;224;p22"/>
          <p:cNvCxnSpPr/>
          <p:nvPr/>
        </p:nvCxnSpPr>
        <p:spPr>
          <a:xfrm>
            <a:off x="9966960" y="2148840"/>
            <a:ext cx="173736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5" name="Google Shape;225;p22"/>
          <p:cNvCxnSpPr/>
          <p:nvPr/>
        </p:nvCxnSpPr>
        <p:spPr>
          <a:xfrm>
            <a:off x="9966960" y="2606040"/>
            <a:ext cx="173736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6" name="Google Shape;226;p22"/>
          <p:cNvCxnSpPr/>
          <p:nvPr/>
        </p:nvCxnSpPr>
        <p:spPr>
          <a:xfrm>
            <a:off x="9966960" y="2148840"/>
            <a:ext cx="0" cy="45720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27" name="Google Shape;227;p22"/>
          <p:cNvCxnSpPr/>
          <p:nvPr/>
        </p:nvCxnSpPr>
        <p:spPr>
          <a:xfrm>
            <a:off x="10351008" y="214884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22"/>
          <p:cNvSpPr txBox="1"/>
          <p:nvPr/>
        </p:nvSpPr>
        <p:spPr>
          <a:xfrm>
            <a:off x="9966960" y="214884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D1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0396728" y="21488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Transaction Store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9966960" y="4892040"/>
            <a:ext cx="1737360" cy="457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31" name="Google Shape;231;p22"/>
          <p:cNvCxnSpPr/>
          <p:nvPr/>
        </p:nvCxnSpPr>
        <p:spPr>
          <a:xfrm>
            <a:off x="9966960" y="4892040"/>
            <a:ext cx="173736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2" name="Google Shape;232;p22"/>
          <p:cNvCxnSpPr/>
          <p:nvPr/>
        </p:nvCxnSpPr>
        <p:spPr>
          <a:xfrm>
            <a:off x="9966960" y="5349240"/>
            <a:ext cx="173736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3" name="Google Shape;233;p22"/>
          <p:cNvCxnSpPr/>
          <p:nvPr/>
        </p:nvCxnSpPr>
        <p:spPr>
          <a:xfrm>
            <a:off x="9966960" y="4892040"/>
            <a:ext cx="0" cy="45720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4" name="Google Shape;234;p22"/>
          <p:cNvCxnSpPr/>
          <p:nvPr/>
        </p:nvCxnSpPr>
        <p:spPr>
          <a:xfrm>
            <a:off x="10351008" y="489204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5" name="Google Shape;235;p22"/>
          <p:cNvSpPr txBox="1"/>
          <p:nvPr/>
        </p:nvSpPr>
        <p:spPr>
          <a:xfrm>
            <a:off x="9966960" y="489204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D3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0396728" y="489204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Decision Records</a:t>
            </a:r>
            <a:endParaRPr/>
          </a:p>
        </p:txBody>
      </p:sp>
      <p:cxnSp>
        <p:nvCxnSpPr>
          <p:cNvPr id="237" name="Google Shape;237;p22"/>
          <p:cNvCxnSpPr/>
          <p:nvPr/>
        </p:nvCxnSpPr>
        <p:spPr>
          <a:xfrm>
            <a:off x="1783080" y="3749039"/>
            <a:ext cx="3131820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22"/>
          <p:cNvSpPr txBox="1"/>
          <p:nvPr/>
        </p:nvSpPr>
        <p:spPr>
          <a:xfrm>
            <a:off x="2205989" y="3447287"/>
            <a:ext cx="2286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transaction data, requests</a:t>
            </a:r>
            <a:endParaRPr/>
          </a:p>
        </p:txBody>
      </p:sp>
      <p:cxnSp>
        <p:nvCxnSpPr>
          <p:cNvPr id="239" name="Google Shape;239;p22"/>
          <p:cNvCxnSpPr/>
          <p:nvPr/>
        </p:nvCxnSpPr>
        <p:spPr>
          <a:xfrm rot="10800000">
            <a:off x="1143000" y="4133087"/>
            <a:ext cx="1211580" cy="896113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0" name="Google Shape;240;p22"/>
          <p:cNvSpPr txBox="1"/>
          <p:nvPr/>
        </p:nvSpPr>
        <p:spPr>
          <a:xfrm>
            <a:off x="434340" y="4663440"/>
            <a:ext cx="1600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risk tier, explanation</a:t>
            </a:r>
            <a:endParaRPr/>
          </a:p>
        </p:txBody>
      </p:sp>
      <p:cxnSp>
        <p:nvCxnSpPr>
          <p:cNvPr id="241" name="Google Shape;241;p22"/>
          <p:cNvCxnSpPr/>
          <p:nvPr/>
        </p:nvCxnSpPr>
        <p:spPr>
          <a:xfrm rot="10800000">
            <a:off x="6789420" y="2377440"/>
            <a:ext cx="3177540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2" name="Google Shape;242;p22"/>
          <p:cNvSpPr txBox="1"/>
          <p:nvPr/>
        </p:nvSpPr>
        <p:spPr>
          <a:xfrm>
            <a:off x="7692390" y="2075688"/>
            <a:ext cx="13716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transaction record</a:t>
            </a:r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5852160" y="2788920"/>
            <a:ext cx="0" cy="548639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22"/>
          <p:cNvSpPr txBox="1"/>
          <p:nvPr/>
        </p:nvSpPr>
        <p:spPr>
          <a:xfrm>
            <a:off x="5961888" y="294436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validated facts</a:t>
            </a:r>
            <a:endParaRPr/>
          </a:p>
        </p:txBody>
      </p:sp>
      <p:cxnSp>
        <p:nvCxnSpPr>
          <p:cNvPr id="245" name="Google Shape;245;p22"/>
          <p:cNvCxnSpPr/>
          <p:nvPr/>
        </p:nvCxnSpPr>
        <p:spPr>
          <a:xfrm rot="10800000">
            <a:off x="3840480" y="2606040"/>
            <a:ext cx="1074420" cy="86868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6" name="Google Shape;246;p22"/>
          <p:cNvSpPr txBox="1"/>
          <p:nvPr/>
        </p:nvSpPr>
        <p:spPr>
          <a:xfrm>
            <a:off x="3040380" y="2944368"/>
            <a:ext cx="114300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rules, facts</a:t>
            </a:r>
            <a:endParaRPr/>
          </a:p>
        </p:txBody>
      </p:sp>
      <p:cxnSp>
        <p:nvCxnSpPr>
          <p:cNvPr id="247" name="Google Shape;247;p22"/>
          <p:cNvCxnSpPr/>
          <p:nvPr/>
        </p:nvCxnSpPr>
        <p:spPr>
          <a:xfrm>
            <a:off x="6789420" y="3749039"/>
            <a:ext cx="685799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8" name="Google Shape;248;p22"/>
          <p:cNvSpPr txBox="1"/>
          <p:nvPr/>
        </p:nvSpPr>
        <p:spPr>
          <a:xfrm>
            <a:off x="6803136" y="3282696"/>
            <a:ext cx="658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fired 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rules</a:t>
            </a:r>
            <a:endParaRPr/>
          </a:p>
        </p:txBody>
      </p:sp>
      <p:cxnSp>
        <p:nvCxnSpPr>
          <p:cNvPr id="249" name="Google Shape;249;p22"/>
          <p:cNvCxnSpPr/>
          <p:nvPr/>
        </p:nvCxnSpPr>
        <p:spPr>
          <a:xfrm>
            <a:off x="5852160" y="4160520"/>
            <a:ext cx="0" cy="548639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22"/>
          <p:cNvSpPr txBox="1"/>
          <p:nvPr/>
        </p:nvSpPr>
        <p:spPr>
          <a:xfrm>
            <a:off x="5056632" y="4279391"/>
            <a:ext cx="731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facts /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tier</a:t>
            </a:r>
            <a:endParaRPr/>
          </a:p>
        </p:txBody>
      </p:sp>
      <p:cxnSp>
        <p:nvCxnSpPr>
          <p:cNvPr id="251" name="Google Shape;251;p22"/>
          <p:cNvCxnSpPr/>
          <p:nvPr/>
        </p:nvCxnSpPr>
        <p:spPr>
          <a:xfrm flipH="1">
            <a:off x="6537960" y="4160520"/>
            <a:ext cx="1325880" cy="548639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2" name="Google Shape;252;p22"/>
          <p:cNvSpPr txBox="1"/>
          <p:nvPr/>
        </p:nvSpPr>
        <p:spPr>
          <a:xfrm>
            <a:off x="7219188" y="4425696"/>
            <a:ext cx="10515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resolved rule</a:t>
            </a:r>
            <a:endParaRPr/>
          </a:p>
        </p:txBody>
      </p:sp>
      <p:cxnSp>
        <p:nvCxnSpPr>
          <p:cNvPr id="253" name="Google Shape;253;p22"/>
          <p:cNvCxnSpPr/>
          <p:nvPr/>
        </p:nvCxnSpPr>
        <p:spPr>
          <a:xfrm rot="10800000">
            <a:off x="4229100" y="5120640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4" name="Google Shape;254;p22"/>
          <p:cNvSpPr txBox="1"/>
          <p:nvPr/>
        </p:nvSpPr>
        <p:spPr>
          <a:xfrm>
            <a:off x="4251960" y="5175503"/>
            <a:ext cx="6400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reasons,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tier</a:t>
            </a:r>
            <a:endParaRPr/>
          </a:p>
        </p:txBody>
      </p:sp>
      <p:cxnSp>
        <p:nvCxnSpPr>
          <p:cNvPr id="255" name="Google Shape;255;p22"/>
          <p:cNvCxnSpPr/>
          <p:nvPr/>
        </p:nvCxnSpPr>
        <p:spPr>
          <a:xfrm flipH="1">
            <a:off x="3840480" y="4160520"/>
            <a:ext cx="1280160" cy="548639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6" name="Google Shape;256;p22"/>
          <p:cNvSpPr txBox="1"/>
          <p:nvPr/>
        </p:nvSpPr>
        <p:spPr>
          <a:xfrm>
            <a:off x="3680460" y="4224528"/>
            <a:ext cx="7772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rules fired</a:t>
            </a:r>
            <a:endParaRPr/>
          </a:p>
        </p:txBody>
      </p:sp>
      <p:cxnSp>
        <p:nvCxnSpPr>
          <p:cNvPr id="257" name="Google Shape;257;p22"/>
          <p:cNvCxnSpPr/>
          <p:nvPr/>
        </p:nvCxnSpPr>
        <p:spPr>
          <a:xfrm>
            <a:off x="6789420" y="5120640"/>
            <a:ext cx="685799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8" name="Google Shape;258;p22"/>
          <p:cNvSpPr txBox="1"/>
          <p:nvPr/>
        </p:nvSpPr>
        <p:spPr>
          <a:xfrm>
            <a:off x="6803136" y="5175503"/>
            <a:ext cx="658368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decisions /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reports</a:t>
            </a:r>
            <a:endParaRPr/>
          </a:p>
        </p:txBody>
      </p:sp>
      <p:cxnSp>
        <p:nvCxnSpPr>
          <p:cNvPr id="259" name="Google Shape;259;p22"/>
          <p:cNvCxnSpPr/>
          <p:nvPr/>
        </p:nvCxnSpPr>
        <p:spPr>
          <a:xfrm flipH="1">
            <a:off x="8961119" y="2606040"/>
            <a:ext cx="1325881" cy="2103119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0" name="Google Shape;260;p22"/>
          <p:cNvSpPr txBox="1"/>
          <p:nvPr/>
        </p:nvSpPr>
        <p:spPr>
          <a:xfrm>
            <a:off x="9372600" y="2807208"/>
            <a:ext cx="54864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records</a:t>
            </a:r>
            <a:endParaRPr/>
          </a:p>
        </p:txBody>
      </p:sp>
      <p:cxnSp>
        <p:nvCxnSpPr>
          <p:cNvPr id="261" name="Google Shape;261;p22"/>
          <p:cNvCxnSpPr/>
          <p:nvPr/>
        </p:nvCxnSpPr>
        <p:spPr>
          <a:xfrm flipH="1">
            <a:off x="9349740" y="4133087"/>
            <a:ext cx="1120140" cy="804672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22"/>
          <p:cNvSpPr txBox="1"/>
          <p:nvPr/>
        </p:nvSpPr>
        <p:spPr>
          <a:xfrm>
            <a:off x="9669780" y="4288536"/>
            <a:ext cx="86868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test request</a:t>
            </a:r>
            <a:endParaRPr/>
          </a:p>
        </p:txBody>
      </p:sp>
      <p:cxnSp>
        <p:nvCxnSpPr>
          <p:cNvPr id="263" name="Google Shape;263;p22"/>
          <p:cNvCxnSpPr/>
          <p:nvPr/>
        </p:nvCxnSpPr>
        <p:spPr>
          <a:xfrm>
            <a:off x="9349740" y="5212079"/>
            <a:ext cx="617220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4" name="Google Shape;264;p22"/>
          <p:cNvCxnSpPr/>
          <p:nvPr/>
        </p:nvCxnSpPr>
        <p:spPr>
          <a:xfrm rot="10800000">
            <a:off x="11247119" y="4133087"/>
            <a:ext cx="0" cy="758953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5" name="Google Shape;265;p22"/>
          <p:cNvSpPr txBox="1"/>
          <p:nvPr/>
        </p:nvSpPr>
        <p:spPr>
          <a:xfrm>
            <a:off x="11100815" y="4480559"/>
            <a:ext cx="56692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reports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777240" y="58064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Notation: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1691640" y="5833872"/>
            <a:ext cx="384048" cy="219456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2121408" y="58064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external entity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3520440" y="5833872"/>
            <a:ext cx="384048" cy="219456"/>
          </a:xfrm>
          <a:prstGeom prst="roundRect">
            <a:avLst>
              <a:gd fmla="val 12000" name="adj"/>
            </a:avLst>
          </a:prstGeom>
          <a:solidFill>
            <a:srgbClr val="EBF2FA"/>
          </a:solidFill>
          <a:ln cap="flat" cmpd="sng" w="12700">
            <a:solidFill>
              <a:srgbClr val="7A9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3950208" y="58064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process</a:t>
            </a:r>
            <a:endParaRPr/>
          </a:p>
        </p:txBody>
      </p:sp>
      <p:sp>
        <p:nvSpPr>
          <p:cNvPr id="271" name="Google Shape;271;p22"/>
          <p:cNvSpPr/>
          <p:nvPr/>
        </p:nvSpPr>
        <p:spPr>
          <a:xfrm>
            <a:off x="4800600" y="5833872"/>
            <a:ext cx="502920" cy="219456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72" name="Google Shape;272;p22"/>
          <p:cNvCxnSpPr/>
          <p:nvPr/>
        </p:nvCxnSpPr>
        <p:spPr>
          <a:xfrm>
            <a:off x="4800600" y="5833872"/>
            <a:ext cx="50292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3" name="Google Shape;273;p22"/>
          <p:cNvCxnSpPr/>
          <p:nvPr/>
        </p:nvCxnSpPr>
        <p:spPr>
          <a:xfrm>
            <a:off x="4800600" y="6053328"/>
            <a:ext cx="502920" cy="0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4" name="Google Shape;274;p22"/>
          <p:cNvCxnSpPr/>
          <p:nvPr/>
        </p:nvCxnSpPr>
        <p:spPr>
          <a:xfrm>
            <a:off x="4800600" y="5833872"/>
            <a:ext cx="0" cy="219456"/>
          </a:xfrm>
          <a:prstGeom prst="straightConnector1">
            <a:avLst/>
          </a:prstGeom>
          <a:noFill/>
          <a:ln cap="flat" cmpd="sng" w="15875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5" name="Google Shape;275;p22"/>
          <p:cNvCxnSpPr/>
          <p:nvPr/>
        </p:nvCxnSpPr>
        <p:spPr>
          <a:xfrm>
            <a:off x="4951476" y="583387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5365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6" name="Google Shape;276;p22"/>
          <p:cNvSpPr txBox="1"/>
          <p:nvPr/>
        </p:nvSpPr>
        <p:spPr>
          <a:xfrm>
            <a:off x="4800600" y="5833872"/>
            <a:ext cx="1508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5367527" y="58064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data store</a:t>
            </a:r>
            <a:endParaRPr/>
          </a:p>
        </p:txBody>
      </p:sp>
      <p:cxnSp>
        <p:nvCxnSpPr>
          <p:cNvPr id="278" name="Google Shape;278;p22"/>
          <p:cNvCxnSpPr/>
          <p:nvPr/>
        </p:nvCxnSpPr>
        <p:spPr>
          <a:xfrm>
            <a:off x="6355079" y="5943600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44505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9" name="Google Shape;279;p22"/>
          <p:cNvSpPr txBox="1"/>
          <p:nvPr/>
        </p:nvSpPr>
        <p:spPr>
          <a:xfrm>
            <a:off x="6858000" y="58064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data flow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Methodology / Workflow Diagram</a:t>
            </a:r>
            <a:endParaRPr sz="2800"/>
          </a:p>
        </p:txBody>
      </p:sp>
      <p:sp>
        <p:nvSpPr>
          <p:cNvPr id="285" name="Google Shape;285;p2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758952" y="182880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8869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325880" y="192024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325880" y="210312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Transaction input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886968" y="246888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Seven inputs: amount, time, device trust, location, login behaviour, frequency, account activity</a:t>
            </a:r>
            <a:endParaRPr/>
          </a:p>
        </p:txBody>
      </p:sp>
      <p:cxnSp>
        <p:nvCxnSpPr>
          <p:cNvPr id="291" name="Google Shape;291;p23"/>
          <p:cNvCxnSpPr/>
          <p:nvPr/>
        </p:nvCxnSpPr>
        <p:spPr>
          <a:xfrm>
            <a:off x="3236976" y="2615184"/>
            <a:ext cx="237744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23"/>
          <p:cNvSpPr/>
          <p:nvPr/>
        </p:nvSpPr>
        <p:spPr>
          <a:xfrm>
            <a:off x="3502152" y="182880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36301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4069080" y="192024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PREPROCESSING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4069080" y="210312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Validate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3630168" y="246888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Pydantic schema checks every input before any rule runs</a:t>
            </a:r>
            <a:endParaRPr/>
          </a:p>
        </p:txBody>
      </p:sp>
      <p:cxnSp>
        <p:nvCxnSpPr>
          <p:cNvPr id="297" name="Google Shape;297;p23"/>
          <p:cNvCxnSpPr/>
          <p:nvPr/>
        </p:nvCxnSpPr>
        <p:spPr>
          <a:xfrm>
            <a:off x="5980176" y="2615184"/>
            <a:ext cx="237744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23"/>
          <p:cNvSpPr/>
          <p:nvPr/>
        </p:nvSpPr>
        <p:spPr>
          <a:xfrm>
            <a:off x="6245352" y="182880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63733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6812280" y="192024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PREPROCESSING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812280" y="210312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Derive facts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373368" y="246888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Inputs become predicates over the transaction, e.g. HighAmount(t), UntrustedDevice(t)</a:t>
            </a:r>
            <a:endParaRPr/>
          </a:p>
        </p:txBody>
      </p:sp>
      <p:cxnSp>
        <p:nvCxnSpPr>
          <p:cNvPr id="303" name="Google Shape;303;p23"/>
          <p:cNvCxnSpPr/>
          <p:nvPr/>
        </p:nvCxnSpPr>
        <p:spPr>
          <a:xfrm>
            <a:off x="8723376" y="2615184"/>
            <a:ext cx="237744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4" name="Google Shape;304;p23"/>
          <p:cNvSpPr/>
          <p:nvPr/>
        </p:nvSpPr>
        <p:spPr>
          <a:xfrm>
            <a:off x="8988552" y="182880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9116568" y="195681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9555480" y="192024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DESIGN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9555480" y="210312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Formulate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9116568" y="246888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Knowledge base = facts + if–then rules; output = tier LOW to CRITICAL</a:t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758952" y="406908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8869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1325880" y="416052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IMPLEMENTATION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1325880" y="434340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Infer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886968" y="470916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Forward chaining fires every matching rule until no new fact appears</a:t>
            </a:r>
            <a:endParaRPr/>
          </a:p>
        </p:txBody>
      </p:sp>
      <p:cxnSp>
        <p:nvCxnSpPr>
          <p:cNvPr id="314" name="Google Shape;314;p23"/>
          <p:cNvCxnSpPr/>
          <p:nvPr/>
        </p:nvCxnSpPr>
        <p:spPr>
          <a:xfrm>
            <a:off x="3236976" y="4855464"/>
            <a:ext cx="237744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5" name="Google Shape;315;p23"/>
          <p:cNvSpPr/>
          <p:nvPr/>
        </p:nvSpPr>
        <p:spPr>
          <a:xfrm>
            <a:off x="3502152" y="406908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36301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4069080" y="416052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IMPLEMENTATION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4069080" y="434340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Resolve &amp; score</a:t>
            </a:r>
            <a:endParaRPr/>
          </a:p>
        </p:txBody>
      </p:sp>
      <p:sp>
        <p:nvSpPr>
          <p:cNvPr id="319" name="Google Shape;319;p23"/>
          <p:cNvSpPr txBox="1"/>
          <p:nvPr/>
        </p:nvSpPr>
        <p:spPr>
          <a:xfrm>
            <a:off x="3630168" y="470916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Conflict resolution fixes the final risk tier from the rules that fired</a:t>
            </a:r>
            <a:endParaRPr/>
          </a:p>
        </p:txBody>
      </p:sp>
      <p:cxnSp>
        <p:nvCxnSpPr>
          <p:cNvPr id="320" name="Google Shape;320;p23"/>
          <p:cNvCxnSpPr/>
          <p:nvPr/>
        </p:nvCxnSpPr>
        <p:spPr>
          <a:xfrm>
            <a:off x="5980176" y="4855464"/>
            <a:ext cx="237744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1" name="Google Shape;321;p23"/>
          <p:cNvSpPr/>
          <p:nvPr/>
        </p:nvSpPr>
        <p:spPr>
          <a:xfrm>
            <a:off x="6245352" y="406908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63733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812280" y="416052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TESTING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6812280" y="434340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Verify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373368" y="470916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pytest on the rule engine; Playwright on the web flow; samples TXN001, TXN002</a:t>
            </a:r>
            <a:endParaRPr/>
          </a:p>
        </p:txBody>
      </p:sp>
      <p:cxnSp>
        <p:nvCxnSpPr>
          <p:cNvPr id="326" name="Google Shape;326;p23"/>
          <p:cNvCxnSpPr/>
          <p:nvPr/>
        </p:nvCxnSpPr>
        <p:spPr>
          <a:xfrm>
            <a:off x="8723376" y="4855464"/>
            <a:ext cx="237744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7" name="Google Shape;327;p23"/>
          <p:cNvSpPr/>
          <p:nvPr/>
        </p:nvSpPr>
        <p:spPr>
          <a:xfrm>
            <a:off x="8988552" y="4069080"/>
            <a:ext cx="2450592" cy="1572768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9116568" y="4197096"/>
            <a:ext cx="384048" cy="38404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9555480" y="4160520"/>
            <a:ext cx="18105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EVALUATION · OUTPUT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9555480" y="4343400"/>
            <a:ext cx="18105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Explain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9116568" y="4709160"/>
            <a:ext cx="2212848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Tier plus fired rules in plain language, shown in the web app</a:t>
            </a:r>
            <a:endParaRPr/>
          </a:p>
        </p:txBody>
      </p:sp>
      <p:cxnSp>
        <p:nvCxnSpPr>
          <p:cNvPr id="332" name="Google Shape;332;p23"/>
          <p:cNvCxnSpPr/>
          <p:nvPr/>
        </p:nvCxnSpPr>
        <p:spPr>
          <a:xfrm>
            <a:off x="10213848" y="3401568"/>
            <a:ext cx="0" cy="333756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3" name="Google Shape;333;p23"/>
          <p:cNvCxnSpPr/>
          <p:nvPr/>
        </p:nvCxnSpPr>
        <p:spPr>
          <a:xfrm rot="10800000">
            <a:off x="1984248" y="3735324"/>
            <a:ext cx="8229600" cy="0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34" name="Google Shape;334;p23"/>
          <p:cNvCxnSpPr/>
          <p:nvPr/>
        </p:nvCxnSpPr>
        <p:spPr>
          <a:xfrm>
            <a:off x="1984248" y="3735324"/>
            <a:ext cx="0" cy="333756"/>
          </a:xfrm>
          <a:prstGeom prst="straightConnector1">
            <a:avLst/>
          </a:prstGeom>
          <a:noFill/>
          <a:ln cap="flat" cmpd="sng" w="254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35" name="Google Shape;335;p23"/>
          <p:cNvSpPr txBox="1"/>
          <p:nvPr/>
        </p:nvSpPr>
        <p:spPr>
          <a:xfrm>
            <a:off x="758952" y="573328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Feedback loop: </a:t>
            </a:r>
            <a:r>
              <a:rPr b="0" lang="en-US" sz="115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findings from testing and evaluation go back into steps 3–6 (facts, rules and explanation wording).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Tools and Technologies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758952" y="1737360"/>
            <a:ext cx="10789920" cy="361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9900" lvl="0" marL="4699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b="1" lang="en-US" sz="1800">
                <a:solidFill>
                  <a:srgbClr val="1F2933"/>
                </a:solidFill>
              </a:rPr>
              <a:t>Programming languages: </a:t>
            </a:r>
            <a:r>
              <a:rPr b="0" lang="en-US" sz="1800">
                <a:solidFill>
                  <a:srgbClr val="1F2933"/>
                </a:solidFill>
              </a:rPr>
              <a:t>Python for the rule engine and API; TypeScript for the web interface.</a:t>
            </a:r>
            <a:endParaRPr/>
          </a:p>
          <a:p>
            <a:pPr indent="-469900" lvl="0" marL="469900" marR="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b="1" lang="en-US" sz="1800">
                <a:solidFill>
                  <a:srgbClr val="1F2933"/>
                </a:solidFill>
              </a:rPr>
              <a:t>Frameworks / libraries: </a:t>
            </a:r>
            <a:r>
              <a:rPr b="0" lang="en-US" sz="1800">
                <a:solidFill>
                  <a:srgbClr val="1F2933"/>
                </a:solidFill>
              </a:rPr>
              <a:t>FastAPI, Pydantic, SQLAlchemy; React, Vite, Tailwind CSS; pytest and Playwright for testing.</a:t>
            </a:r>
            <a:endParaRPr/>
          </a:p>
          <a:p>
            <a:pPr indent="-469900" lvl="0" marL="469900" marR="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b="1" lang="en-US" sz="1800">
                <a:solidFill>
                  <a:srgbClr val="1F2933"/>
                </a:solidFill>
              </a:rPr>
              <a:t>Software / hardware / dataset: </a:t>
            </a:r>
            <a:r>
              <a:rPr b="0" lang="en-US" sz="1800">
                <a:solidFill>
                  <a:srgbClr val="1F2933"/>
                </a:solidFill>
              </a:rPr>
              <a:t>SQLite database; Windows 10/11 with run.bat start-up (Docker optional); sample transactions TXN001 and TXN002.</a:t>
            </a:r>
            <a:endParaRPr/>
          </a:p>
          <a:p>
            <a:pPr indent="-469900" lvl="0" marL="469900" marR="0" rtl="0" algn="l">
              <a:spcBef>
                <a:spcPts val="1200"/>
              </a:spcBef>
              <a:spcAft>
                <a:spcPts val="0"/>
              </a:spcAft>
              <a:buClr>
                <a:srgbClr val="CC0000"/>
              </a:buClr>
              <a:buSzPts val="1800"/>
              <a:buFont typeface="Noto Sans Symbols"/>
              <a:buChar char="□"/>
            </a:pPr>
            <a:r>
              <a:rPr b="1" lang="en-US" sz="1800">
                <a:solidFill>
                  <a:srgbClr val="1F2933"/>
                </a:solidFill>
              </a:rPr>
              <a:t>Why these tools: </a:t>
            </a:r>
            <a:r>
              <a:rPr b="0" lang="en-US" sz="1800">
                <a:solidFill>
                  <a:srgbClr val="1F2933"/>
                </a:solidFill>
              </a:rPr>
              <a:t>typed validation, a light database and a one-click start keep the system easy to run after extracting the ZIP; a symbolic rule engine needs no GPU or training data.</a:t>
            </a:r>
            <a:endParaRPr/>
          </a:p>
        </p:txBody>
      </p:sp>
      <p:sp>
        <p:nvSpPr>
          <p:cNvPr id="342" name="Google Shape;342;p2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" name="Google Shape;343;p24"/>
          <p:cNvSpPr/>
          <p:nvPr/>
        </p:nvSpPr>
        <p:spPr>
          <a:xfrm>
            <a:off x="758952" y="5486400"/>
            <a:ext cx="1371600" cy="411480"/>
          </a:xfrm>
          <a:prstGeom prst="roundRect">
            <a:avLst>
              <a:gd fmla="val 50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Python</a:t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2267712" y="5486400"/>
            <a:ext cx="1645920" cy="411480"/>
          </a:xfrm>
          <a:prstGeom prst="roundRect">
            <a:avLst>
              <a:gd fmla="val 50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FastAPI</a:t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4050791" y="5486400"/>
            <a:ext cx="1463040" cy="411480"/>
          </a:xfrm>
          <a:prstGeom prst="roundRect">
            <a:avLst>
              <a:gd fmla="val 50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SQLite</a:t>
            </a:r>
            <a:endParaRPr/>
          </a:p>
        </p:txBody>
      </p:sp>
      <p:sp>
        <p:nvSpPr>
          <p:cNvPr id="346" name="Google Shape;346;p24"/>
          <p:cNvSpPr/>
          <p:nvPr/>
        </p:nvSpPr>
        <p:spPr>
          <a:xfrm>
            <a:off x="5650992" y="5486400"/>
            <a:ext cx="2286000" cy="411480"/>
          </a:xfrm>
          <a:prstGeom prst="roundRect">
            <a:avLst>
              <a:gd fmla="val 50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React · TypeScript</a:t>
            </a:r>
            <a:endParaRPr/>
          </a:p>
        </p:txBody>
      </p:sp>
      <p:sp>
        <p:nvSpPr>
          <p:cNvPr id="347" name="Google Shape;347;p24"/>
          <p:cNvSpPr/>
          <p:nvPr/>
        </p:nvSpPr>
        <p:spPr>
          <a:xfrm>
            <a:off x="8074152" y="5486400"/>
            <a:ext cx="1097280" cy="411480"/>
          </a:xfrm>
          <a:prstGeom prst="roundRect">
            <a:avLst>
              <a:gd fmla="val 50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Tailwind</a:t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9308592" y="5486400"/>
            <a:ext cx="2011680" cy="411480"/>
          </a:xfrm>
          <a:prstGeom prst="roundRect">
            <a:avLst>
              <a:gd fmla="val 50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pytest · Playwright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List of Modules</a:t>
            </a:r>
            <a:endParaRPr sz="2800"/>
          </a:p>
        </p:txBody>
      </p:sp>
      <p:sp>
        <p:nvSpPr>
          <p:cNvPr id="354" name="Google Shape;354;p25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55" name="Google Shape;355;p25"/>
          <p:cNvGraphicFramePr/>
          <p:nvPr/>
        </p:nvGraphicFramePr>
        <p:xfrm>
          <a:off x="758952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{AD00AA52-672A-44FE-BA79-C595BD180E5F}</a:tableStyleId>
              </a:tblPr>
              <a:tblGrid>
                <a:gridCol w="1600200"/>
                <a:gridCol w="3291850"/>
                <a:gridCol w="4297675"/>
                <a:gridCol w="15087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Module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Technology / components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M1  Knowledge Base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Facts schema; predicate-logic rule base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Turn the seven inputs into facts; hold the if–then risk rules and the four risk tiers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M2  Inference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Forward chaining; conflict resolution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Fire matching rules until none apply; resolve conflicts; assign LOW / MEDIUM / HIGH / CRITICAL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M3  Interface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FastAPI + Pydantic API; React · TypeScript · Vite · Tailwind UI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Validated endpoints; web pages to submit a payment and view its tier and explanation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M4  Data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SQLAlchemy · SQLite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Store transactions and decisions; samples TXN001 (critical) and TXN002 (normal)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M5  Explanation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Explainable AI (XAI)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Fired rules and a plain-language reason for every decision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8553"/>
                          </a:solidFill>
                        </a:rPr>
                        <a:t>Completed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3F4EA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Testing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pytest · Playwright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Unit tests for rules and engine; browser tests for the web flow; end-to-end run pending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B7791F"/>
                          </a:solidFill>
                        </a:rPr>
                        <a:t>In progress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4DE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2933"/>
                          </a:solidFill>
                        </a:rPr>
                        <a:t>Final report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README, report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50" u="none" cap="none" strike="noStrike">
                          <a:solidFill>
                            <a:srgbClr val="1F2933"/>
                          </a:solidFill>
                        </a:rPr>
                        <a:t>Write-up of design, rules, inference method and results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B7791F"/>
                          </a:solidFill>
                        </a:rPr>
                        <a:t>In progress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4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6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Module Implementation – Part 1</a:t>
            </a:r>
            <a:endParaRPr sz="2800"/>
          </a:p>
        </p:txBody>
      </p:sp>
      <p:sp>
        <p:nvSpPr>
          <p:cNvPr id="361" name="Google Shape;361;p26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758952" y="1783080"/>
            <a:ext cx="5257800" cy="4251960"/>
          </a:xfrm>
          <a:prstGeom prst="roundRect">
            <a:avLst>
              <a:gd fmla="val 5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923544" y="1929384"/>
            <a:ext cx="457200" cy="4572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M1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1490472" y="192024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Knowledge base – the rules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941832" y="2468880"/>
            <a:ext cx="48920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Purpose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Turns a transaction into facts and holds the risk rules.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Input → output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Seven inputs (JSON) → validated facts + rule base.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Key components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Pydantic schema validates the inputs; each input becomes a predicate over the transaction; each rule is an if–then condition over those predicates and concludes a risk level.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Design choice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Rules are kept apart from the web code, so they can be read, tested and changed on their own.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Status and tests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Completed. Checked with pytest and the two sample transactions.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6245352" y="1783080"/>
            <a:ext cx="5257800" cy="4251960"/>
          </a:xfrm>
          <a:prstGeom prst="roundRect">
            <a:avLst>
              <a:gd fmla="val 5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6409944" y="1929384"/>
            <a:ext cx="457200" cy="4572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M2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6976872" y="192024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Inference engine – the AI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6428232" y="2468880"/>
            <a:ext cx="48920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Purpose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Reasons over the facts and decides the risk tier.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Input → output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Facts + rule base → fired rules, risk tier (LOW to CRITICAL), reasons.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Key components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Forward chaining: fire every rule whose conditions hold, add its conclusion as a new fact, repeat until nothing changes; conflict resolution then fixes the final tier.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Design choice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Every fired rule is recorded, so no step of the decision is hidden.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CC0000"/>
                </a:solidFill>
                <a:latin typeface="Verdana"/>
                <a:ea typeface="Verdana"/>
                <a:cs typeface="Verdana"/>
                <a:sym typeface="Verdana"/>
              </a:rPr>
              <a:t>Status and tests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Completed. Core engine checked with pytest and the two sample cases.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7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Module Implementation – Part 2</a:t>
            </a:r>
            <a:endParaRPr sz="2800"/>
          </a:p>
        </p:txBody>
      </p:sp>
      <p:sp>
        <p:nvSpPr>
          <p:cNvPr id="375" name="Google Shape;375;p27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27"/>
          <p:cNvSpPr/>
          <p:nvPr/>
        </p:nvSpPr>
        <p:spPr>
          <a:xfrm>
            <a:off x="758952" y="1783080"/>
            <a:ext cx="5486400" cy="4251960"/>
          </a:xfrm>
          <a:prstGeom prst="roundRect">
            <a:avLst>
              <a:gd fmla="val 4000" name="adj"/>
            </a:avLst>
          </a:prstGeom>
          <a:solidFill>
            <a:srgbClr val="1E2630"/>
          </a:solidFill>
          <a:ln>
            <a:noFill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7" name="Google Shape;377;p27"/>
          <p:cNvSpPr txBox="1"/>
          <p:nvPr/>
        </p:nvSpPr>
        <p:spPr>
          <a:xfrm>
            <a:off x="941832" y="1856231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2B705"/>
                </a:solidFill>
                <a:latin typeface="Verdana"/>
                <a:ea typeface="Verdana"/>
                <a:cs typeface="Verdana"/>
                <a:sym typeface="Verdana"/>
              </a:rPr>
              <a:t>Forward chaining – core loop (inference engine)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941832" y="2212848"/>
            <a:ext cx="516636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facts ← facts_from(transaction);  fired ← { }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loop: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  agenda ← { r : r.if holds in facts, r ∉ fired }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  if agenda is empty: break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  r ← resolve_conflict(agenda)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  facts ← facts ∪ r.then;  fired ← fired ∪ { r }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  record(r, reason(r))        # for the explanation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tier ← tier_from(facts)       # LOW … CRITICAL</a:t>
            </a:r>
            <a:endParaRPr/>
          </a:p>
          <a:p>
            <a:pPr indent="0" lvl="0" marL="0" marR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E9EEF1"/>
                </a:solidFill>
                <a:latin typeface="Courier New"/>
                <a:ea typeface="Courier New"/>
                <a:cs typeface="Courier New"/>
                <a:sym typeface="Courier New"/>
              </a:rPr>
              <a:t>return tier, fired, reasons</a:t>
            </a:r>
            <a:endParaRPr/>
          </a:p>
        </p:txBody>
      </p:sp>
      <p:sp>
        <p:nvSpPr>
          <p:cNvPr id="379" name="Google Shape;379;p27"/>
          <p:cNvSpPr/>
          <p:nvPr/>
        </p:nvSpPr>
        <p:spPr>
          <a:xfrm>
            <a:off x="6446520" y="1783080"/>
            <a:ext cx="5074920" cy="1325880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6583680" y="192024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M3</a:t>
            </a:r>
            <a:endParaRPr/>
          </a:p>
        </p:txBody>
      </p:sp>
      <p:sp>
        <p:nvSpPr>
          <p:cNvPr id="381" name="Google Shape;381;p27"/>
          <p:cNvSpPr txBox="1"/>
          <p:nvPr/>
        </p:nvSpPr>
        <p:spPr>
          <a:xfrm>
            <a:off x="7114032" y="1892807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Interface</a:t>
            </a:r>
            <a:r>
              <a:rPr b="1" lang="en-US" sz="1050">
                <a:solidFill>
                  <a:srgbClr val="1C8553"/>
                </a:solidFill>
                <a:latin typeface="Verdana"/>
                <a:ea typeface="Verdana"/>
                <a:cs typeface="Verdana"/>
                <a:sym typeface="Verdana"/>
              </a:rPr>
              <a:t>   completed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7114032" y="2240280"/>
            <a:ext cx="4297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FastAPI endpoints validate each request with Pydantic and return the tier and explanation as JSON; the React page shows the result.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6446520" y="3246120"/>
            <a:ext cx="5074920" cy="1325880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6583680" y="3383279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M4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7114032" y="335584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Data</a:t>
            </a:r>
            <a:r>
              <a:rPr b="1" lang="en-US" sz="1050">
                <a:solidFill>
                  <a:srgbClr val="1C8553"/>
                </a:solidFill>
                <a:latin typeface="Verdana"/>
                <a:ea typeface="Verdana"/>
                <a:cs typeface="Verdana"/>
                <a:sym typeface="Verdana"/>
              </a:rPr>
              <a:t>   completed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7114032" y="3703320"/>
            <a:ext cx="4297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SQLAlchemy models store transactions and decisions in SQLite; the sample cases TXN001 (critical) and TXN002 (normal) are included.</a:t>
            </a:r>
            <a:endParaRPr/>
          </a:p>
        </p:txBody>
      </p:sp>
      <p:sp>
        <p:nvSpPr>
          <p:cNvPr id="387" name="Google Shape;387;p27"/>
          <p:cNvSpPr/>
          <p:nvPr/>
        </p:nvSpPr>
        <p:spPr>
          <a:xfrm>
            <a:off x="6446520" y="4709160"/>
            <a:ext cx="5074920" cy="1325880"/>
          </a:xfrm>
          <a:prstGeom prst="roundRect">
            <a:avLst>
              <a:gd fmla="val 8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6583680" y="4846320"/>
            <a:ext cx="420624" cy="420624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M5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7114032" y="481888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Explanation</a:t>
            </a:r>
            <a:r>
              <a:rPr b="1" lang="en-US" sz="1050">
                <a:solidFill>
                  <a:srgbClr val="1C8553"/>
                </a:solidFill>
                <a:latin typeface="Verdana"/>
                <a:ea typeface="Verdana"/>
                <a:cs typeface="Verdana"/>
                <a:sym typeface="Verdana"/>
              </a:rPr>
              <a:t>   completed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7114032" y="5166360"/>
            <a:ext cx="42976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Every decision lists the rules that fired and a plain-language reason for each, so an analyst can check the tier.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Preliminary Results and Discussion</a:t>
            </a:r>
            <a:endParaRPr sz="2800"/>
          </a:p>
        </p:txBody>
      </p:sp>
      <p:sp>
        <p:nvSpPr>
          <p:cNvPr id="396" name="Google Shape;396;p28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97" name="Google Shape;397;p28"/>
          <p:cNvGraphicFramePr/>
          <p:nvPr/>
        </p:nvGraphicFramePr>
        <p:xfrm>
          <a:off x="758952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{AD00AA52-672A-44FE-BA79-C595BD180E5F}</a:tableStyleId>
              </a:tblPr>
              <a:tblGrid>
                <a:gridCol w="1000000"/>
                <a:gridCol w="1750000"/>
                <a:gridCol w="1250000"/>
                <a:gridCol w="23093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Sample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Scenario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Risk tier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Output shown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</a:rPr>
                        <a:t>TXN001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933"/>
                          </a:solidFill>
                        </a:rPr>
                        <a:t>High-risk payment sample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933"/>
                          </a:solidFill>
                        </a:rPr>
                        <a:t>CRITICAL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933"/>
                          </a:solidFill>
                        </a:rPr>
                        <a:t>Tier, rules fired and a plain-language reason for each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2933"/>
                          </a:solidFill>
                        </a:rPr>
                        <a:t>TXN002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933"/>
                          </a:solidFill>
                        </a:rPr>
                        <a:t>Normal payment sample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933"/>
                          </a:solidFill>
                        </a:rPr>
                        <a:t>Normal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F2933"/>
                          </a:solidFill>
                        </a:rPr>
                        <a:t>Tier and the reasons it stayed low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398" name="Google Shape;398;p28"/>
          <p:cNvSpPr txBox="1"/>
          <p:nvPr/>
        </p:nvSpPr>
        <p:spPr>
          <a:xfrm>
            <a:off x="758952" y="3950000"/>
            <a:ext cx="6309360" cy="2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Transparent by design. </a:t>
            </a: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Every decision comes with the rules that fired and a plain-language reason.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One tier per transaction. </a:t>
            </a: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Conflict resolution reduces all fired rules to LOW, MEDIUM, HIGH or CRITICAL.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Both ends of the scale. </a:t>
            </a:r>
            <a:r>
              <a:rPr b="0" lang="en-US" sz="12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TXN001 is the critical sample; TXN002 is the normal one.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F7B85"/>
                </a:solidFill>
                <a:latin typeface="Verdana"/>
                <a:ea typeface="Verdana"/>
                <a:cs typeface="Verdana"/>
                <a:sym typeface="Verdana"/>
              </a:rPr>
              <a:t>Numerical evaluation (rule coverage, response time, test counts) will be reported at the final review, once the end-to-end run is complete.</a:t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7269480" y="1783080"/>
            <a:ext cx="4343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Risk tiers assigned by the system</a:t>
            </a:r>
            <a:endParaRPr/>
          </a:p>
        </p:txBody>
      </p:sp>
      <p:sp>
        <p:nvSpPr>
          <p:cNvPr id="400" name="Google Shape;400;p28"/>
          <p:cNvSpPr/>
          <p:nvPr/>
        </p:nvSpPr>
        <p:spPr>
          <a:xfrm>
            <a:off x="7669480" y="2300000"/>
            <a:ext cx="3543400" cy="680000"/>
          </a:xfrm>
          <a:prstGeom prst="roundRect">
            <a:avLst>
              <a:gd fmla="val 16667" name="adj"/>
            </a:avLst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LOW</a:t>
            </a:r>
            <a:endParaRPr/>
          </a:p>
        </p:txBody>
      </p:sp>
      <p:sp>
        <p:nvSpPr>
          <p:cNvPr id="401" name="Google Shape;401;p28"/>
          <p:cNvSpPr/>
          <p:nvPr/>
        </p:nvSpPr>
        <p:spPr>
          <a:xfrm>
            <a:off x="7669480" y="3120000"/>
            <a:ext cx="3543400" cy="680000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MEDIUM</a:t>
            </a:r>
            <a:endParaRPr/>
          </a:p>
        </p:txBody>
      </p:sp>
      <p:sp>
        <p:nvSpPr>
          <p:cNvPr id="402" name="Google Shape;402;p28"/>
          <p:cNvSpPr/>
          <p:nvPr/>
        </p:nvSpPr>
        <p:spPr>
          <a:xfrm>
            <a:off x="7669480" y="3940000"/>
            <a:ext cx="3543400" cy="680000"/>
          </a:xfrm>
          <a:prstGeom prst="roundRect">
            <a:avLst>
              <a:gd fmla="val 16667" name="adj"/>
            </a:avLst>
          </a:prstGeom>
          <a:solidFill>
            <a:srgbClr val="D948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HIGH</a:t>
            </a:r>
            <a:endParaRPr/>
          </a:p>
        </p:txBody>
      </p:sp>
      <p:sp>
        <p:nvSpPr>
          <p:cNvPr id="403" name="Google Shape;403;p28"/>
          <p:cNvSpPr/>
          <p:nvPr/>
        </p:nvSpPr>
        <p:spPr>
          <a:xfrm>
            <a:off x="7669480" y="4760000"/>
            <a:ext cx="3543400" cy="6800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CRITICAL</a:t>
            </a:r>
            <a:endParaRPr/>
          </a:p>
        </p:txBody>
      </p:sp>
      <p:sp>
        <p:nvSpPr>
          <p:cNvPr id="404" name="Google Shape;404;p28"/>
          <p:cNvSpPr/>
          <p:nvPr/>
        </p:nvSpPr>
        <p:spPr>
          <a:xfrm>
            <a:off x="7269480" y="5520000"/>
            <a:ext cx="4343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F7B85"/>
                </a:solidFill>
                <a:latin typeface="Verdana"/>
                <a:ea typeface="Verdana"/>
                <a:cs typeface="Verdana"/>
                <a:sym typeface="Verdana"/>
              </a:rPr>
              <a:t>least risk  →  most risk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9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410" name="Google Shape;410;p29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411" name="Google Shape;411;p29"/>
          <p:cNvSpPr txBox="1"/>
          <p:nvPr>
            <p:ph idx="11" type="ftr"/>
          </p:nvPr>
        </p:nvSpPr>
        <p:spPr>
          <a:xfrm>
            <a:off x="3383280" y="6245352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412" name="Google Shape;412;p29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i_play.png" id="413" name="Google Shape;41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783080"/>
            <a:ext cx="5106389" cy="3429000"/>
          </a:xfrm>
          <a:prstGeom prst="rect">
            <a:avLst/>
          </a:prstGeom>
          <a:noFill/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4" name="Google Shape;414;p29"/>
          <p:cNvSpPr txBox="1"/>
          <p:nvPr/>
        </p:nvSpPr>
        <p:spPr>
          <a:xfrm>
            <a:off x="758952" y="5285232"/>
            <a:ext cx="52578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Play + solver – </a:t>
            </a:r>
            <a:r>
              <a:rPr b="0" lang="en-US" sz="12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A* + Deadlock + Matching solves Storeroom in 12 pushes after expanding 13 positions; hatched squares are dead squares, the timeline replays the answer.</a:t>
            </a:r>
            <a:endParaRPr/>
          </a:p>
        </p:txBody>
      </p:sp>
      <p:pic>
        <p:nvPicPr>
          <p:cNvPr descr="ui_coach.png" id="415" name="Google Shape;41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2" y="1783080"/>
            <a:ext cx="5106389" cy="3429000"/>
          </a:xfrm>
          <a:prstGeom prst="rect">
            <a:avLst/>
          </a:prstGeom>
          <a:noFill/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6" name="Google Shape;416;p29"/>
          <p:cNvSpPr txBox="1"/>
          <p:nvPr/>
        </p:nvSpPr>
        <p:spPr>
          <a:xfrm>
            <a:off x="6199632" y="5285232"/>
            <a:ext cx="525780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Deadlock coach – </a:t>
            </a:r>
            <a:r>
              <a:rPr b="0" lang="en-US" sz="12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the moment a push makes the level unwinnable, the rule is named (here: corner trap) and the crate is outlined; Undo steps back.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User Interface / Implementation Screenshots</a:t>
            </a:r>
            <a:endParaRPr sz="3200"/>
          </a:p>
        </p:txBody>
      </p:sp>
      <p:sp>
        <p:nvSpPr>
          <p:cNvPr id="422" name="Google Shape;422;p30"/>
          <p:cNvSpPr txBox="1"/>
          <p:nvPr>
            <p:ph idx="10" type="dt"/>
          </p:nvPr>
        </p:nvSpPr>
        <p:spPr>
          <a:xfrm>
            <a:off x="8128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Second Review</a:t>
            </a:r>
            <a:endParaRPr/>
          </a:p>
        </p:txBody>
      </p:sp>
      <p:sp>
        <p:nvSpPr>
          <p:cNvPr id="423" name="Google Shape;423;p30"/>
          <p:cNvSpPr txBox="1"/>
          <p:nvPr>
            <p:ph idx="11" type="ftr"/>
          </p:nvPr>
        </p:nvSpPr>
        <p:spPr>
          <a:xfrm>
            <a:off x="3383280" y="6245352"/>
            <a:ext cx="5394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Science and Engineering</a:t>
            </a:r>
            <a:endParaRPr/>
          </a:p>
        </p:txBody>
      </p:sp>
      <p:sp>
        <p:nvSpPr>
          <p:cNvPr id="424" name="Google Shape;424;p30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i_race.png" id="425" name="Google Shape;4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1783080"/>
            <a:ext cx="5257800" cy="2812311"/>
          </a:xfrm>
          <a:prstGeom prst="rect">
            <a:avLst/>
          </a:prstGeom>
          <a:noFill/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6" name="Google Shape;426;p30"/>
          <p:cNvSpPr txBox="1"/>
          <p:nvPr/>
        </p:nvSpPr>
        <p:spPr>
          <a:xfrm>
            <a:off x="758952" y="4668543"/>
            <a:ext cx="5257800" cy="141221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Race – </a:t>
            </a:r>
            <a:r>
              <a:rPr b="0" lang="en-US" sz="12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all four algorithms on Double Stack at once: 36,971 vs 2,273 vs 964 vs 35 positions expanded, the same 15 pushes.</a:t>
            </a:r>
            <a:endParaRPr/>
          </a:p>
        </p:txBody>
      </p:sp>
      <p:pic>
        <p:nvPicPr>
          <p:cNvPr descr="ui_lab.png" id="427" name="Google Shape;42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9632" y="1783080"/>
            <a:ext cx="5257800" cy="2833709"/>
          </a:xfrm>
          <a:prstGeom prst="rect">
            <a:avLst/>
          </a:prstGeom>
          <a:noFill/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8" name="Google Shape;428;p30"/>
          <p:cNvSpPr txBox="1"/>
          <p:nvPr/>
        </p:nvSpPr>
        <p:spPr>
          <a:xfrm>
            <a:off x="6199632" y="4689941"/>
            <a:ext cx="5257800" cy="139081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Benchmark lab – </a:t>
            </a:r>
            <a:r>
              <a:rPr b="0" lang="en-US" sz="12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every algorithm on every level of a pack with totals and median savings; copy as CSV or Markdown.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1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Challenges Faced and Solutions</a:t>
            </a:r>
            <a:endParaRPr sz="2800"/>
          </a:p>
        </p:txBody>
      </p:sp>
      <p:sp>
        <p:nvSpPr>
          <p:cNvPr id="434" name="Google Shape;434;p31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35" name="Google Shape;435;p31"/>
          <p:cNvGraphicFramePr/>
          <p:nvPr/>
        </p:nvGraphicFramePr>
        <p:xfrm>
          <a:off x="758952" y="1783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{AD00AA52-672A-44FE-BA79-C595BD180E5F}</a:tableStyleId>
              </a:tblPr>
              <a:tblGrid>
                <a:gridCol w="4937750"/>
                <a:gridCol w="57607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</a:rPr>
                        <a:t>Challenge faced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</a:rPr>
                        <a:t>Solution adopted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2A67B0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Several rules can fire on one transaction and point to different tiers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Conflict resolution fixes one tier; every fired rule is still kept for the explanation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One input alone is weak evidence of fraud; the seven inputs interact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Rules combine inputs with predicate logic instead of single-field limits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A bare risk score is hard to trust without reasons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Explainable AI: each decision lists the fired rules and a plain-language reason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Missing or malformed inputs could reach the rules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Pydantic validation rejects bad requests before inference runs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The app must start on Windows 10/11 from any extracted folder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run.bat start-up designed to work after ZIP extraction in any directory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Web layers could not be executed in the offline build environment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Core engine tested on its own; web layers marked “not executed” until run on Windows; no false pass claims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EEF3FA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Need clear test cases at both ends of the risk scale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F2933"/>
                          </a:solidFill>
                        </a:rPr>
                        <a:t>Two samples: TXN001 (critical) and TXN002 (normal)</a:t>
                      </a:r>
                      <a:endParaRPr/>
                    </a:p>
                  </a:txBody>
                  <a:tcPr marT="27425" marB="27425" marR="64000" marL="6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6" name="Google Shape;436;p31"/>
          <p:cNvSpPr/>
          <p:nvPr/>
        </p:nvSpPr>
        <p:spPr>
          <a:xfrm>
            <a:off x="758952" y="5349240"/>
            <a:ext cx="10698480" cy="658368"/>
          </a:xfrm>
          <a:prstGeom prst="roundRect">
            <a:avLst>
              <a:gd fmla="val 12000" name="adj"/>
            </a:avLst>
          </a:prstGeom>
          <a:solidFill>
            <a:srgbClr val="FFF8EB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16457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B7791F"/>
                </a:solidFill>
                <a:latin typeface="Verdana"/>
                <a:ea typeface="Verdana"/>
                <a:cs typeface="Verdana"/>
                <a:sym typeface="Verdana"/>
              </a:rPr>
              <a:t>Remaining issues: </a:t>
            </a:r>
            <a:r>
              <a:rPr b="0" lang="en-US" sz="11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a rule base knows only the patterns written into it; thresholds and tier boundaries need tuning; browser (Playwright) and end-to-end runs are still pending.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2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Work Plan Until Final Review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442" name="Google Shape;442;p32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32"/>
          <p:cNvSpPr/>
          <p:nvPr/>
        </p:nvSpPr>
        <p:spPr>
          <a:xfrm>
            <a:off x="758952" y="1783080"/>
            <a:ext cx="2697480" cy="658368"/>
          </a:xfrm>
          <a:prstGeom prst="homePlate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Week 1</a:t>
            </a:r>
            <a:endParaRPr/>
          </a:p>
        </p:txBody>
      </p:sp>
      <p:sp>
        <p:nvSpPr>
          <p:cNvPr id="444" name="Google Shape;444;p32"/>
          <p:cNvSpPr/>
          <p:nvPr/>
        </p:nvSpPr>
        <p:spPr>
          <a:xfrm>
            <a:off x="758952" y="2606040"/>
            <a:ext cx="2560320" cy="2697480"/>
          </a:xfrm>
          <a:prstGeom prst="roundRect">
            <a:avLst>
              <a:gd fmla="val 6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886968" y="2715768"/>
            <a:ext cx="2331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End-to-end testing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Run the full app on Windows 10/11 via run.bat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Run the Playwright browser tests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Fix any start-up or API issues</a:t>
            </a:r>
            <a:endParaRPr/>
          </a:p>
        </p:txBody>
      </p:sp>
      <p:sp>
        <p:nvSpPr>
          <p:cNvPr id="446" name="Google Shape;446;p32"/>
          <p:cNvSpPr/>
          <p:nvPr/>
        </p:nvSpPr>
        <p:spPr>
          <a:xfrm>
            <a:off x="3483864" y="1783080"/>
            <a:ext cx="2697480" cy="658368"/>
          </a:xfrm>
          <a:prstGeom prst="homePlate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Week 2</a:t>
            </a:r>
            <a:endParaRPr/>
          </a:p>
        </p:txBody>
      </p:sp>
      <p:sp>
        <p:nvSpPr>
          <p:cNvPr id="447" name="Google Shape;447;p32"/>
          <p:cNvSpPr/>
          <p:nvPr/>
        </p:nvSpPr>
        <p:spPr>
          <a:xfrm>
            <a:off x="3483864" y="2606040"/>
            <a:ext cx="2560320" cy="2697480"/>
          </a:xfrm>
          <a:prstGeom prst="roundRect">
            <a:avLst>
              <a:gd fmla="val 6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8" name="Google Shape;448;p32"/>
          <p:cNvSpPr txBox="1"/>
          <p:nvPr/>
        </p:nvSpPr>
        <p:spPr>
          <a:xfrm>
            <a:off x="3611880" y="2715768"/>
            <a:ext cx="2331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Rule refinement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Review rule coverage of the seven inputs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Tune thresholds and tier boundaries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Keep every pytest test green</a:t>
            </a:r>
            <a:endParaRPr/>
          </a:p>
        </p:txBody>
      </p:sp>
      <p:sp>
        <p:nvSpPr>
          <p:cNvPr id="449" name="Google Shape;449;p32"/>
          <p:cNvSpPr/>
          <p:nvPr/>
        </p:nvSpPr>
        <p:spPr>
          <a:xfrm>
            <a:off x="6208776" y="1783080"/>
            <a:ext cx="2697480" cy="658368"/>
          </a:xfrm>
          <a:prstGeom prst="homePlate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Week 3</a:t>
            </a:r>
            <a:endParaRPr/>
          </a:p>
        </p:txBody>
      </p:sp>
      <p:sp>
        <p:nvSpPr>
          <p:cNvPr id="450" name="Google Shape;450;p32"/>
          <p:cNvSpPr/>
          <p:nvPr/>
        </p:nvSpPr>
        <p:spPr>
          <a:xfrm>
            <a:off x="6208776" y="2606040"/>
            <a:ext cx="2560320" cy="2697480"/>
          </a:xfrm>
          <a:prstGeom prst="roundRect">
            <a:avLst>
              <a:gd fmla="val 6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1" name="Google Shape;451;p32"/>
          <p:cNvSpPr txBox="1"/>
          <p:nvPr/>
        </p:nvSpPr>
        <p:spPr>
          <a:xfrm>
            <a:off x="6336792" y="2715768"/>
            <a:ext cx="2331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Documentation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Final report: formulation, rules, inference, results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Screenshots and figures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README and code comments</a:t>
            </a:r>
            <a:endParaRPr/>
          </a:p>
        </p:txBody>
      </p:sp>
      <p:sp>
        <p:nvSpPr>
          <p:cNvPr id="452" name="Google Shape;452;p32"/>
          <p:cNvSpPr/>
          <p:nvPr/>
        </p:nvSpPr>
        <p:spPr>
          <a:xfrm>
            <a:off x="8933688" y="1783080"/>
            <a:ext cx="2697480" cy="658368"/>
          </a:xfrm>
          <a:prstGeom prst="rect">
            <a:avLst/>
          </a:prstGeom>
          <a:solidFill>
            <a:srgbClr val="193054"/>
          </a:solidFill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Week 4</a:t>
            </a:r>
            <a:endParaRPr/>
          </a:p>
        </p:txBody>
      </p:sp>
      <p:sp>
        <p:nvSpPr>
          <p:cNvPr id="453" name="Google Shape;453;p32"/>
          <p:cNvSpPr/>
          <p:nvPr/>
        </p:nvSpPr>
        <p:spPr>
          <a:xfrm>
            <a:off x="8933688" y="2606040"/>
            <a:ext cx="2560320" cy="2697480"/>
          </a:xfrm>
          <a:prstGeom prst="roundRect">
            <a:avLst>
              <a:gd fmla="val 6000" name="adj"/>
            </a:avLst>
          </a:prstGeom>
          <a:solidFill>
            <a:srgbClr val="F7F9FC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73150" spcFirstLastPara="1" rIns="73150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9061704" y="2715768"/>
            <a:ext cx="2331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Final testing &amp; presentation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Test the extracted ZIP in a clean folder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Final slides and demo rehearsal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• Submit report and code</a:t>
            </a:r>
            <a:endParaRPr/>
          </a:p>
        </p:txBody>
      </p:sp>
      <p:sp>
        <p:nvSpPr>
          <p:cNvPr id="455" name="Google Shape;455;p32"/>
          <p:cNvSpPr/>
          <p:nvPr/>
        </p:nvSpPr>
        <p:spPr>
          <a:xfrm>
            <a:off x="758952" y="5486400"/>
            <a:ext cx="10698480" cy="502920"/>
          </a:xfrm>
          <a:prstGeom prst="roundRect">
            <a:avLst>
              <a:gd fmla="val 12000" name="adj"/>
            </a:avLst>
          </a:prstGeom>
          <a:solidFill>
            <a:srgbClr val="EBF2FA"/>
          </a:solidFill>
          <a:ln cap="flat" cmpd="sng" w="12700">
            <a:solidFill>
              <a:srgbClr val="CDDA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164575" spcFirstLastPara="1" rIns="16457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At the final review: </a:t>
            </a:r>
            <a:r>
              <a:rPr b="0" lang="en-US" sz="1300">
                <a:solidFill>
                  <a:srgbClr val="1F2933"/>
                </a:solidFill>
                <a:latin typeface="Verdana"/>
                <a:ea typeface="Verdana"/>
                <a:cs typeface="Verdana"/>
                <a:sym typeface="Verdana"/>
              </a:rPr>
              <a:t>working system, test results, report, presentation and live demo.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 txBox="1"/>
          <p:nvPr>
            <p:ph type="title"/>
          </p:nvPr>
        </p:nvSpPr>
        <p:spPr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</a:rPr>
              <a:t>References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461" name="Google Shape;461;p33"/>
          <p:cNvSpPr txBox="1"/>
          <p:nvPr>
            <p:ph idx="1" type="body"/>
          </p:nvPr>
        </p:nvSpPr>
        <p:spPr>
          <a:xfrm>
            <a:off x="758952" y="1691640"/>
            <a:ext cx="1078992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[1]  </a:t>
            </a:r>
            <a:r>
              <a:rPr b="0" lang="en-US" sz="1400">
                <a:solidFill>
                  <a:srgbClr val="1F2933"/>
                </a:solidFill>
              </a:rPr>
              <a:t>C. L. Forgy, “Rete: A fast algorithm for the many pattern/many object pattern match problem,” Artificial Intelligence, vol. 19, no. 1, pp. 17–37, 1982.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[2]  </a:t>
            </a:r>
            <a:r>
              <a:rPr b="0" lang="en-US" sz="1400">
                <a:solidFill>
                  <a:srgbClr val="1F2933"/>
                </a:solidFill>
              </a:rPr>
              <a:t>B. G. Buchanan and E. H. Shortliffe, Eds., Rule-Based Expert Systems: The MYCIN Experiments of the Stanford Heuristic Programming Project. Reading, MA, USA: Addison-Wesley, 1984.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[3]  </a:t>
            </a:r>
            <a:r>
              <a:rPr b="0" lang="en-US" sz="1400">
                <a:solidFill>
                  <a:srgbClr val="1F2933"/>
                </a:solidFill>
              </a:rPr>
              <a:t>R. J. Bolton and D. J. Hand, “Statistical fraud detection: A review,” Statistical Science, vol. 17, no. 3, pp. 235–255, 2002.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[4]  </a:t>
            </a:r>
            <a:r>
              <a:rPr b="0" lang="en-US" sz="1400">
                <a:solidFill>
                  <a:srgbClr val="1F2933"/>
                </a:solidFill>
              </a:rPr>
              <a:t>A. Dal Pozzolo, G. Boracchi, O. Caelen, C. Alippi and G. Bontempi, “Credit card fraud detection: A realistic modeling and a novel learning strategy,” IEEE Trans. Neural Networks and Learning Systems, vol. 29, no. 8, pp. 3784–3797, 2018.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[5]  </a:t>
            </a:r>
            <a:r>
              <a:rPr b="0" lang="en-US" sz="1400">
                <a:solidFill>
                  <a:srgbClr val="1F2933"/>
                </a:solidFill>
              </a:rPr>
              <a:t>M. T. Ribeiro, S. Singh and C. Guestrin, ‘Why should I trust you?’: Explaining the predictions of any classifier,” in Proc. 22nd ACM SIGKDD Int. Conf. Knowledge Discovery and Data Mining, 2016, pp. 1135–1144.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[6]  </a:t>
            </a:r>
            <a:r>
              <a:rPr b="0" lang="en-US" sz="1400">
                <a:solidFill>
                  <a:srgbClr val="1F2933"/>
                </a:solidFill>
              </a:rPr>
              <a:t>C. Phua, V. Lee, K. Smith and R. Gayler, “A comprehensive survey of data mining-based fraud detection research,” arXiv:1009.6119, 2010.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[7]  </a:t>
            </a:r>
            <a:r>
              <a:rPr b="0" lang="en-US" sz="1400">
                <a:solidFill>
                  <a:srgbClr val="1F2933"/>
                </a:solidFill>
              </a:rPr>
              <a:t>S. Russell and P. Norvig, Artificial Intelligence: A Modern Approach, 4th ed. Pearson, 2020.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[8]  </a:t>
            </a:r>
            <a:r>
              <a:rPr b="0" lang="en-US" sz="1400">
                <a:solidFill>
                  <a:srgbClr val="1F2933"/>
                </a:solidFill>
              </a:rPr>
              <a:t>FastAPI documentation, https://fastapi.tiangolo.com</a:t>
            </a:r>
            <a:endParaRPr/>
          </a:p>
          <a:p>
            <a:pPr indent="0" lvl="0" marL="0" marR="0" rtl="0" algn="l">
              <a:spcBef>
                <a:spcPts val="700"/>
              </a:spcBef>
              <a:spcAft>
                <a:spcPts val="0"/>
              </a:spcAft>
              <a:buSzPts val="1400"/>
              <a:buNone/>
            </a:pPr>
            <a:r>
              <a:rPr b="1" lang="en-US" sz="1400">
                <a:solidFill>
                  <a:srgbClr val="1F2933"/>
                </a:solidFill>
              </a:rPr>
              <a:t>[9]  </a:t>
            </a:r>
            <a:r>
              <a:rPr b="0" lang="en-US" sz="1400">
                <a:solidFill>
                  <a:srgbClr val="1F2933"/>
                </a:solidFill>
              </a:rPr>
              <a:t>Deepan S A and Barathraj M, “FraudShield AI — Intelligent Digital Payment Risk Assessment System” (source code), FraudShield_AI.zip, 2026.</a:t>
            </a:r>
            <a:endParaRPr/>
          </a:p>
        </p:txBody>
      </p:sp>
      <p:sp>
        <p:nvSpPr>
          <p:cNvPr id="462" name="Google Shape;462;p33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>
            <p:ph type="title"/>
          </p:nvPr>
        </p:nvSpPr>
        <p:spPr>
          <a:xfrm>
            <a:off x="711200" y="3168074"/>
            <a:ext cx="10668000" cy="1216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</a:rPr>
              <a:t>Thank You</a:t>
            </a:r>
            <a:endParaRPr/>
          </a:p>
        </p:txBody>
      </p:sp>
      <p:sp>
        <p:nvSpPr>
          <p:cNvPr id="468" name="Google Shape;468;p34"/>
          <p:cNvSpPr txBox="1"/>
          <p:nvPr>
            <p:ph idx="12" type="sldNum"/>
          </p:nvPr>
        </p:nvSpPr>
        <p:spPr>
          <a:xfrm>
            <a:off x="8737600" y="6245225"/>
            <a:ext cx="2641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34"/>
          <p:cNvSpPr txBox="1"/>
          <p:nvPr/>
        </p:nvSpPr>
        <p:spPr>
          <a:xfrm>
            <a:off x="1371600" y="4343400"/>
            <a:ext cx="9418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Demo: </a:t>
            </a:r>
            <a:r>
              <a:rPr b="0" lang="en-US" sz="15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run.bat in the extracted FraudShield_AI.zip (Windows 10/11)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93054"/>
                </a:solidFill>
                <a:latin typeface="Verdana"/>
                <a:ea typeface="Verdana"/>
                <a:cs typeface="Verdana"/>
                <a:sym typeface="Verdana"/>
              </a:rPr>
              <a:t>Source code: </a:t>
            </a:r>
            <a:r>
              <a:rPr b="0" lang="en-US" sz="1500">
                <a:solidFill>
                  <a:srgbClr val="44505C"/>
                </a:solidFill>
                <a:latin typeface="Verdana"/>
                <a:ea typeface="Verdana"/>
                <a:cs typeface="Verdana"/>
                <a:sym typeface="Verdana"/>
              </a:rPr>
              <a:t>FraudShield_AI.zip, submitted with the report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